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3" roundtripDataSignature="AMtx7mj/u30KRsFkeb5dK2t0CkZ8twpp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968A56-0C94-4FB6-87E1-C2950734C857}">
  <a:tblStyle styleId="{0E968A56-0C94-4FB6-87E1-C2950734C857}"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3"/>
              </a:solidFill>
              <a:prstDash val="solid"/>
              <a:round/>
              <a:headEnd len="sm" w="sm" type="none"/>
              <a:tailEnd len="sm" w="sm" type="none"/>
            </a:ln>
          </a:top>
          <a:bottom>
            <a:ln cap="flat" cmpd="sng" w="12700">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20000"/>
            </a:schemeClr>
          </a:solidFill>
        </a:fill>
      </a:tcStyle>
    </a:band1H>
    <a:band2H>
      <a:tcTxStyle/>
    </a:band2H>
    <a:band1V>
      <a:tcTxStyle/>
      <a:tcStyle>
        <a:fill>
          <a:solidFill>
            <a:schemeClr val="accent3">
              <a:alpha val="20000"/>
            </a:schemeClr>
          </a:solidFill>
        </a:fill>
      </a:tcStyle>
    </a:band1V>
    <a:band2V>
      <a:tcTxStyle/>
    </a:band2V>
    <a:lastCol>
      <a:tcTxStyle b="on" i="off"/>
    </a:lastCol>
    <a:firstCol>
      <a:tcTxStyle b="on" i="off"/>
    </a:firstCol>
    <a:lastRow>
      <a:tcTxStyle b="on" i="off"/>
      <a:tcStyle>
        <a:tcBdr>
          <a:top>
            <a:ln cap="flat" cmpd="sng" w="12700">
              <a:solidFill>
                <a:schemeClr val="accent3"/>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3"/>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4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4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4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5.png"/><Relationship Id="rId6"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9.png"/><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1.png"/><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6.png"/><Relationship Id="rId10" Type="http://schemas.openxmlformats.org/officeDocument/2006/relationships/image" Target="../media/image27.png"/><Relationship Id="rId9" Type="http://schemas.openxmlformats.org/officeDocument/2006/relationships/image" Target="../media/image25.png"/><Relationship Id="rId5" Type="http://schemas.openxmlformats.org/officeDocument/2006/relationships/image" Target="../media/image24.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66.png"/><Relationship Id="rId5"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38.png"/><Relationship Id="rId5"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6.png"/><Relationship Id="rId4" Type="http://schemas.openxmlformats.org/officeDocument/2006/relationships/image" Target="../media/image45.png"/><Relationship Id="rId5"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2.png"/><Relationship Id="rId4" Type="http://schemas.openxmlformats.org/officeDocument/2006/relationships/image" Target="../media/image44.png"/><Relationship Id="rId5" Type="http://schemas.openxmlformats.org/officeDocument/2006/relationships/image" Target="../media/image43.png"/><Relationship Id="rId6" Type="http://schemas.openxmlformats.org/officeDocument/2006/relationships/image" Target="../media/image51.png"/><Relationship Id="rId7" Type="http://schemas.openxmlformats.org/officeDocument/2006/relationships/image" Target="../media/image47.png"/><Relationship Id="rId8"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8.png"/><Relationship Id="rId4" Type="http://schemas.openxmlformats.org/officeDocument/2006/relationships/image" Target="../media/image48.png"/><Relationship Id="rId5" Type="http://schemas.openxmlformats.org/officeDocument/2006/relationships/image" Target="../media/image5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9.png"/><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www.isec.org/faq" TargetMode="External"/><Relationship Id="rId4" Type="http://schemas.openxmlformats.org/officeDocument/2006/relationships/hyperlink" Target="https://library.wmo.int/idurl/4/58360"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3.png"/><Relationship Id="rId4" Type="http://schemas.openxmlformats.org/officeDocument/2006/relationships/image" Target="../media/image65.png"/><Relationship Id="rId5" Type="http://schemas.openxmlformats.org/officeDocument/2006/relationships/image" Target="../media/image62.png"/><Relationship Id="rId6"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MCM Problem B</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t>Jessica, Eleanore,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p:nvPr/>
        </p:nvSpPr>
        <p:spPr>
          <a:xfrm rot="-5402776">
            <a:off x="1043774" y="2204013"/>
            <a:ext cx="1485900" cy="15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Context</a:t>
            </a:r>
            <a:endParaRPr/>
          </a:p>
        </p:txBody>
      </p:sp>
      <p:pic>
        <p:nvPicPr>
          <p:cNvPr id="62" name="Google Shape;62;p2" title="rocket-svgrepo-com.png"/>
          <p:cNvPicPr preferRelativeResize="0"/>
          <p:nvPr/>
        </p:nvPicPr>
        <p:blipFill rotWithShape="1">
          <a:blip r:embed="rId3">
            <a:alphaModFix/>
          </a:blip>
          <a:srcRect b="0" l="0" r="0" t="0"/>
          <a:stretch/>
        </p:blipFill>
        <p:spPr>
          <a:xfrm rot="1377994">
            <a:off x="2745048" y="1796156"/>
            <a:ext cx="301156" cy="383684"/>
          </a:xfrm>
          <a:prstGeom prst="rect">
            <a:avLst/>
          </a:prstGeom>
          <a:noFill/>
          <a:ln>
            <a:noFill/>
          </a:ln>
        </p:spPr>
      </p:pic>
      <p:pic>
        <p:nvPicPr>
          <p:cNvPr id="63" name="Google Shape;63;p2" title="FullMoon2010.png"/>
          <p:cNvPicPr preferRelativeResize="0"/>
          <p:nvPr/>
        </p:nvPicPr>
        <p:blipFill rotWithShape="1">
          <a:blip r:embed="rId4">
            <a:alphaModFix/>
          </a:blip>
          <a:srcRect b="0" l="0" r="0" t="0"/>
          <a:stretch/>
        </p:blipFill>
        <p:spPr>
          <a:xfrm>
            <a:off x="6365925" y="690100"/>
            <a:ext cx="1602504" cy="1522701"/>
          </a:xfrm>
          <a:prstGeom prst="rect">
            <a:avLst/>
          </a:prstGeom>
          <a:noFill/>
          <a:ln>
            <a:noFill/>
          </a:ln>
        </p:spPr>
      </p:pic>
      <p:pic>
        <p:nvPicPr>
          <p:cNvPr id="64" name="Google Shape;64;p2" title="earth-planet-earth-png-8c9efc6b1014b412ccff80942ef40b08.png"/>
          <p:cNvPicPr preferRelativeResize="0"/>
          <p:nvPr/>
        </p:nvPicPr>
        <p:blipFill rotWithShape="1">
          <a:blip r:embed="rId5">
            <a:alphaModFix/>
          </a:blip>
          <a:srcRect b="0" l="0" r="0" t="0"/>
          <a:stretch/>
        </p:blipFill>
        <p:spPr>
          <a:xfrm>
            <a:off x="534500" y="1752600"/>
            <a:ext cx="2504449" cy="2501901"/>
          </a:xfrm>
          <a:prstGeom prst="rect">
            <a:avLst/>
          </a:prstGeom>
          <a:noFill/>
          <a:ln>
            <a:noFill/>
          </a:ln>
        </p:spPr>
      </p:pic>
      <p:sp>
        <p:nvSpPr>
          <p:cNvPr id="65" name="Google Shape;65;p2"/>
          <p:cNvSpPr/>
          <p:nvPr/>
        </p:nvSpPr>
        <p:spPr>
          <a:xfrm rot="-1372140">
            <a:off x="2857450" y="2495586"/>
            <a:ext cx="1486006" cy="152332"/>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rot="-7226279">
            <a:off x="233674" y="2267945"/>
            <a:ext cx="1485772" cy="152349"/>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1472050" y="2759375"/>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p:nvPr/>
        </p:nvSpPr>
        <p:spPr>
          <a:xfrm>
            <a:off x="1809177" y="2877139"/>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
          <p:cNvSpPr/>
          <p:nvPr/>
        </p:nvSpPr>
        <p:spPr>
          <a:xfrm>
            <a:off x="2140532" y="2873675"/>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
          <p:cNvSpPr/>
          <p:nvPr/>
        </p:nvSpPr>
        <p:spPr>
          <a:xfrm>
            <a:off x="2231452" y="2664414"/>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1526602" y="2404064"/>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2" name="Google Shape;72;p2" title="rocket-svgrepo-com.png"/>
          <p:cNvPicPr preferRelativeResize="0"/>
          <p:nvPr/>
        </p:nvPicPr>
        <p:blipFill rotWithShape="1">
          <a:blip r:embed="rId3">
            <a:alphaModFix/>
          </a:blip>
          <a:srcRect b="0" l="0" r="0" t="0"/>
          <a:stretch/>
        </p:blipFill>
        <p:spPr>
          <a:xfrm rot="1377994">
            <a:off x="4421423" y="2007031"/>
            <a:ext cx="301156" cy="383684"/>
          </a:xfrm>
          <a:prstGeom prst="rect">
            <a:avLst/>
          </a:prstGeom>
          <a:noFill/>
          <a:ln>
            <a:noFill/>
          </a:ln>
        </p:spPr>
      </p:pic>
      <p:sp>
        <p:nvSpPr>
          <p:cNvPr id="73" name="Google Shape;73;p2"/>
          <p:cNvSpPr txBox="1"/>
          <p:nvPr/>
        </p:nvSpPr>
        <p:spPr>
          <a:xfrm>
            <a:off x="3665925" y="2888350"/>
            <a:ext cx="4770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3 * 10,000km Space Elevators on Equator</a:t>
            </a:r>
            <a:endParaRPr b="0" i="0" sz="1200" u="none" cap="none" strike="noStrike">
              <a:solidFill>
                <a:schemeClr val="dk2"/>
              </a:solidFill>
              <a:latin typeface="Arial"/>
              <a:ea typeface="Arial"/>
              <a:cs typeface="Arial"/>
              <a:sym typeface="Arial"/>
            </a:endParaRPr>
          </a:p>
        </p:txBody>
      </p:sp>
      <p:sp>
        <p:nvSpPr>
          <p:cNvPr id="74" name="Google Shape;74;p2"/>
          <p:cNvSpPr txBox="1"/>
          <p:nvPr/>
        </p:nvSpPr>
        <p:spPr>
          <a:xfrm>
            <a:off x="2231450" y="1430600"/>
            <a:ext cx="44034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Rocket Launches from only available 10 interplanetary sites</a:t>
            </a:r>
            <a:endParaRPr b="0" i="0" sz="1200" u="none" cap="none" strike="noStrike">
              <a:solidFill>
                <a:schemeClr val="dk2"/>
              </a:solidFill>
              <a:latin typeface="Arial"/>
              <a:ea typeface="Arial"/>
              <a:cs typeface="Arial"/>
              <a:sym typeface="Arial"/>
            </a:endParaRPr>
          </a:p>
        </p:txBody>
      </p:sp>
      <p:sp>
        <p:nvSpPr>
          <p:cNvPr id="75" name="Google Shape;75;p2"/>
          <p:cNvSpPr txBox="1"/>
          <p:nvPr/>
        </p:nvSpPr>
        <p:spPr>
          <a:xfrm>
            <a:off x="3038950" y="1852450"/>
            <a:ext cx="4770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2"/>
                </a:solidFill>
                <a:latin typeface="Arial"/>
                <a:ea typeface="Arial"/>
                <a:cs typeface="Arial"/>
                <a:sym typeface="Arial"/>
              </a:rPr>
              <a:t>Falcon Heavy</a:t>
            </a:r>
            <a:endParaRPr b="0" i="0" sz="800" u="none" cap="none" strike="noStrike">
              <a:solidFill>
                <a:schemeClr val="dk2"/>
              </a:solidFill>
              <a:latin typeface="Arial"/>
              <a:ea typeface="Arial"/>
              <a:cs typeface="Arial"/>
              <a:sym typeface="Arial"/>
            </a:endParaRPr>
          </a:p>
        </p:txBody>
      </p:sp>
      <p:pic>
        <p:nvPicPr>
          <p:cNvPr id="76" name="Google Shape;76;p2" title="ChatGPT Image 2026年2月10日 23_17_07.png"/>
          <p:cNvPicPr preferRelativeResize="0"/>
          <p:nvPr/>
        </p:nvPicPr>
        <p:blipFill rotWithShape="1">
          <a:blip r:embed="rId6">
            <a:alphaModFix/>
          </a:blip>
          <a:srcRect b="0" l="0" r="0" t="0"/>
          <a:stretch/>
        </p:blipFill>
        <p:spPr>
          <a:xfrm>
            <a:off x="6634850" y="1252648"/>
            <a:ext cx="426950" cy="284628"/>
          </a:xfrm>
          <a:prstGeom prst="rect">
            <a:avLst/>
          </a:prstGeom>
          <a:noFill/>
          <a:ln>
            <a:noFill/>
          </a:ln>
        </p:spPr>
      </p:pic>
      <p:sp>
        <p:nvSpPr>
          <p:cNvPr id="77" name="Google Shape;77;p2"/>
          <p:cNvSpPr txBox="1"/>
          <p:nvPr/>
        </p:nvSpPr>
        <p:spPr>
          <a:xfrm>
            <a:off x="6634850" y="1430600"/>
            <a:ext cx="14283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Arial"/>
                <a:ea typeface="Arial"/>
                <a:cs typeface="Arial"/>
                <a:sym typeface="Arial"/>
              </a:rPr>
              <a:t>100,000 people Moon Colony</a:t>
            </a:r>
            <a:endParaRPr b="0" i="0" sz="1200" u="none" cap="none" strike="noStrike">
              <a:solidFill>
                <a:schemeClr val="lt1"/>
              </a:solidFill>
              <a:latin typeface="Arial"/>
              <a:ea typeface="Arial"/>
              <a:cs typeface="Arial"/>
              <a:sym typeface="Arial"/>
            </a:endParaRPr>
          </a:p>
        </p:txBody>
      </p:sp>
      <p:sp>
        <p:nvSpPr>
          <p:cNvPr id="78" name="Google Shape;78;p2"/>
          <p:cNvSpPr txBox="1"/>
          <p:nvPr/>
        </p:nvSpPr>
        <p:spPr>
          <a:xfrm>
            <a:off x="5834150" y="445025"/>
            <a:ext cx="3029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100 million metric tons of material needed</a:t>
            </a:r>
            <a:endParaRPr b="0" i="0" sz="1200" u="none" cap="none" strike="noStrike">
              <a:solidFill>
                <a:schemeClr val="dk2"/>
              </a:solidFill>
              <a:latin typeface="Arial"/>
              <a:ea typeface="Arial"/>
              <a:cs typeface="Arial"/>
              <a:sym typeface="Arial"/>
            </a:endParaRPr>
          </a:p>
        </p:txBody>
      </p:sp>
      <p:sp>
        <p:nvSpPr>
          <p:cNvPr id="79" name="Google Shape;79;p2"/>
          <p:cNvSpPr txBox="1"/>
          <p:nvPr/>
        </p:nvSpPr>
        <p:spPr>
          <a:xfrm>
            <a:off x="6508800" y="2067075"/>
            <a:ext cx="23235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Each year x amount of water needed to sustain the colony</a:t>
            </a:r>
            <a:endParaRPr b="0" i="0" sz="1200" u="none" cap="none" strike="noStrike">
              <a:solidFill>
                <a:schemeClr val="dk2"/>
              </a:solidFill>
              <a:latin typeface="Arial"/>
              <a:ea typeface="Arial"/>
              <a:cs typeface="Arial"/>
              <a:sym typeface="Arial"/>
            </a:endParaRPr>
          </a:p>
        </p:txBody>
      </p:sp>
      <p:sp>
        <p:nvSpPr>
          <p:cNvPr id="80" name="Google Shape;80;p2"/>
          <p:cNvSpPr/>
          <p:nvPr/>
        </p:nvSpPr>
        <p:spPr>
          <a:xfrm rot="4192781">
            <a:off x="4162834" y="2208046"/>
            <a:ext cx="235470" cy="144352"/>
          </a:xfrm>
          <a:prstGeom prst="triangle">
            <a:avLst>
              <a:gd fmla="val 5320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1" name="Google Shape;81;p2" title="rocket-svgrepo-com.png"/>
          <p:cNvPicPr preferRelativeResize="0"/>
          <p:nvPr/>
        </p:nvPicPr>
        <p:blipFill rotWithShape="1">
          <a:blip r:embed="rId3">
            <a:alphaModFix/>
          </a:blip>
          <a:srcRect b="0" l="0" r="0" t="0"/>
          <a:stretch/>
        </p:blipFill>
        <p:spPr>
          <a:xfrm rot="1377994">
            <a:off x="2986323" y="2152281"/>
            <a:ext cx="301156" cy="383684"/>
          </a:xfrm>
          <a:prstGeom prst="rect">
            <a:avLst/>
          </a:prstGeom>
          <a:noFill/>
          <a:ln>
            <a:noFill/>
          </a:ln>
        </p:spPr>
      </p:pic>
      <p:sp>
        <p:nvSpPr>
          <p:cNvPr id="82" name="Google Shape;82;p2"/>
          <p:cNvSpPr/>
          <p:nvPr/>
        </p:nvSpPr>
        <p:spPr>
          <a:xfrm rot="-1348766">
            <a:off x="481423" y="1615982"/>
            <a:ext cx="235385" cy="144348"/>
          </a:xfrm>
          <a:prstGeom prst="triangle">
            <a:avLst>
              <a:gd fmla="val 5320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rot="-4385">
            <a:off x="1669074" y="1481959"/>
            <a:ext cx="235200" cy="144300"/>
          </a:xfrm>
          <a:prstGeom prst="triangle">
            <a:avLst>
              <a:gd fmla="val 5320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txBox="1"/>
          <p:nvPr/>
        </p:nvSpPr>
        <p:spPr>
          <a:xfrm>
            <a:off x="3665913" y="2159463"/>
            <a:ext cx="618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highlight>
                  <a:schemeClr val="lt1"/>
                </a:highlight>
                <a:latin typeface="Arial"/>
                <a:ea typeface="Arial"/>
                <a:cs typeface="Arial"/>
                <a:sym typeface="Arial"/>
              </a:rPr>
              <a:t>Apex</a:t>
            </a:r>
            <a:endParaRPr b="0" i="0" sz="1200" u="none" cap="none" strike="noStrike">
              <a:solidFill>
                <a:schemeClr val="dk2"/>
              </a:solidFill>
              <a:highlight>
                <a:schemeClr val="lt1"/>
              </a:highlight>
              <a:latin typeface="Arial"/>
              <a:ea typeface="Arial"/>
              <a:cs typeface="Arial"/>
              <a:sym typeface="Arial"/>
            </a:endParaRPr>
          </a:p>
        </p:txBody>
      </p:sp>
      <p:sp>
        <p:nvSpPr>
          <p:cNvPr id="85" name="Google Shape;85;p2"/>
          <p:cNvSpPr txBox="1"/>
          <p:nvPr/>
        </p:nvSpPr>
        <p:spPr>
          <a:xfrm>
            <a:off x="3665925" y="3352150"/>
            <a:ext cx="51663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Question: Determine an </a:t>
            </a:r>
            <a:r>
              <a:rPr b="0" i="0" lang="en" sz="1200" u="sng" cap="none" strike="noStrike">
                <a:solidFill>
                  <a:schemeClr val="dk2"/>
                </a:solidFill>
                <a:latin typeface="Arial"/>
                <a:ea typeface="Arial"/>
                <a:cs typeface="Arial"/>
                <a:sym typeface="Arial"/>
              </a:rPr>
              <a:t>optimal</a:t>
            </a:r>
            <a:r>
              <a:rPr b="0" i="0" lang="en" sz="1200" u="none" cap="none" strike="noStrike">
                <a:solidFill>
                  <a:schemeClr val="dk2"/>
                </a:solidFill>
                <a:latin typeface="Arial"/>
                <a:ea typeface="Arial"/>
                <a:cs typeface="Arial"/>
                <a:sym typeface="Arial"/>
              </a:rPr>
              <a:t> strategy (rocket-only, elevator-only, or hybrid) that balances </a:t>
            </a:r>
            <a:r>
              <a:rPr b="0" i="0" lang="en" sz="1200" u="sng" cap="none" strike="noStrike">
                <a:solidFill>
                  <a:schemeClr val="dk2"/>
                </a:solidFill>
                <a:latin typeface="Arial"/>
                <a:ea typeface="Arial"/>
                <a:cs typeface="Arial"/>
                <a:sym typeface="Arial"/>
              </a:rPr>
              <a:t>cost, timeline, and environmental impact</a:t>
            </a:r>
            <a:r>
              <a:rPr b="0" i="0" lang="en" sz="1200" u="none" cap="none" strike="noStrike">
                <a:solidFill>
                  <a:schemeClr val="dk2"/>
                </a:solidFill>
                <a:latin typeface="Arial"/>
                <a:ea typeface="Arial"/>
                <a:cs typeface="Arial"/>
                <a:sym typeface="Arial"/>
              </a:rPr>
              <a:t>, while maintaining </a:t>
            </a:r>
            <a:r>
              <a:rPr b="0" i="0" lang="en" sz="1200" u="sng" cap="none" strike="noStrike">
                <a:solidFill>
                  <a:schemeClr val="dk2"/>
                </a:solidFill>
                <a:latin typeface="Arial"/>
                <a:ea typeface="Arial"/>
                <a:cs typeface="Arial"/>
                <a:sym typeface="Arial"/>
              </a:rPr>
              <a:t>resilience</a:t>
            </a:r>
            <a:r>
              <a:rPr b="0" i="0" lang="en" sz="1200" u="none" cap="none" strike="noStrike">
                <a:solidFill>
                  <a:schemeClr val="dk2"/>
                </a:solidFill>
                <a:latin typeface="Arial"/>
                <a:ea typeface="Arial"/>
                <a:cs typeface="Arial"/>
                <a:sym typeface="Arial"/>
              </a:rPr>
              <a:t> against system failures.</a:t>
            </a:r>
            <a:endParaRPr b="0" i="0" sz="1200" u="none" cap="none" strike="noStrike">
              <a:solidFill>
                <a:schemeClr val="dk2"/>
              </a:solidFill>
              <a:latin typeface="Arial"/>
              <a:ea typeface="Arial"/>
              <a:cs typeface="Arial"/>
              <a:sym typeface="Arial"/>
            </a:endParaRPr>
          </a:p>
        </p:txBody>
      </p:sp>
      <p:sp>
        <p:nvSpPr>
          <p:cNvPr id="86" name="Google Shape;86;p2"/>
          <p:cNvSpPr txBox="1"/>
          <p:nvPr/>
        </p:nvSpPr>
        <p:spPr>
          <a:xfrm>
            <a:off x="1267775" y="1039513"/>
            <a:ext cx="44034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*nothing is to scale; only strictly interpret it as an infographic</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Related Literature</a:t>
            </a:r>
            <a:endParaRPr/>
          </a:p>
        </p:txBody>
      </p:sp>
      <p:sp>
        <p:nvSpPr>
          <p:cNvPr id="92" name="Google Shape;92;p3"/>
          <p:cNvSpPr txBox="1"/>
          <p:nvPr>
            <p:ph idx="1" type="body"/>
          </p:nvPr>
        </p:nvSpPr>
        <p:spPr>
          <a:xfrm>
            <a:off x="241250" y="1140725"/>
            <a:ext cx="2894100" cy="34164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800"/>
              <a:buNone/>
            </a:pPr>
            <a:r>
              <a:rPr lang="en" sz="1600"/>
              <a:t>ISEC (Decade-long paper)</a:t>
            </a:r>
            <a:endParaRPr sz="1600"/>
          </a:p>
          <a:p>
            <a:pPr indent="0" lvl="0" marL="0" rtl="0" algn="ctr">
              <a:lnSpc>
                <a:spcPct val="115000"/>
              </a:lnSpc>
              <a:spcBef>
                <a:spcPts val="1200"/>
              </a:spcBef>
              <a:spcAft>
                <a:spcPts val="0"/>
              </a:spcAft>
              <a:buSzPts val="1800"/>
              <a:buNone/>
            </a:pPr>
            <a:r>
              <a:t/>
            </a:r>
            <a:endParaRPr sz="1600"/>
          </a:p>
          <a:p>
            <a:pPr indent="-292100" lvl="0" marL="457200" rtl="0" algn="l">
              <a:lnSpc>
                <a:spcPct val="120000"/>
              </a:lnSpc>
              <a:spcBef>
                <a:spcPts val="1200"/>
              </a:spcBef>
              <a:spcAft>
                <a:spcPts val="0"/>
              </a:spcAft>
              <a:buClr>
                <a:schemeClr val="dk1"/>
              </a:buClr>
              <a:buSzPts val="1000"/>
              <a:buChar char="-"/>
            </a:pPr>
            <a:r>
              <a:rPr lang="en" sz="1000">
                <a:solidFill>
                  <a:schemeClr val="dk1"/>
                </a:solidFill>
                <a:highlight>
                  <a:srgbClr val="FFFFFF"/>
                </a:highlight>
              </a:rPr>
              <a:t>International Space Elevator Consortium</a:t>
            </a:r>
            <a:endParaRPr sz="1000">
              <a:solidFill>
                <a:schemeClr val="dk1"/>
              </a:solidFill>
              <a:highlight>
                <a:srgbClr val="FFFFFF"/>
              </a:highlight>
            </a:endParaRPr>
          </a:p>
          <a:p>
            <a:pPr indent="-292100" lvl="0" marL="457200" rtl="0" algn="l">
              <a:lnSpc>
                <a:spcPct val="120000"/>
              </a:lnSpc>
              <a:spcBef>
                <a:spcPts val="0"/>
              </a:spcBef>
              <a:spcAft>
                <a:spcPts val="0"/>
              </a:spcAft>
              <a:buClr>
                <a:schemeClr val="dk1"/>
              </a:buClr>
              <a:buSzPts val="1000"/>
              <a:buChar char="-"/>
            </a:pPr>
            <a:r>
              <a:rPr lang="en" sz="1000">
                <a:solidFill>
                  <a:schemeClr val="dk1"/>
                </a:solidFill>
                <a:highlight>
                  <a:srgbClr val="FFFFFF"/>
                </a:highlight>
              </a:rPr>
              <a:t>Established basic guidelines for where to construct space elevators and delivery process</a:t>
            </a:r>
            <a:endParaRPr sz="1000">
              <a:solidFill>
                <a:schemeClr val="dk1"/>
              </a:solidFill>
              <a:highlight>
                <a:srgbClr val="FFFFFF"/>
              </a:highlight>
            </a:endParaRPr>
          </a:p>
          <a:p>
            <a:pPr indent="-292100" lvl="0" marL="457200" rtl="0" algn="l">
              <a:lnSpc>
                <a:spcPct val="120000"/>
              </a:lnSpc>
              <a:spcBef>
                <a:spcPts val="0"/>
              </a:spcBef>
              <a:spcAft>
                <a:spcPts val="0"/>
              </a:spcAft>
              <a:buClr>
                <a:schemeClr val="dk1"/>
              </a:buClr>
              <a:buSzPts val="1000"/>
              <a:buChar char="-"/>
            </a:pPr>
            <a:r>
              <a:rPr lang="en" sz="1000">
                <a:solidFill>
                  <a:schemeClr val="dk1"/>
                </a:solidFill>
                <a:highlight>
                  <a:srgbClr val="FFFFFF"/>
                </a:highlight>
              </a:rPr>
              <a:t>Confirmed tether material and expected full operational capacity (79 tons) [1]</a:t>
            </a:r>
            <a:endParaRPr sz="1000">
              <a:solidFill>
                <a:schemeClr val="dk1"/>
              </a:solidFill>
              <a:highlight>
                <a:srgbClr val="FFFFFF"/>
              </a:highlight>
            </a:endParaRPr>
          </a:p>
          <a:p>
            <a:pPr indent="-292100" lvl="0" marL="457200" rtl="0" algn="l">
              <a:lnSpc>
                <a:spcPct val="120000"/>
              </a:lnSpc>
              <a:spcBef>
                <a:spcPts val="0"/>
              </a:spcBef>
              <a:spcAft>
                <a:spcPts val="0"/>
              </a:spcAft>
              <a:buClr>
                <a:schemeClr val="dk1"/>
              </a:buClr>
              <a:buSzPts val="1000"/>
              <a:buChar char="-"/>
            </a:pPr>
            <a:r>
              <a:rPr lang="en" sz="1000">
                <a:solidFill>
                  <a:schemeClr val="dk1"/>
                </a:solidFill>
                <a:highlight>
                  <a:srgbClr val="FFFFFF"/>
                </a:highlight>
              </a:rPr>
              <a:t>Acknowledged that Space Elevators are completely green and we can release nuclear wastes into space</a:t>
            </a:r>
            <a:endParaRPr sz="1000">
              <a:solidFill>
                <a:schemeClr val="dk1"/>
              </a:solidFill>
              <a:highlight>
                <a:srgbClr val="FFFFFF"/>
              </a:highlight>
            </a:endParaRPr>
          </a:p>
        </p:txBody>
      </p:sp>
      <p:sp>
        <p:nvSpPr>
          <p:cNvPr id="93" name="Google Shape;93;p3"/>
          <p:cNvSpPr txBox="1"/>
          <p:nvPr>
            <p:ph idx="1" type="body"/>
          </p:nvPr>
        </p:nvSpPr>
        <p:spPr>
          <a:xfrm>
            <a:off x="3135350" y="1140725"/>
            <a:ext cx="2700900" cy="12303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800"/>
              <a:buNone/>
            </a:pPr>
            <a:r>
              <a:rPr lang="en" sz="1600"/>
              <a:t>Space Elevator Mechanism</a:t>
            </a:r>
            <a:endParaRPr sz="1000">
              <a:solidFill>
                <a:schemeClr val="dk1"/>
              </a:solidFill>
              <a:highlight>
                <a:srgbClr val="FFFFFF"/>
              </a:highlight>
            </a:endParaRPr>
          </a:p>
          <a:p>
            <a:pPr indent="-292100" lvl="0" marL="457200" rtl="0" algn="l">
              <a:lnSpc>
                <a:spcPct val="120000"/>
              </a:lnSpc>
              <a:spcBef>
                <a:spcPts val="1200"/>
              </a:spcBef>
              <a:spcAft>
                <a:spcPts val="0"/>
              </a:spcAft>
              <a:buClr>
                <a:schemeClr val="dk1"/>
              </a:buClr>
              <a:buSzPts val="1000"/>
              <a:buChar char="-"/>
            </a:pPr>
            <a:r>
              <a:rPr lang="en" sz="1000">
                <a:solidFill>
                  <a:schemeClr val="dk1"/>
                </a:solidFill>
                <a:highlight>
                  <a:srgbClr val="FFFFFF"/>
                </a:highlight>
              </a:rPr>
              <a:t>Investigated for a specific tether material (carbon nanotube) whether swaying is a concern</a:t>
            </a:r>
            <a:endParaRPr/>
          </a:p>
        </p:txBody>
      </p:sp>
      <p:sp>
        <p:nvSpPr>
          <p:cNvPr id="94" name="Google Shape;94;p3"/>
          <p:cNvSpPr txBox="1"/>
          <p:nvPr>
            <p:ph idx="1" type="body"/>
          </p:nvPr>
        </p:nvSpPr>
        <p:spPr>
          <a:xfrm>
            <a:off x="5836250" y="1140725"/>
            <a:ext cx="2894100" cy="34164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800"/>
              <a:buNone/>
            </a:pPr>
            <a:r>
              <a:rPr lang="en" sz="1600"/>
              <a:t>NASA’s reports on Moon Colony [10]</a:t>
            </a:r>
            <a:endParaRPr sz="1600"/>
          </a:p>
          <a:p>
            <a:pPr indent="0" lvl="0" marL="0" rtl="0" algn="l">
              <a:lnSpc>
                <a:spcPct val="120000"/>
              </a:lnSpc>
              <a:spcBef>
                <a:spcPts val="1200"/>
              </a:spcBef>
              <a:spcAft>
                <a:spcPts val="0"/>
              </a:spcAft>
              <a:buSzPts val="1800"/>
              <a:buNone/>
            </a:pPr>
            <a:r>
              <a:t/>
            </a:r>
            <a:endParaRPr sz="1000">
              <a:solidFill>
                <a:schemeClr val="dk1"/>
              </a:solidFill>
              <a:highlight>
                <a:srgbClr val="FFFFFF"/>
              </a:highlight>
            </a:endParaRPr>
          </a:p>
          <a:p>
            <a:pPr indent="0" lvl="0" marL="0" rtl="0" algn="l">
              <a:lnSpc>
                <a:spcPct val="120000"/>
              </a:lnSpc>
              <a:spcBef>
                <a:spcPts val="1200"/>
              </a:spcBef>
              <a:spcAft>
                <a:spcPts val="0"/>
              </a:spcAft>
              <a:buSzPts val="1800"/>
              <a:buNone/>
            </a:pPr>
            <a:r>
              <a:t/>
            </a:r>
            <a:endParaRPr sz="1000">
              <a:solidFill>
                <a:schemeClr val="dk1"/>
              </a:solidFill>
              <a:highlight>
                <a:srgbClr val="FFFFFF"/>
              </a:highlight>
            </a:endParaRPr>
          </a:p>
          <a:p>
            <a:pPr indent="0" lvl="0" marL="0" rtl="0" algn="l">
              <a:lnSpc>
                <a:spcPct val="120000"/>
              </a:lnSpc>
              <a:spcBef>
                <a:spcPts val="1200"/>
              </a:spcBef>
              <a:spcAft>
                <a:spcPts val="0"/>
              </a:spcAft>
              <a:buSzPts val="1800"/>
              <a:buNone/>
            </a:pPr>
            <a:r>
              <a:t/>
            </a:r>
            <a:endParaRPr sz="1000">
              <a:solidFill>
                <a:schemeClr val="dk1"/>
              </a:solidFill>
              <a:highlight>
                <a:srgbClr val="FFFFFF"/>
              </a:highlight>
            </a:endParaRPr>
          </a:p>
          <a:p>
            <a:pPr indent="0" lvl="0" marL="0" rtl="0" algn="l">
              <a:lnSpc>
                <a:spcPct val="120000"/>
              </a:lnSpc>
              <a:spcBef>
                <a:spcPts val="1200"/>
              </a:spcBef>
              <a:spcAft>
                <a:spcPts val="0"/>
              </a:spcAft>
              <a:buSzPts val="1800"/>
              <a:buNone/>
            </a:pPr>
            <a:r>
              <a:t/>
            </a:r>
            <a:endParaRPr sz="1000">
              <a:solidFill>
                <a:schemeClr val="dk1"/>
              </a:solidFill>
              <a:highlight>
                <a:srgbClr val="FFFFFF"/>
              </a:highlight>
            </a:endParaRPr>
          </a:p>
          <a:p>
            <a:pPr indent="-292100" lvl="0" marL="457200" rtl="0" algn="l">
              <a:lnSpc>
                <a:spcPct val="120000"/>
              </a:lnSpc>
              <a:spcBef>
                <a:spcPts val="1200"/>
              </a:spcBef>
              <a:spcAft>
                <a:spcPts val="0"/>
              </a:spcAft>
              <a:buClr>
                <a:schemeClr val="dk1"/>
              </a:buClr>
              <a:buSzPts val="1000"/>
              <a:buChar char="-"/>
            </a:pPr>
            <a:r>
              <a:rPr lang="en" sz="1000">
                <a:solidFill>
                  <a:schemeClr val="dk1"/>
                </a:solidFill>
                <a:highlight>
                  <a:srgbClr val="FFFFFF"/>
                </a:highlight>
              </a:rPr>
              <a:t>1977 Studies on Various topics related to moon settlement, including designs and sustainability analysis of (suggested 10,000 people) Moon Colony, local extraction/mining processes for metals and oxygen, etc.</a:t>
            </a:r>
            <a:endParaRPr sz="1000">
              <a:solidFill>
                <a:schemeClr val="dk1"/>
              </a:solidFill>
              <a:highlight>
                <a:srgbClr val="FFFFFF"/>
              </a:highlight>
            </a:endParaRPr>
          </a:p>
        </p:txBody>
      </p:sp>
      <p:pic>
        <p:nvPicPr>
          <p:cNvPr id="95" name="Google Shape;95;p3" title="Screenshot 2026-02-10 at 10.49.42 PM.png"/>
          <p:cNvPicPr preferRelativeResize="0"/>
          <p:nvPr/>
        </p:nvPicPr>
        <p:blipFill rotWithShape="1">
          <a:blip r:embed="rId3">
            <a:alphaModFix/>
          </a:blip>
          <a:srcRect b="0" l="0" r="0" t="0"/>
          <a:stretch/>
        </p:blipFill>
        <p:spPr>
          <a:xfrm>
            <a:off x="1113275" y="1562275"/>
            <a:ext cx="1150049" cy="510175"/>
          </a:xfrm>
          <a:prstGeom prst="rect">
            <a:avLst/>
          </a:prstGeom>
          <a:noFill/>
          <a:ln>
            <a:noFill/>
          </a:ln>
        </p:spPr>
      </p:pic>
      <p:pic>
        <p:nvPicPr>
          <p:cNvPr id="96" name="Google Shape;96;p3" title="Screenshot 2026-02-10 at 11.05.49 PM.png"/>
          <p:cNvPicPr preferRelativeResize="0"/>
          <p:nvPr/>
        </p:nvPicPr>
        <p:blipFill rotWithShape="1">
          <a:blip r:embed="rId4">
            <a:alphaModFix/>
          </a:blip>
          <a:srcRect b="0" l="0" r="0" t="0"/>
          <a:stretch/>
        </p:blipFill>
        <p:spPr>
          <a:xfrm>
            <a:off x="6268955" y="1797197"/>
            <a:ext cx="2563352" cy="1349151"/>
          </a:xfrm>
          <a:prstGeom prst="rect">
            <a:avLst/>
          </a:prstGeom>
          <a:noFill/>
          <a:ln>
            <a:noFill/>
          </a:ln>
        </p:spPr>
      </p:pic>
      <p:sp>
        <p:nvSpPr>
          <p:cNvPr id="97" name="Google Shape;97;p3"/>
          <p:cNvSpPr txBox="1"/>
          <p:nvPr>
            <p:ph idx="1" type="body"/>
          </p:nvPr>
        </p:nvSpPr>
        <p:spPr>
          <a:xfrm>
            <a:off x="3218038" y="2494025"/>
            <a:ext cx="2700900" cy="19974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800"/>
              <a:buNone/>
            </a:pPr>
            <a:r>
              <a:rPr lang="en" sz="1600"/>
              <a:t>NASA’s study on Biomass Production in Extreme Circumstances [8]</a:t>
            </a:r>
            <a:endParaRPr sz="1000">
              <a:solidFill>
                <a:schemeClr val="dk1"/>
              </a:solidFill>
              <a:highlight>
                <a:srgbClr val="FFFFFF"/>
              </a:highlight>
            </a:endParaRPr>
          </a:p>
          <a:p>
            <a:pPr indent="-292100" lvl="0" marL="457200" rtl="0" algn="l">
              <a:lnSpc>
                <a:spcPct val="120000"/>
              </a:lnSpc>
              <a:spcBef>
                <a:spcPts val="1200"/>
              </a:spcBef>
              <a:spcAft>
                <a:spcPts val="0"/>
              </a:spcAft>
              <a:buClr>
                <a:schemeClr val="dk1"/>
              </a:buClr>
              <a:buSzPts val="1000"/>
              <a:buChar char="-"/>
            </a:pPr>
            <a:r>
              <a:rPr lang="en" sz="1000">
                <a:solidFill>
                  <a:schemeClr val="dk1"/>
                </a:solidFill>
                <a:highlight>
                  <a:srgbClr val="FFFFFF"/>
                </a:highlight>
              </a:rPr>
              <a:t>Can achieve 20 g/m^2/day production and high water recovery rate through condensed evapotranspiration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Assumptions and Justifications</a:t>
            </a:r>
            <a:endParaRPr/>
          </a:p>
        </p:txBody>
      </p:sp>
      <p:sp>
        <p:nvSpPr>
          <p:cNvPr id="103" name="Google Shape;103;p4"/>
          <p:cNvSpPr txBox="1"/>
          <p:nvPr>
            <p:ph idx="1" type="body"/>
          </p:nvPr>
        </p:nvSpPr>
        <p:spPr>
          <a:xfrm>
            <a:off x="411575" y="1017725"/>
            <a:ext cx="8420700" cy="3670975"/>
          </a:xfrm>
          <a:prstGeom prst="rect">
            <a:avLst/>
          </a:prstGeom>
          <a:noFill/>
          <a:ln>
            <a:noFill/>
          </a:ln>
        </p:spPr>
        <p:txBody>
          <a:bodyPr anchorCtr="0" anchor="t" bIns="91425" lIns="91425" spcFirstLastPara="1" rIns="91425" wrap="square" tIns="91425">
            <a:spAutoFit/>
          </a:bodyPr>
          <a:lstStyle/>
          <a:p>
            <a:pPr indent="0" lvl="0" marL="114300" rtl="0" algn="l">
              <a:lnSpc>
                <a:spcPct val="115000"/>
              </a:lnSpc>
              <a:spcBef>
                <a:spcPts val="0"/>
              </a:spcBef>
              <a:spcAft>
                <a:spcPts val="0"/>
              </a:spcAft>
              <a:buSzPts val="1800"/>
              <a:buNone/>
            </a:pPr>
            <a:r>
              <a:rPr lang="en" sz="1100"/>
              <a:t>1. Assumption: From 2050 onward, logistics capacities KE and KR remain constant over time, except when interrupted by modeled stochastic failures.</a:t>
            </a:r>
            <a:endParaRPr/>
          </a:p>
          <a:p>
            <a:pPr indent="0" lvl="0" marL="114300" rtl="0" algn="l">
              <a:lnSpc>
                <a:spcPct val="115000"/>
              </a:lnSpc>
              <a:spcBef>
                <a:spcPts val="0"/>
              </a:spcBef>
              <a:spcAft>
                <a:spcPts val="0"/>
              </a:spcAft>
              <a:buSzPts val="1800"/>
              <a:buNone/>
            </a:pPr>
            <a:r>
              <a:rPr lang="en" sz="1100"/>
              <a:t>Justification: This allows us to focus on long-run capacity constraints without introducing speculative technology ramp-up or degradation dynamics.</a:t>
            </a:r>
            <a:endParaRPr/>
          </a:p>
          <a:p>
            <a:pPr indent="0" lvl="0" marL="114300" rtl="0" algn="l">
              <a:lnSpc>
                <a:spcPct val="115000"/>
              </a:lnSpc>
              <a:spcBef>
                <a:spcPts val="0"/>
              </a:spcBef>
              <a:spcAft>
                <a:spcPts val="0"/>
              </a:spcAft>
              <a:buSzPts val="1800"/>
              <a:buNone/>
            </a:pPr>
            <a:r>
              <a:t/>
            </a:r>
            <a:endParaRPr sz="1000"/>
          </a:p>
          <a:p>
            <a:pPr indent="0" lvl="0" marL="114300" rtl="0" algn="l">
              <a:lnSpc>
                <a:spcPct val="115000"/>
              </a:lnSpc>
              <a:spcBef>
                <a:spcPts val="0"/>
              </a:spcBef>
              <a:spcAft>
                <a:spcPts val="0"/>
              </a:spcAft>
              <a:buSzPts val="1800"/>
              <a:buNone/>
            </a:pPr>
            <a:r>
              <a:rPr lang="en" sz="1100"/>
              <a:t>2. Assumption: Unit transport costs are linear and time-invariant, and all costs are measured in constant dollars (no economies of scale, inflation, or discounting).</a:t>
            </a:r>
            <a:br>
              <a:rPr lang="en" sz="1100"/>
            </a:br>
            <a:r>
              <a:rPr lang="en" sz="1100"/>
              <a:t>Justification: This isolates the cost–time tradeoff implied by physical constraints and avoids introducing uncertain macroeconomic assumptions.</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3. Assumption: Atmospheric and orbital conditions are constant, and launch sites are always available unless a stochastic "failure event" is triggered.</a:t>
            </a:r>
            <a:br>
              <a:rPr lang="en" sz="1100"/>
            </a:br>
            <a:r>
              <a:rPr lang="en" sz="1100"/>
              <a:t>Justification: The century-long scale of the project means short-term local delays average out. Major system disruptions can be handled through our Monte Carlo simulation.</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4. Assumption: The average ∆v required for lunar transit is a constant 15 km/s. Justification: This follows the Hohmann transfer orbit principles. It allows us to better account for the Earth’s rotational assist at the Apex Anchor and compares the latitudinal ∆v difference at different launch sites.</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Assumptions and Justifications</a:t>
            </a:r>
            <a:endParaRPr/>
          </a:p>
        </p:txBody>
      </p:sp>
      <p:sp>
        <p:nvSpPr>
          <p:cNvPr id="109" name="Google Shape;109;p5"/>
          <p:cNvSpPr txBox="1"/>
          <p:nvPr>
            <p:ph idx="1" type="body"/>
          </p:nvPr>
        </p:nvSpPr>
        <p:spPr>
          <a:xfrm>
            <a:off x="411575" y="1017725"/>
            <a:ext cx="8420700" cy="3104666"/>
          </a:xfrm>
          <a:prstGeom prst="rect">
            <a:avLst/>
          </a:prstGeom>
          <a:noFill/>
          <a:ln>
            <a:noFill/>
          </a:ln>
        </p:spPr>
        <p:txBody>
          <a:bodyPr anchorCtr="0" anchor="t" bIns="91425" lIns="91425" spcFirstLastPara="1" rIns="91425" wrap="square" tIns="91425">
            <a:spAutoFit/>
          </a:bodyPr>
          <a:lstStyle/>
          <a:p>
            <a:pPr indent="0" lvl="0" marL="114300" rtl="0" algn="l">
              <a:lnSpc>
                <a:spcPct val="115000"/>
              </a:lnSpc>
              <a:spcBef>
                <a:spcPts val="0"/>
              </a:spcBef>
              <a:spcAft>
                <a:spcPts val="0"/>
              </a:spcAft>
              <a:buSzPts val="1800"/>
              <a:buNone/>
            </a:pPr>
            <a:r>
              <a:rPr lang="en" sz="1100"/>
              <a:t>4. Assumption: The average ∆v required for lunar transit is a constant 15 km/s. Justification: This follows the Hohmann transfer orbit principles. It allows us to better account for the Earth’s rotational assist at the Apex Anchor and compares the latitudinal ∆v difference at different launch sites.</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5. Assumption: The fuel-to-payload efficiency ratio at the Apex Anchor is identical to that on the Earth’s surface.</a:t>
            </a:r>
            <a:br>
              <a:rPr lang="en" sz="1100"/>
            </a:br>
            <a:r>
              <a:rPr lang="en" sz="1100"/>
              <a:t>Justification: This allows us to apply the cost coefficient C∆v,1 across all three logistic plans, providing a more efficient estimation.</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6. Assumption: The lunar colony operates as a near-closed-loop regenerative system with high water recovery rates and agricultural productivity.</a:t>
            </a:r>
            <a:br>
              <a:rPr lang="en" sz="1100"/>
            </a:br>
            <a:r>
              <a:rPr lang="en" sz="1100"/>
              <a:t>Justification: High efficiency in production and recycling is a prerequisite for a moon colony of 100,000 people. These figures align with NASA’s Biomass Production Chamber (BPC) benchmarks and current ISS life-support performance.</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7. Assumption: By 2050, the fuel efficiency of going to the Moon is the same as that of reaching LEO at present.</a:t>
            </a:r>
            <a:br>
              <a:rPr lang="en" sz="1100"/>
            </a:br>
            <a:r>
              <a:rPr lang="en" sz="1100"/>
              <a:t>Justification: This assumption is based on the logarithmic maturity of aerospace technologies. Historically, the cost and energy efficiency of new frontiers stabilize after three decades of commercialization.</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15" name="Google Shape;115;p6"/>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Scenario A. Only Rockets</a:t>
            </a:r>
            <a:endParaRPr>
              <a:solidFill>
                <a:schemeClr val="dk1"/>
              </a:solidFill>
            </a:endParaRPr>
          </a:p>
        </p:txBody>
      </p:sp>
      <p:sp>
        <p:nvSpPr>
          <p:cNvPr id="116" name="Google Shape;116;p6"/>
          <p:cNvSpPr txBox="1"/>
          <p:nvPr/>
        </p:nvSpPr>
        <p:spPr>
          <a:xfrm>
            <a:off x="311699" y="1446900"/>
            <a:ext cx="8636107" cy="2985402"/>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metric tons of materials</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Falcon Heavy delivery capacity: 100 metric tons per launch</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Assuming 1 launch from each launch site each day 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 100 / (10*365) ~ 274 years</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Assuming rocket cost breakup as follow</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Assuming a 35% booster loss rate, ~ $795 million/launch. </a:t>
            </a:r>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Cost using rocket = $7.95M/Mt. For 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Mt, this is a total of </a:t>
            </a:r>
            <a:r>
              <a:rPr b="1" i="0" lang="en" sz="1400" u="none" cap="none" strike="noStrike">
                <a:solidFill>
                  <a:schemeClr val="dk2"/>
                </a:solidFill>
                <a:latin typeface="Arial"/>
                <a:ea typeface="Arial"/>
                <a:cs typeface="Arial"/>
                <a:sym typeface="Arial"/>
              </a:rPr>
              <a:t>$795 trillion</a:t>
            </a:r>
            <a:r>
              <a:rPr b="0" i="0" lang="en" sz="1400" u="none" cap="none" strike="noStrike">
                <a:solidFill>
                  <a:schemeClr val="dk2"/>
                </a:solidFill>
                <a:latin typeface="Arial"/>
                <a:ea typeface="Arial"/>
                <a:cs typeface="Arial"/>
                <a:sym typeface="Arial"/>
              </a:rPr>
              <a:t>.</a:t>
            </a:r>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(For future use) assuming  Earth-to-Moon ∆v = 15 km/s, the cost to provide 1 Mt with 1 km/s of ∆v:</a:t>
            </a:r>
            <a:endParaRPr b="0" i="0" sz="1400" u="none" cap="none" strike="noStrike">
              <a:solidFill>
                <a:schemeClr val="dk2"/>
              </a:solidFill>
              <a:latin typeface="Arial"/>
              <a:ea typeface="Arial"/>
              <a:cs typeface="Arial"/>
              <a:sym typeface="Arial"/>
            </a:endParaRPr>
          </a:p>
        </p:txBody>
      </p:sp>
      <p:graphicFrame>
        <p:nvGraphicFramePr>
          <p:cNvPr id="117" name="Google Shape;117;p6"/>
          <p:cNvGraphicFramePr/>
          <p:nvPr/>
        </p:nvGraphicFramePr>
        <p:xfrm>
          <a:off x="844330" y="2479873"/>
          <a:ext cx="3000000" cy="3000000"/>
        </p:xfrm>
        <a:graphic>
          <a:graphicData uri="http://schemas.openxmlformats.org/drawingml/2006/table">
            <a:tbl>
              <a:tblPr bandRow="1">
                <a:noFill/>
                <a:tableStyleId>{0E968A56-0C94-4FB6-87E1-C2950734C857}</a:tableStyleId>
              </a:tblPr>
              <a:tblGrid>
                <a:gridCol w="1450425"/>
                <a:gridCol w="1177150"/>
                <a:gridCol w="4859275"/>
              </a:tblGrid>
              <a:tr h="370850">
                <a:tc>
                  <a:txBody>
                    <a:bodyPr/>
                    <a:lstStyle/>
                    <a:p>
                      <a:pPr indent="0" lvl="0" marL="0" marR="0" rtl="0" algn="l">
                        <a:lnSpc>
                          <a:spcPct val="100000"/>
                        </a:lnSpc>
                        <a:spcBef>
                          <a:spcPts val="0"/>
                        </a:spcBef>
                        <a:spcAft>
                          <a:spcPts val="0"/>
                        </a:spcAft>
                        <a:buNone/>
                      </a:pPr>
                      <a:r>
                        <a:rPr lang="en" sz="1100" u="none" cap="none" strike="noStrike">
                          <a:solidFill>
                            <a:srgbClr val="575757"/>
                          </a:solidFill>
                        </a:rPr>
                        <a:t>Manufacture Cost</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$100M/rocket</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The cost of producing one rocket. If the booster is recovered and the rocket can be reused, this cost is saved.</a:t>
                      </a:r>
                      <a:endParaRPr sz="1100" u="none" cap="none" strike="noStrike">
                        <a:solidFill>
                          <a:srgbClr val="575757"/>
                        </a:solidFill>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 sz="1100" u="none" cap="none" strike="noStrike">
                          <a:solidFill>
                            <a:srgbClr val="575757"/>
                          </a:solidFill>
                        </a:rPr>
                        <a:t>Operational Cost</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$60M/launch</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The fixed logistic and personnel cost of each launch.</a:t>
                      </a:r>
                      <a:endParaRPr sz="1100" u="none" cap="none" strike="noStrike">
                        <a:solidFill>
                          <a:srgbClr val="575757"/>
                        </a:solidFill>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 sz="1100" u="none" cap="none" strike="noStrike">
                          <a:solidFill>
                            <a:srgbClr val="575757"/>
                          </a:solidFill>
                        </a:rPr>
                        <a:t>Cargo Cost</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$7000/kg</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The cost of delivering 1 kg of cargo. Estimated according to Falcon Heavy.</a:t>
                      </a:r>
                      <a:endParaRPr sz="1100" u="none" cap="none" strike="noStrike">
                        <a:solidFill>
                          <a:srgbClr val="575757"/>
                        </a:solidFill>
                      </a:endParaRPr>
                    </a:p>
                  </a:txBody>
                  <a:tcPr marT="45725" marB="45725" marR="91450" marL="91450"/>
                </a:tc>
              </a:tr>
            </a:tbl>
          </a:graphicData>
        </a:graphic>
      </p:graphicFrame>
      <p:pic>
        <p:nvPicPr>
          <p:cNvPr descr="文本&#10;&#10;AI 生成的内容可能不正确。" id="118" name="Google Shape;118;p6"/>
          <p:cNvPicPr preferRelativeResize="0"/>
          <p:nvPr/>
        </p:nvPicPr>
        <p:blipFill rotWithShape="1">
          <a:blip r:embed="rId3">
            <a:alphaModFix/>
          </a:blip>
          <a:srcRect b="0" l="0" r="0" t="0"/>
          <a:stretch/>
        </p:blipFill>
        <p:spPr>
          <a:xfrm>
            <a:off x="769623" y="4362421"/>
            <a:ext cx="3652864" cy="566742"/>
          </a:xfrm>
          <a:prstGeom prst="rect">
            <a:avLst/>
          </a:prstGeom>
          <a:noFill/>
          <a:ln>
            <a:noFill/>
          </a:ln>
        </p:spPr>
      </p:pic>
      <p:sp>
        <p:nvSpPr>
          <p:cNvPr id="119" name="Google Shape;119;p6"/>
          <p:cNvSpPr txBox="1"/>
          <p:nvPr/>
        </p:nvSpPr>
        <p:spPr>
          <a:xfrm>
            <a:off x="4399147" y="4405943"/>
            <a:ext cx="4572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We assume that this value is the same for launching from Apex Anchor and from Earth’s equator.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25" name="Google Shape;125;p7"/>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Scenario B. Only Space Elevator</a:t>
            </a:r>
            <a:endParaRPr>
              <a:solidFill>
                <a:schemeClr val="dk1"/>
              </a:solidFill>
            </a:endParaRPr>
          </a:p>
        </p:txBody>
      </p:sp>
      <p:sp>
        <p:nvSpPr>
          <p:cNvPr id="126" name="Google Shape;126;p7"/>
          <p:cNvSpPr txBox="1"/>
          <p:nvPr/>
        </p:nvSpPr>
        <p:spPr>
          <a:xfrm>
            <a:off x="311700" y="1446900"/>
            <a:ext cx="6820500" cy="830966"/>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metric tons of material</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Each of the 3 galactic harbor has a capacity of 179,000 tons/yr</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Takes ~ 186 years to deliver</a:t>
            </a:r>
            <a:endParaRPr b="0" i="0" sz="1400" u="none" cap="none" strike="noStrike">
              <a:solidFill>
                <a:schemeClr val="dk2"/>
              </a:solidFill>
              <a:latin typeface="Arial"/>
              <a:ea typeface="Arial"/>
              <a:cs typeface="Arial"/>
              <a:sym typeface="Arial"/>
            </a:endParaRPr>
          </a:p>
        </p:txBody>
      </p:sp>
      <p:sp>
        <p:nvSpPr>
          <p:cNvPr id="127" name="Google Shape;127;p7"/>
          <p:cNvSpPr txBox="1"/>
          <p:nvPr/>
        </p:nvSpPr>
        <p:spPr>
          <a:xfrm>
            <a:off x="311700" y="2258384"/>
            <a:ext cx="4497000" cy="400079"/>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AutoNum type="alphaLcParenBoth"/>
            </a:pPr>
            <a:r>
              <a:rPr b="1" i="0" lang="en" sz="1400" u="none" cap="none" strike="noStrike">
                <a:solidFill>
                  <a:schemeClr val="dk2"/>
                </a:solidFill>
                <a:latin typeface="Arial"/>
                <a:ea typeface="Arial"/>
                <a:cs typeface="Arial"/>
                <a:sym typeface="Arial"/>
              </a:rPr>
              <a:t>Elevator Cost from Earth to Apex Anchor</a:t>
            </a:r>
            <a:endParaRPr b="1" i="0" sz="1400" u="none" cap="none" strike="noStrike">
              <a:solidFill>
                <a:schemeClr val="dk2"/>
              </a:solidFill>
              <a:latin typeface="Arial"/>
              <a:ea typeface="Arial"/>
              <a:cs typeface="Arial"/>
              <a:sym typeface="Arial"/>
            </a:endParaRPr>
          </a:p>
        </p:txBody>
      </p:sp>
      <p:pic>
        <p:nvPicPr>
          <p:cNvPr id="128" name="Google Shape;128;p7" title="Screenshot 2026-02-11 at 12.22.52 AM.png"/>
          <p:cNvPicPr preferRelativeResize="0"/>
          <p:nvPr/>
        </p:nvPicPr>
        <p:blipFill rotWithShape="1">
          <a:blip r:embed="rId3">
            <a:alphaModFix/>
          </a:blip>
          <a:srcRect b="0" l="0" r="0" t="0"/>
          <a:stretch/>
        </p:blipFill>
        <p:spPr>
          <a:xfrm>
            <a:off x="822944" y="2910635"/>
            <a:ext cx="5266849" cy="443650"/>
          </a:xfrm>
          <a:prstGeom prst="rect">
            <a:avLst/>
          </a:prstGeom>
          <a:noFill/>
          <a:ln>
            <a:noFill/>
          </a:ln>
        </p:spPr>
      </p:pic>
      <p:sp>
        <p:nvSpPr>
          <p:cNvPr id="129" name="Google Shape;129;p7"/>
          <p:cNvSpPr txBox="1"/>
          <p:nvPr/>
        </p:nvSpPr>
        <p:spPr>
          <a:xfrm>
            <a:off x="316393" y="2543013"/>
            <a:ext cx="8225014" cy="400079"/>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Work needed to lift 1kg from Earth’s surface at the equator to the Apex Anchor:</a:t>
            </a:r>
            <a:endParaRPr b="0" i="0" sz="1400" u="none" cap="none" strike="noStrike">
              <a:solidFill>
                <a:schemeClr val="dk2"/>
              </a:solidFill>
              <a:latin typeface="Arial"/>
              <a:ea typeface="Arial"/>
              <a:cs typeface="Arial"/>
              <a:sym typeface="Arial"/>
            </a:endParaRPr>
          </a:p>
        </p:txBody>
      </p:sp>
      <p:pic>
        <p:nvPicPr>
          <p:cNvPr id="130" name="Google Shape;130;p7" title="Screenshot 2026-02-11 at 12.28.15 AM.png"/>
          <p:cNvPicPr preferRelativeResize="0"/>
          <p:nvPr/>
        </p:nvPicPr>
        <p:blipFill rotWithShape="1">
          <a:blip r:embed="rId4">
            <a:alphaModFix/>
          </a:blip>
          <a:srcRect b="0" l="0" r="0" t="0"/>
          <a:stretch/>
        </p:blipFill>
        <p:spPr>
          <a:xfrm>
            <a:off x="4050017" y="3812802"/>
            <a:ext cx="873121" cy="241150"/>
          </a:xfrm>
          <a:prstGeom prst="rect">
            <a:avLst/>
          </a:prstGeom>
          <a:noFill/>
          <a:ln>
            <a:noFill/>
          </a:ln>
        </p:spPr>
      </p:pic>
      <p:pic>
        <p:nvPicPr>
          <p:cNvPr id="131" name="Google Shape;131;p7" title="Screenshot 2026-02-11 at 12.28.50 AM.png"/>
          <p:cNvPicPr preferRelativeResize="0"/>
          <p:nvPr/>
        </p:nvPicPr>
        <p:blipFill rotWithShape="1">
          <a:blip r:embed="rId5">
            <a:alphaModFix/>
          </a:blip>
          <a:srcRect b="0" l="0" r="0" t="0"/>
          <a:stretch/>
        </p:blipFill>
        <p:spPr>
          <a:xfrm>
            <a:off x="5014722" y="3812802"/>
            <a:ext cx="1455215" cy="241150"/>
          </a:xfrm>
          <a:prstGeom prst="rect">
            <a:avLst/>
          </a:prstGeom>
          <a:noFill/>
          <a:ln>
            <a:noFill/>
          </a:ln>
        </p:spPr>
      </p:pic>
      <p:pic>
        <p:nvPicPr>
          <p:cNvPr id="132" name="Google Shape;132;p7" title="rocket.png"/>
          <p:cNvPicPr preferRelativeResize="0"/>
          <p:nvPr/>
        </p:nvPicPr>
        <p:blipFill rotWithShape="1">
          <a:blip r:embed="rId6">
            <a:alphaModFix/>
          </a:blip>
          <a:srcRect b="0" l="0" r="0" t="0"/>
          <a:stretch/>
        </p:blipFill>
        <p:spPr>
          <a:xfrm>
            <a:off x="5920075" y="382735"/>
            <a:ext cx="2964723" cy="2050847"/>
          </a:xfrm>
          <a:prstGeom prst="rect">
            <a:avLst/>
          </a:prstGeom>
          <a:noFill/>
          <a:ln>
            <a:noFill/>
          </a:ln>
        </p:spPr>
      </p:pic>
      <p:sp>
        <p:nvSpPr>
          <p:cNvPr id="133" name="Google Shape;133;p7"/>
          <p:cNvSpPr txBox="1"/>
          <p:nvPr/>
        </p:nvSpPr>
        <p:spPr>
          <a:xfrm>
            <a:off x="311700" y="3361454"/>
            <a:ext cx="7642596" cy="1384995"/>
          </a:xfrm>
          <a:prstGeom prst="rect">
            <a:avLst/>
          </a:prstGeom>
          <a:noFill/>
          <a:ln>
            <a:noFill/>
          </a:ln>
        </p:spPr>
        <p:txBody>
          <a:bodyPr anchorCtr="0" anchor="t" bIns="45700" lIns="91425" spcFirstLastPara="1" rIns="91425" wrap="square" tIns="45700">
            <a:spAutoFit/>
          </a:bodyPr>
          <a:lstStyle/>
          <a:p>
            <a:pPr indent="45720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	~ 2.88</a:t>
            </a:r>
            <a:r>
              <a:rPr b="0" baseline="30000" i="0" lang="en" sz="1400" u="none" cap="none" strike="noStrike">
                <a:solidFill>
                  <a:schemeClr val="dk2"/>
                </a:solidFill>
                <a:latin typeface="Arial"/>
                <a:ea typeface="Arial"/>
                <a:cs typeface="Arial"/>
                <a:sym typeface="Arial"/>
              </a:rPr>
              <a:t>7</a:t>
            </a:r>
            <a:r>
              <a:rPr b="0" i="0" lang="en" sz="1400" u="none" cap="none" strike="noStrike">
                <a:solidFill>
                  <a:schemeClr val="dk2"/>
                </a:solidFill>
                <a:latin typeface="Arial"/>
                <a:ea typeface="Arial"/>
                <a:cs typeface="Arial"/>
                <a:sym typeface="Arial"/>
              </a:rPr>
              <a:t> ×10 J/kg = 8.00 × 10</a:t>
            </a:r>
            <a:r>
              <a:rPr b="0" baseline="30000" i="0" lang="en" sz="1400" u="none" cap="none" strike="noStrike">
                <a:solidFill>
                  <a:schemeClr val="dk2"/>
                </a:solidFill>
                <a:latin typeface="Arial"/>
                <a:ea typeface="Arial"/>
                <a:cs typeface="Arial"/>
                <a:sym typeface="Arial"/>
              </a:rPr>
              <a:t>3</a:t>
            </a:r>
            <a:r>
              <a:rPr b="0" i="0" lang="en" sz="1400" u="none" cap="none" strike="noStrike">
                <a:solidFill>
                  <a:schemeClr val="dk2"/>
                </a:solidFill>
                <a:latin typeface="Arial"/>
                <a:ea typeface="Arial"/>
                <a:cs typeface="Arial"/>
                <a:sym typeface="Arial"/>
              </a:rPr>
              <a:t> kWh/Mt</a:t>
            </a:r>
            <a:endParaRPr/>
          </a:p>
          <a:p>
            <a:pPr indent="45720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Assuming electricity efficiency and price</a:t>
            </a:r>
            <a:endParaRPr/>
          </a:p>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	Cost/tons = $1.88*10^3 M/Mt</a:t>
            </a:r>
            <a:endParaRPr/>
          </a:p>
          <a:p>
            <a:pPr indent="0" lvl="0" marL="139700" marR="0" rtl="0" algn="l">
              <a:lnSpc>
                <a:spcPct val="100000"/>
              </a:lnSpc>
              <a:spcBef>
                <a:spcPts val="0"/>
              </a:spcBef>
              <a:spcAft>
                <a:spcPts val="0"/>
              </a:spcAft>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For total 537,000 Mt/yr, total cost is $1.01 * 10</a:t>
            </a:r>
            <a:r>
              <a:rPr b="0" baseline="30000" i="0" lang="en" sz="1400" u="none" cap="none" strike="noStrike">
                <a:solidFill>
                  <a:schemeClr val="dk2"/>
                </a:solidFill>
                <a:latin typeface="Arial"/>
                <a:ea typeface="Arial"/>
                <a:cs typeface="Arial"/>
                <a:sym typeface="Arial"/>
              </a:rPr>
              <a:t>9</a:t>
            </a:r>
            <a:r>
              <a:rPr b="0" i="0" lang="en" sz="1400" u="none" cap="none" strike="noStrike">
                <a:solidFill>
                  <a:schemeClr val="dk2"/>
                </a:solidFill>
                <a:latin typeface="Arial"/>
                <a:ea typeface="Arial"/>
                <a:cs typeface="Arial"/>
                <a:sym typeface="Arial"/>
              </a:rPr>
              <a:t> yr * 186 yr ~ </a:t>
            </a:r>
            <a:r>
              <a:rPr b="1" i="0" lang="en" sz="1400" u="none" cap="none" strike="noStrike">
                <a:solidFill>
                  <a:schemeClr val="dk2"/>
                </a:solidFill>
                <a:latin typeface="Arial"/>
                <a:ea typeface="Arial"/>
                <a:cs typeface="Arial"/>
                <a:sym typeface="Arial"/>
              </a:rPr>
              <a:t>$188 billion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39" name="Google Shape;139;p8"/>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Scenario B. Only Space Elevator</a:t>
            </a:r>
            <a:endParaRPr>
              <a:solidFill>
                <a:schemeClr val="dk1"/>
              </a:solidFill>
            </a:endParaRPr>
          </a:p>
        </p:txBody>
      </p:sp>
      <p:sp>
        <p:nvSpPr>
          <p:cNvPr id="140" name="Google Shape;140;p8"/>
          <p:cNvSpPr txBox="1"/>
          <p:nvPr/>
        </p:nvSpPr>
        <p:spPr>
          <a:xfrm>
            <a:off x="311700" y="1446900"/>
            <a:ext cx="682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41" name="Google Shape;141;p8"/>
          <p:cNvSpPr txBox="1"/>
          <p:nvPr/>
        </p:nvSpPr>
        <p:spPr>
          <a:xfrm>
            <a:off x="311700" y="1513730"/>
            <a:ext cx="4497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Arial"/>
                <a:ea typeface="Arial"/>
                <a:cs typeface="Arial"/>
                <a:sym typeface="Arial"/>
              </a:rPr>
              <a:t>(b)  Launching Cost from Apex to Moon</a:t>
            </a:r>
            <a:endParaRPr b="1" i="0" sz="1400" u="none" cap="none" strike="noStrike">
              <a:solidFill>
                <a:schemeClr val="dk2"/>
              </a:solidFill>
              <a:latin typeface="Arial"/>
              <a:ea typeface="Arial"/>
              <a:cs typeface="Arial"/>
              <a:sym typeface="Arial"/>
            </a:endParaRPr>
          </a:p>
        </p:txBody>
      </p:sp>
      <p:sp>
        <p:nvSpPr>
          <p:cNvPr id="142" name="Google Shape;142;p8"/>
          <p:cNvSpPr txBox="1"/>
          <p:nvPr/>
        </p:nvSpPr>
        <p:spPr>
          <a:xfrm>
            <a:off x="465175" y="1913925"/>
            <a:ext cx="6332100" cy="400079"/>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Tangential speed at apex anchor:</a:t>
            </a:r>
            <a:endParaRPr/>
          </a:p>
        </p:txBody>
      </p:sp>
      <p:grpSp>
        <p:nvGrpSpPr>
          <p:cNvPr id="143" name="Google Shape;143;p8"/>
          <p:cNvGrpSpPr/>
          <p:nvPr/>
        </p:nvGrpSpPr>
        <p:grpSpPr>
          <a:xfrm>
            <a:off x="3721950" y="1980755"/>
            <a:ext cx="2318942" cy="241150"/>
            <a:chOff x="3118161" y="1997825"/>
            <a:chExt cx="2318942" cy="241150"/>
          </a:xfrm>
        </p:grpSpPr>
        <p:pic>
          <p:nvPicPr>
            <p:cNvPr id="144" name="Google Shape;144;p8" title="Screenshot 2026-02-11 at 12.37.41 AM.png"/>
            <p:cNvPicPr preferRelativeResize="0"/>
            <p:nvPr/>
          </p:nvPicPr>
          <p:blipFill rotWithShape="1">
            <a:blip r:embed="rId3">
              <a:alphaModFix/>
            </a:blip>
            <a:srcRect b="0" l="0" r="0" t="0"/>
            <a:stretch/>
          </p:blipFill>
          <p:spPr>
            <a:xfrm>
              <a:off x="3118161" y="1997825"/>
              <a:ext cx="1150150" cy="241150"/>
            </a:xfrm>
            <a:prstGeom prst="rect">
              <a:avLst/>
            </a:prstGeom>
            <a:noFill/>
            <a:ln>
              <a:noFill/>
            </a:ln>
          </p:spPr>
        </p:pic>
        <p:pic>
          <p:nvPicPr>
            <p:cNvPr id="145" name="Google Shape;145;p8" title="Screenshot 2026-02-11 at 12.37.59 AM.png"/>
            <p:cNvPicPr preferRelativeResize="0"/>
            <p:nvPr/>
          </p:nvPicPr>
          <p:blipFill rotWithShape="1">
            <a:blip r:embed="rId4">
              <a:alphaModFix/>
            </a:blip>
            <a:srcRect b="0" l="0" r="0" t="0"/>
            <a:stretch/>
          </p:blipFill>
          <p:spPr>
            <a:xfrm>
              <a:off x="4249003" y="2021963"/>
              <a:ext cx="1188100" cy="192875"/>
            </a:xfrm>
            <a:prstGeom prst="rect">
              <a:avLst/>
            </a:prstGeom>
            <a:noFill/>
            <a:ln>
              <a:noFill/>
            </a:ln>
          </p:spPr>
        </p:pic>
      </p:grpSp>
      <p:pic>
        <p:nvPicPr>
          <p:cNvPr id="146" name="Google Shape;146;p8" title="rocket.png"/>
          <p:cNvPicPr preferRelativeResize="0"/>
          <p:nvPr/>
        </p:nvPicPr>
        <p:blipFill rotWithShape="1">
          <a:blip r:embed="rId5">
            <a:alphaModFix/>
          </a:blip>
          <a:srcRect b="0" l="0" r="0" t="0"/>
          <a:stretch/>
        </p:blipFill>
        <p:spPr>
          <a:xfrm>
            <a:off x="6092293" y="428300"/>
            <a:ext cx="2964723" cy="2050847"/>
          </a:xfrm>
          <a:prstGeom prst="rect">
            <a:avLst/>
          </a:prstGeom>
          <a:noFill/>
          <a:ln>
            <a:noFill/>
          </a:ln>
        </p:spPr>
      </p:pic>
      <p:sp>
        <p:nvSpPr>
          <p:cNvPr id="147" name="Google Shape;147;p8"/>
          <p:cNvSpPr txBox="1"/>
          <p:nvPr/>
        </p:nvSpPr>
        <p:spPr>
          <a:xfrm>
            <a:off x="809444" y="2281189"/>
            <a:ext cx="1750756" cy="400079"/>
          </a:xfrm>
          <a:prstGeom prst="rect">
            <a:avLst/>
          </a:prstGeom>
          <a:noFill/>
          <a:ln>
            <a:noFill/>
          </a:ln>
        </p:spPr>
        <p:txBody>
          <a:bodyPr anchorCtr="0" anchor="t" bIns="91425" lIns="91425" spcFirstLastPara="1" rIns="91425" wrap="square" tIns="91425">
            <a:spAutoFit/>
          </a:bodyPr>
          <a:lstStyle/>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Vis Visa Equation</a:t>
            </a:r>
            <a:endParaRPr b="0" i="0" sz="1400" u="none" cap="none" strike="noStrike">
              <a:solidFill>
                <a:schemeClr val="dk2"/>
              </a:solidFill>
              <a:latin typeface="Arial"/>
              <a:ea typeface="Arial"/>
              <a:cs typeface="Arial"/>
              <a:sym typeface="Arial"/>
            </a:endParaRPr>
          </a:p>
        </p:txBody>
      </p:sp>
      <p:pic>
        <p:nvPicPr>
          <p:cNvPr descr="墙上的钟表&#10;&#10;AI 生成的内容可能不正确。" id="148" name="Google Shape;148;p8"/>
          <p:cNvPicPr preferRelativeResize="0"/>
          <p:nvPr/>
        </p:nvPicPr>
        <p:blipFill rotWithShape="1">
          <a:blip r:embed="rId6">
            <a:alphaModFix/>
          </a:blip>
          <a:srcRect b="15025" l="7795" r="8098" t="12427"/>
          <a:stretch/>
        </p:blipFill>
        <p:spPr>
          <a:xfrm>
            <a:off x="2427889" y="2228652"/>
            <a:ext cx="1229711" cy="500993"/>
          </a:xfrm>
          <a:prstGeom prst="rect">
            <a:avLst/>
          </a:prstGeom>
          <a:noFill/>
          <a:ln>
            <a:noFill/>
          </a:ln>
        </p:spPr>
      </p:pic>
      <p:sp>
        <p:nvSpPr>
          <p:cNvPr id="149" name="Google Shape;149;p8"/>
          <p:cNvSpPr txBox="1"/>
          <p:nvPr/>
        </p:nvSpPr>
        <p:spPr>
          <a:xfrm>
            <a:off x="3525289" y="2279108"/>
            <a:ext cx="5153536" cy="400079"/>
          </a:xfrm>
          <a:prstGeom prst="rect">
            <a:avLst/>
          </a:prstGeom>
          <a:noFill/>
          <a:ln>
            <a:noFill/>
          </a:ln>
        </p:spPr>
        <p:txBody>
          <a:bodyPr anchorCtr="0" anchor="t" bIns="91425" lIns="91425" spcFirstLastPara="1" rIns="91425" wrap="square" tIns="91425">
            <a:spAutoFit/>
          </a:bodyPr>
          <a:lstStyle/>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gives a = -27000 km &lt; 0</a:t>
            </a:r>
            <a:endParaRPr b="0" i="0" sz="1400" u="none" cap="none" strike="noStrike">
              <a:solidFill>
                <a:schemeClr val="dk2"/>
              </a:solidFill>
              <a:latin typeface="Arial"/>
              <a:ea typeface="Arial"/>
              <a:cs typeface="Arial"/>
              <a:sym typeface="Arial"/>
            </a:endParaRPr>
          </a:p>
        </p:txBody>
      </p:sp>
      <p:sp>
        <p:nvSpPr>
          <p:cNvPr id="150" name="Google Shape;150;p8"/>
          <p:cNvSpPr txBox="1"/>
          <p:nvPr/>
        </p:nvSpPr>
        <p:spPr>
          <a:xfrm>
            <a:off x="465175" y="2653913"/>
            <a:ext cx="8520600" cy="2246769"/>
          </a:xfrm>
          <a:prstGeom prst="rect">
            <a:avLst/>
          </a:prstGeom>
          <a:noFill/>
          <a:ln>
            <a:noFill/>
          </a:ln>
        </p:spPr>
        <p:txBody>
          <a:bodyPr anchorCtr="0" anchor="t" bIns="45700" lIns="91425" spcFirstLastPara="1" rIns="91425" wrap="square" tIns="45700">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v &gt; escape trajectory: the cargo will fly away from the moon into outer space if released directly</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Arrival velocity at moon’s orbital radius</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Moon’s orbital rotational velocity: 1.02 km/s    →    Relative velocity: 3.08 km/s</a:t>
            </a:r>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Moon escape velocity: 2.38 km/s </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This is our ∆v (which is actually negative because the rocket is slowing the cargo down!)</a:t>
            </a:r>
            <a:endParaRPr b="0" i="0" sz="1400" u="none" cap="none" strike="noStrike">
              <a:solidFill>
                <a:schemeClr val="dk2"/>
              </a:solidFill>
              <a:latin typeface="Arial"/>
              <a:ea typeface="Arial"/>
              <a:cs typeface="Arial"/>
              <a:sym typeface="Arial"/>
            </a:endParaRPr>
          </a:p>
        </p:txBody>
      </p:sp>
      <p:pic>
        <p:nvPicPr>
          <p:cNvPr descr="图示&#10;&#10;AI 生成的内容可能不正确。" id="151" name="Google Shape;151;p8"/>
          <p:cNvPicPr preferRelativeResize="0"/>
          <p:nvPr/>
        </p:nvPicPr>
        <p:blipFill rotWithShape="1">
          <a:blip r:embed="rId7">
            <a:alphaModFix/>
          </a:blip>
          <a:srcRect b="0" l="0" r="0" t="0"/>
          <a:stretch/>
        </p:blipFill>
        <p:spPr>
          <a:xfrm>
            <a:off x="4127937" y="3002687"/>
            <a:ext cx="2427016" cy="499473"/>
          </a:xfrm>
          <a:prstGeom prst="rect">
            <a:avLst/>
          </a:prstGeom>
          <a:noFill/>
          <a:ln>
            <a:noFill/>
          </a:ln>
        </p:spPr>
      </p:pic>
      <p:pic>
        <p:nvPicPr>
          <p:cNvPr descr="图片包含 箱线图&#10;&#10;AI 生成的内容可能不正确。" id="152" name="Google Shape;152;p8"/>
          <p:cNvPicPr preferRelativeResize="0"/>
          <p:nvPr/>
        </p:nvPicPr>
        <p:blipFill rotWithShape="1">
          <a:blip r:embed="rId8">
            <a:alphaModFix/>
          </a:blip>
          <a:srcRect b="0" l="0" r="0" t="0"/>
          <a:stretch/>
        </p:blipFill>
        <p:spPr>
          <a:xfrm>
            <a:off x="862071" y="4087957"/>
            <a:ext cx="2859879" cy="473875"/>
          </a:xfrm>
          <a:prstGeom prst="rect">
            <a:avLst/>
          </a:prstGeom>
          <a:noFill/>
          <a:ln>
            <a:noFill/>
          </a:ln>
        </p:spPr>
      </p:pic>
      <p:sp>
        <p:nvSpPr>
          <p:cNvPr id="153" name="Google Shape;153;p8"/>
          <p:cNvSpPr txBox="1"/>
          <p:nvPr/>
        </p:nvSpPr>
        <p:spPr>
          <a:xfrm>
            <a:off x="3564659" y="4124854"/>
            <a:ext cx="4142968" cy="400079"/>
          </a:xfrm>
          <a:prstGeom prst="rect">
            <a:avLst/>
          </a:prstGeom>
          <a:noFill/>
          <a:ln>
            <a:noFill/>
          </a:ln>
        </p:spPr>
        <p:txBody>
          <a:bodyPr anchorCtr="0" anchor="t" bIns="91425" lIns="91425" spcFirstLastPara="1" rIns="91425" wrap="square" tIns="91425">
            <a:spAutoFit/>
          </a:bodyPr>
          <a:lstStyle/>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(this comes from orbital energy conservation)</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59" name="Google Shape;159;p9"/>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Scenario B. Only Space Elevator</a:t>
            </a:r>
            <a:endParaRPr>
              <a:solidFill>
                <a:schemeClr val="dk1"/>
              </a:solidFill>
            </a:endParaRPr>
          </a:p>
        </p:txBody>
      </p:sp>
      <p:sp>
        <p:nvSpPr>
          <p:cNvPr id="160" name="Google Shape;160;p9"/>
          <p:cNvSpPr txBox="1"/>
          <p:nvPr/>
        </p:nvSpPr>
        <p:spPr>
          <a:xfrm>
            <a:off x="311700" y="1446900"/>
            <a:ext cx="682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61" name="Google Shape;161;p9"/>
          <p:cNvSpPr txBox="1"/>
          <p:nvPr/>
        </p:nvSpPr>
        <p:spPr>
          <a:xfrm>
            <a:off x="311700" y="1513730"/>
            <a:ext cx="4497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Arial"/>
                <a:ea typeface="Arial"/>
                <a:cs typeface="Arial"/>
                <a:sym typeface="Arial"/>
              </a:rPr>
              <a:t>(b)  Launching Cost from Apex to Moon</a:t>
            </a:r>
            <a:endParaRPr b="1" i="0" sz="1400" u="none" cap="none" strike="noStrike">
              <a:solidFill>
                <a:schemeClr val="dk2"/>
              </a:solidFill>
              <a:latin typeface="Arial"/>
              <a:ea typeface="Arial"/>
              <a:cs typeface="Arial"/>
              <a:sym typeface="Arial"/>
            </a:endParaRPr>
          </a:p>
        </p:txBody>
      </p:sp>
      <p:sp>
        <p:nvSpPr>
          <p:cNvPr id="162" name="Google Shape;162;p9"/>
          <p:cNvSpPr txBox="1"/>
          <p:nvPr/>
        </p:nvSpPr>
        <p:spPr>
          <a:xfrm>
            <a:off x="465175" y="1913925"/>
            <a:ext cx="6332100" cy="830966"/>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Apply the           :</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For 10^8 Mt, the total cost is $210 trillion.</a:t>
            </a:r>
            <a:endParaRPr b="0" i="0" sz="1400" u="none" cap="none" strike="noStrike">
              <a:solidFill>
                <a:schemeClr val="dk2"/>
              </a:solidFill>
              <a:latin typeface="Arial"/>
              <a:ea typeface="Arial"/>
              <a:cs typeface="Arial"/>
              <a:sym typeface="Arial"/>
            </a:endParaRPr>
          </a:p>
        </p:txBody>
      </p:sp>
      <p:pic>
        <p:nvPicPr>
          <p:cNvPr id="163" name="Google Shape;163;p9" title="rocket.png"/>
          <p:cNvPicPr preferRelativeResize="0"/>
          <p:nvPr/>
        </p:nvPicPr>
        <p:blipFill rotWithShape="1">
          <a:blip r:embed="rId3">
            <a:alphaModFix/>
          </a:blip>
          <a:srcRect b="0" l="0" r="0" t="0"/>
          <a:stretch/>
        </p:blipFill>
        <p:spPr>
          <a:xfrm>
            <a:off x="6092293" y="428300"/>
            <a:ext cx="2964723" cy="2050847"/>
          </a:xfrm>
          <a:prstGeom prst="rect">
            <a:avLst/>
          </a:prstGeom>
          <a:noFill/>
          <a:ln>
            <a:noFill/>
          </a:ln>
        </p:spPr>
      </p:pic>
      <p:pic>
        <p:nvPicPr>
          <p:cNvPr id="164" name="Google Shape;164;p9"/>
          <p:cNvPicPr preferRelativeResize="0"/>
          <p:nvPr/>
        </p:nvPicPr>
        <p:blipFill rotWithShape="1">
          <a:blip r:embed="rId4">
            <a:alphaModFix/>
          </a:blip>
          <a:srcRect b="0" l="3024" r="0" t="0"/>
          <a:stretch/>
        </p:blipFill>
        <p:spPr>
          <a:xfrm>
            <a:off x="2409826" y="1968708"/>
            <a:ext cx="4581547" cy="328614"/>
          </a:xfrm>
          <a:prstGeom prst="rect">
            <a:avLst/>
          </a:prstGeom>
          <a:noFill/>
          <a:ln>
            <a:noFill/>
          </a:ln>
        </p:spPr>
      </p:pic>
      <p:pic>
        <p:nvPicPr>
          <p:cNvPr id="165" name="Google Shape;165;p9"/>
          <p:cNvPicPr preferRelativeResize="0"/>
          <p:nvPr/>
        </p:nvPicPr>
        <p:blipFill rotWithShape="1">
          <a:blip r:embed="rId4">
            <a:alphaModFix/>
          </a:blip>
          <a:srcRect b="-1367" l="60336" r="29482" t="1368"/>
          <a:stretch/>
        </p:blipFill>
        <p:spPr>
          <a:xfrm>
            <a:off x="1809751" y="1968709"/>
            <a:ext cx="481013" cy="328615"/>
          </a:xfrm>
          <a:prstGeom prst="rect">
            <a:avLst/>
          </a:prstGeom>
          <a:noFill/>
          <a:ln>
            <a:noFill/>
          </a:ln>
        </p:spPr>
      </p:pic>
      <p:sp>
        <p:nvSpPr>
          <p:cNvPr id="166" name="Google Shape;166;p9"/>
          <p:cNvSpPr txBox="1"/>
          <p:nvPr/>
        </p:nvSpPr>
        <p:spPr>
          <a:xfrm>
            <a:off x="431837" y="2866499"/>
            <a:ext cx="6332100" cy="400079"/>
          </a:xfrm>
          <a:prstGeom prst="rect">
            <a:avLst/>
          </a:prstGeom>
          <a:noFill/>
          <a:ln>
            <a:noFill/>
          </a:ln>
        </p:spPr>
        <p:txBody>
          <a:bodyPr anchorCtr="0" anchor="t" bIns="91425" lIns="91425" spcFirstLastPara="1" rIns="91425" wrap="square" tIns="91425">
            <a:spAutoFit/>
          </a:bodyPr>
          <a:lstStyle/>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Cost of part (a) and (b) together: </a:t>
            </a:r>
            <a:r>
              <a:rPr b="1" i="0" lang="en" sz="1400" u="none" cap="none" strike="noStrike">
                <a:solidFill>
                  <a:schemeClr val="dk2"/>
                </a:solidFill>
                <a:latin typeface="Arial"/>
                <a:ea typeface="Arial"/>
                <a:cs typeface="Arial"/>
                <a:sym typeface="Arial"/>
              </a:rPr>
              <a:t>$210.188 trillion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72" name="Google Shape;172;p10"/>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Scenario C. Hybrid</a:t>
            </a:r>
            <a:endParaRPr>
              <a:solidFill>
                <a:schemeClr val="dk1"/>
              </a:solidFill>
            </a:endParaRPr>
          </a:p>
        </p:txBody>
      </p:sp>
      <p:sp>
        <p:nvSpPr>
          <p:cNvPr id="173" name="Google Shape;173;p10"/>
          <p:cNvSpPr txBox="1"/>
          <p:nvPr/>
        </p:nvSpPr>
        <p:spPr>
          <a:xfrm>
            <a:off x="311700" y="1446900"/>
            <a:ext cx="79962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Impossible to determine scheduling in a century-long project, we divide into 2 parts: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AutoNum type="arabicPeriod"/>
            </a:pPr>
            <a:r>
              <a:rPr b="0" i="0" lang="en" sz="1600" u="none" cap="none" strike="noStrike">
                <a:solidFill>
                  <a:schemeClr val="dk2"/>
                </a:solidFill>
                <a:latin typeface="Arial"/>
                <a:ea typeface="Arial"/>
                <a:cs typeface="Arial"/>
                <a:sym typeface="Arial"/>
              </a:rPr>
              <a:t>Treat volumes and launch capacities as continuous variables. Solve a LP for each candidate completion time T, and minimize cost while meeting the delivery goal. This traces the Pareto-optimal time-cost curve.</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AutoNum type="arabicPeriod"/>
            </a:pPr>
            <a:r>
              <a:rPr b="0" i="0" lang="en" sz="1600" u="none" cap="none" strike="noStrike">
                <a:solidFill>
                  <a:schemeClr val="dk2"/>
                </a:solidFill>
                <a:latin typeface="Arial"/>
                <a:ea typeface="Arial"/>
                <a:cs typeface="Arial"/>
                <a:sym typeface="Arial"/>
              </a:rPr>
              <a:t>With a monthly goal, consider each day the binary choice to launch a rocket and to use how many climbers.</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79" name="Google Shape;179;p11"/>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Scenario C. Hybrid</a:t>
            </a:r>
            <a:endParaRPr>
              <a:solidFill>
                <a:schemeClr val="dk1"/>
              </a:solidFill>
            </a:endParaRPr>
          </a:p>
        </p:txBody>
      </p:sp>
      <p:pic>
        <p:nvPicPr>
          <p:cNvPr id="180" name="Google Shape;180;p11" title="Screenshot 2026-02-11 at 12.57.37 AM.png"/>
          <p:cNvPicPr preferRelativeResize="0"/>
          <p:nvPr/>
        </p:nvPicPr>
        <p:blipFill rotWithShape="1">
          <a:blip r:embed="rId3">
            <a:alphaModFix/>
          </a:blip>
          <a:srcRect b="0" l="0" r="0" t="0"/>
          <a:stretch/>
        </p:blipFill>
        <p:spPr>
          <a:xfrm>
            <a:off x="853575" y="1643350"/>
            <a:ext cx="2506649" cy="694250"/>
          </a:xfrm>
          <a:prstGeom prst="rect">
            <a:avLst/>
          </a:prstGeom>
          <a:noFill/>
          <a:ln>
            <a:noFill/>
          </a:ln>
        </p:spPr>
      </p:pic>
      <p:sp>
        <p:nvSpPr>
          <p:cNvPr id="181" name="Google Shape;181;p11"/>
          <p:cNvSpPr txBox="1"/>
          <p:nvPr/>
        </p:nvSpPr>
        <p:spPr>
          <a:xfrm>
            <a:off x="311700" y="1668475"/>
            <a:ext cx="7996200" cy="1662300"/>
          </a:xfrm>
          <a:prstGeom prst="rect">
            <a:avLst/>
          </a:prstGeom>
          <a:noFill/>
          <a:ln>
            <a:noFill/>
          </a:ln>
        </p:spPr>
        <p:txBody>
          <a:bodyPr anchorCtr="0" anchor="t" bIns="91425" lIns="91425" spcFirstLastPara="1" rIns="91425" wrap="square" tIns="91425">
            <a:spAutoFit/>
          </a:bodyPr>
          <a:lstStyle/>
          <a:p>
            <a:pPr indent="-228600" lvl="0" marL="457200" marR="0" rtl="0" algn="l">
              <a:lnSpc>
                <a:spcPct val="10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228600" lvl="0" marL="457200" marR="0" rtl="0" algn="l">
              <a:lnSpc>
                <a:spcPct val="10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p:txBody>
      </p:sp>
      <p:pic>
        <p:nvPicPr>
          <p:cNvPr id="182" name="Google Shape;182;p11" title="Screenshot 2026-02-11 at 12.58.52 AM.png"/>
          <p:cNvPicPr preferRelativeResize="0"/>
          <p:nvPr/>
        </p:nvPicPr>
        <p:blipFill rotWithShape="1">
          <a:blip r:embed="rId4">
            <a:alphaModFix/>
          </a:blip>
          <a:srcRect b="0" l="0" r="0" t="0"/>
          <a:stretch/>
        </p:blipFill>
        <p:spPr>
          <a:xfrm>
            <a:off x="963750" y="3646400"/>
            <a:ext cx="1248375" cy="416125"/>
          </a:xfrm>
          <a:prstGeom prst="rect">
            <a:avLst/>
          </a:prstGeom>
          <a:noFill/>
          <a:ln>
            <a:noFill/>
          </a:ln>
        </p:spPr>
      </p:pic>
      <p:pic>
        <p:nvPicPr>
          <p:cNvPr id="183" name="Google Shape;183;p11" title="Screenshot 2026-02-11 at 12.59.19 AM.png"/>
          <p:cNvPicPr preferRelativeResize="0"/>
          <p:nvPr/>
        </p:nvPicPr>
        <p:blipFill rotWithShape="1">
          <a:blip r:embed="rId5">
            <a:alphaModFix/>
          </a:blip>
          <a:srcRect b="0" l="0" r="0" t="0"/>
          <a:stretch/>
        </p:blipFill>
        <p:spPr>
          <a:xfrm>
            <a:off x="2282550" y="2811812"/>
            <a:ext cx="3553600" cy="2085299"/>
          </a:xfrm>
          <a:prstGeom prst="rect">
            <a:avLst/>
          </a:prstGeom>
          <a:noFill/>
          <a:ln>
            <a:noFill/>
          </a:ln>
        </p:spPr>
      </p:pic>
      <p:sp>
        <p:nvSpPr>
          <p:cNvPr id="184" name="Google Shape;184;p11"/>
          <p:cNvSpPr txBox="1"/>
          <p:nvPr/>
        </p:nvSpPr>
        <p:spPr>
          <a:xfrm>
            <a:off x="5763525" y="2811825"/>
            <a:ext cx="3009600" cy="1169700"/>
          </a:xfrm>
          <a:prstGeom prst="rect">
            <a:avLst/>
          </a:prstGeom>
          <a:noFill/>
          <a:ln>
            <a:noFill/>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varies by site because there’s a geometric misalignment between launch site and Moon’s orbital plane </a:t>
            </a:r>
            <a:endParaRPr b="0" i="0" sz="1600" u="none" cap="none" strike="noStrike">
              <a:solidFill>
                <a:schemeClr val="dk2"/>
              </a:solidFill>
              <a:latin typeface="Arial"/>
              <a:ea typeface="Arial"/>
              <a:cs typeface="Arial"/>
              <a:sym typeface="Arial"/>
            </a:endParaRPr>
          </a:p>
        </p:txBody>
      </p:sp>
      <p:pic>
        <p:nvPicPr>
          <p:cNvPr id="185" name="Google Shape;185;p11" title="Screenshot 2026-02-11 at 1.03.13 AM.png"/>
          <p:cNvPicPr preferRelativeResize="0"/>
          <p:nvPr/>
        </p:nvPicPr>
        <p:blipFill rotWithShape="1">
          <a:blip r:embed="rId6">
            <a:alphaModFix/>
          </a:blip>
          <a:srcRect b="0" l="0" r="0" t="0"/>
          <a:stretch/>
        </p:blipFill>
        <p:spPr>
          <a:xfrm>
            <a:off x="5763525" y="2847884"/>
            <a:ext cx="460575" cy="348000"/>
          </a:xfrm>
          <a:prstGeom prst="rect">
            <a:avLst/>
          </a:prstGeom>
          <a:noFill/>
          <a:ln>
            <a:noFill/>
          </a:ln>
        </p:spPr>
      </p:pic>
      <p:pic>
        <p:nvPicPr>
          <p:cNvPr id="186" name="Google Shape;186;p11" title="Screenshot 2026-02-11 at 1.03.44 AM.png"/>
          <p:cNvPicPr preferRelativeResize="0"/>
          <p:nvPr/>
        </p:nvPicPr>
        <p:blipFill rotWithShape="1">
          <a:blip r:embed="rId7">
            <a:alphaModFix/>
          </a:blip>
          <a:srcRect b="0" l="0" r="0" t="0"/>
          <a:stretch/>
        </p:blipFill>
        <p:spPr>
          <a:xfrm>
            <a:off x="5450200" y="3981525"/>
            <a:ext cx="1718600" cy="295750"/>
          </a:xfrm>
          <a:prstGeom prst="rect">
            <a:avLst/>
          </a:prstGeom>
          <a:noFill/>
          <a:ln>
            <a:noFill/>
          </a:ln>
        </p:spPr>
      </p:pic>
      <p:pic>
        <p:nvPicPr>
          <p:cNvPr id="187" name="Google Shape;187;p11" title="Screenshot 2026-02-11 at 1.04.23 AM.png"/>
          <p:cNvPicPr preferRelativeResize="0"/>
          <p:nvPr/>
        </p:nvPicPr>
        <p:blipFill rotWithShape="1">
          <a:blip r:embed="rId8">
            <a:alphaModFix/>
          </a:blip>
          <a:srcRect b="0" l="0" r="0" t="0"/>
          <a:stretch/>
        </p:blipFill>
        <p:spPr>
          <a:xfrm>
            <a:off x="5450200" y="4277275"/>
            <a:ext cx="2524695" cy="295750"/>
          </a:xfrm>
          <a:prstGeom prst="rect">
            <a:avLst/>
          </a:prstGeom>
          <a:noFill/>
          <a:ln>
            <a:noFill/>
          </a:ln>
        </p:spPr>
      </p:pic>
      <p:pic>
        <p:nvPicPr>
          <p:cNvPr id="188" name="Google Shape;188;p11" title="Screenshot 2026-02-11 at 1.04.38 AM.png"/>
          <p:cNvPicPr preferRelativeResize="0"/>
          <p:nvPr/>
        </p:nvPicPr>
        <p:blipFill rotWithShape="1">
          <a:blip r:embed="rId9">
            <a:alphaModFix/>
          </a:blip>
          <a:srcRect b="0" l="0" r="0" t="0"/>
          <a:stretch/>
        </p:blipFill>
        <p:spPr>
          <a:xfrm>
            <a:off x="5448000" y="4601350"/>
            <a:ext cx="2529100" cy="295750"/>
          </a:xfrm>
          <a:prstGeom prst="rect">
            <a:avLst/>
          </a:prstGeom>
          <a:noFill/>
          <a:ln>
            <a:noFill/>
          </a:ln>
        </p:spPr>
      </p:pic>
      <p:pic>
        <p:nvPicPr>
          <p:cNvPr id="189" name="Google Shape;189;p11" title="Screenshot 2026-02-11 at 10.48.14 AM.png"/>
          <p:cNvPicPr preferRelativeResize="0"/>
          <p:nvPr/>
        </p:nvPicPr>
        <p:blipFill rotWithShape="1">
          <a:blip r:embed="rId10">
            <a:alphaModFix/>
          </a:blip>
          <a:srcRect b="0" l="0" r="0" t="0"/>
          <a:stretch/>
        </p:blipFill>
        <p:spPr>
          <a:xfrm>
            <a:off x="3360225" y="1405625"/>
            <a:ext cx="2979960" cy="1169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95" name="Google Shape;195;p12"/>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Scenario C. Hybrid</a:t>
            </a:r>
            <a:endParaRPr>
              <a:solidFill>
                <a:schemeClr val="dk1"/>
              </a:solidFill>
            </a:endParaRPr>
          </a:p>
        </p:txBody>
      </p:sp>
      <p:sp>
        <p:nvSpPr>
          <p:cNvPr id="196" name="Google Shape;196;p12"/>
          <p:cNvSpPr txBox="1"/>
          <p:nvPr/>
        </p:nvSpPr>
        <p:spPr>
          <a:xfrm>
            <a:off x="311700" y="1446900"/>
            <a:ext cx="799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OPTIMIZATION TRADEOFF BOB</a:t>
            </a:r>
            <a:endParaRPr b="0" i="0" sz="1600" u="none" cap="none" strike="noStrike">
              <a:solidFill>
                <a:schemeClr val="dk2"/>
              </a:solidFill>
              <a:latin typeface="Arial"/>
              <a:ea typeface="Arial"/>
              <a:cs typeface="Arial"/>
              <a:sym typeface="Arial"/>
            </a:endParaRPr>
          </a:p>
        </p:txBody>
      </p:sp>
      <p:pic>
        <p:nvPicPr>
          <p:cNvPr id="197" name="Google Shape;197;p12" title="stage1_pareto_frontier_fancy_compact.png"/>
          <p:cNvPicPr preferRelativeResize="0"/>
          <p:nvPr/>
        </p:nvPicPr>
        <p:blipFill rotWithShape="1">
          <a:blip r:embed="rId3">
            <a:alphaModFix/>
          </a:blip>
          <a:srcRect b="0" l="0" r="0" t="0"/>
          <a:stretch/>
        </p:blipFill>
        <p:spPr>
          <a:xfrm>
            <a:off x="5771050" y="307825"/>
            <a:ext cx="2995174" cy="22639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203" name="Google Shape;203;p13"/>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Results</a:t>
            </a:r>
            <a:endParaRPr>
              <a:solidFill>
                <a:schemeClr val="dk1"/>
              </a:solidFill>
            </a:endParaRPr>
          </a:p>
        </p:txBody>
      </p:sp>
      <p:pic>
        <p:nvPicPr>
          <p:cNvPr id="204" name="Google Shape;204;p13" title="rocket-activity-1c.png"/>
          <p:cNvPicPr preferRelativeResize="0"/>
          <p:nvPr/>
        </p:nvPicPr>
        <p:blipFill rotWithShape="1">
          <a:blip r:embed="rId3">
            <a:alphaModFix/>
          </a:blip>
          <a:srcRect b="0" l="0" r="0" t="0"/>
          <a:stretch/>
        </p:blipFill>
        <p:spPr>
          <a:xfrm>
            <a:off x="5151100" y="588200"/>
            <a:ext cx="3597525" cy="1906275"/>
          </a:xfrm>
          <a:prstGeom prst="rect">
            <a:avLst/>
          </a:prstGeom>
          <a:noFill/>
          <a:ln>
            <a:noFill/>
          </a:ln>
        </p:spPr>
      </p:pic>
      <p:pic>
        <p:nvPicPr>
          <p:cNvPr id="205" name="Google Shape;205;p13" title="climber-activity-1c.png"/>
          <p:cNvPicPr preferRelativeResize="0"/>
          <p:nvPr/>
        </p:nvPicPr>
        <p:blipFill rotWithShape="1">
          <a:blip r:embed="rId4">
            <a:alphaModFix/>
          </a:blip>
          <a:srcRect b="0" l="0" r="0" t="0"/>
          <a:stretch/>
        </p:blipFill>
        <p:spPr>
          <a:xfrm>
            <a:off x="5151100" y="2827050"/>
            <a:ext cx="3597525" cy="1783656"/>
          </a:xfrm>
          <a:prstGeom prst="rect">
            <a:avLst/>
          </a:prstGeom>
          <a:noFill/>
          <a:ln>
            <a:noFill/>
          </a:ln>
        </p:spPr>
      </p:pic>
      <p:pic>
        <p:nvPicPr>
          <p:cNvPr id="206" name="Google Shape;206;p13" title="Screenshot 2026-02-11 at 1.09.29 AM.png"/>
          <p:cNvPicPr preferRelativeResize="0"/>
          <p:nvPr/>
        </p:nvPicPr>
        <p:blipFill rotWithShape="1">
          <a:blip r:embed="rId5">
            <a:alphaModFix/>
          </a:blip>
          <a:srcRect b="0" l="0" r="0" t="0"/>
          <a:stretch/>
        </p:blipFill>
        <p:spPr>
          <a:xfrm>
            <a:off x="311700" y="1974551"/>
            <a:ext cx="4842475" cy="1517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Stochastic Disruptions</a:t>
            </a:r>
            <a:endParaRPr/>
          </a:p>
        </p:txBody>
      </p:sp>
      <p:sp>
        <p:nvSpPr>
          <p:cNvPr id="212" name="Google Shape;212;p14"/>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Tether Swaying</a:t>
            </a:r>
            <a:endParaRPr>
              <a:solidFill>
                <a:schemeClr val="dk1"/>
              </a:solidFill>
            </a:endParaRPr>
          </a:p>
        </p:txBody>
      </p:sp>
      <p:pic>
        <p:nvPicPr>
          <p:cNvPr descr="黑色的钟表&#10;&#10;AI 生成的内容可能不正确。" id="213" name="Google Shape;213;p14"/>
          <p:cNvPicPr preferRelativeResize="0"/>
          <p:nvPr/>
        </p:nvPicPr>
        <p:blipFill rotWithShape="1">
          <a:blip r:embed="rId3">
            <a:alphaModFix/>
          </a:blip>
          <a:srcRect b="0" l="0" r="0" t="0"/>
          <a:stretch/>
        </p:blipFill>
        <p:spPr>
          <a:xfrm>
            <a:off x="833430" y="2190747"/>
            <a:ext cx="1924064" cy="381003"/>
          </a:xfrm>
          <a:prstGeom prst="rect">
            <a:avLst/>
          </a:prstGeom>
          <a:noFill/>
          <a:ln>
            <a:noFill/>
          </a:ln>
        </p:spPr>
      </p:pic>
      <p:sp>
        <p:nvSpPr>
          <p:cNvPr id="214" name="Google Shape;214;p14"/>
          <p:cNvSpPr txBox="1"/>
          <p:nvPr/>
        </p:nvSpPr>
        <p:spPr>
          <a:xfrm>
            <a:off x="464100" y="1419055"/>
            <a:ext cx="8225100" cy="2770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Induced by Coriolis forces on the ascending climbers</a:t>
            </a:r>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Modeled with undamped harmonic </a:t>
            </a:r>
            <a:r>
              <a:rPr lang="en">
                <a:solidFill>
                  <a:schemeClr val="dk2"/>
                </a:solidFill>
              </a:rPr>
              <a:t>oscillation</a:t>
            </a:r>
            <a:r>
              <a:rPr b="0" i="0" lang="en" sz="1400" u="none" cap="none" strike="noStrike">
                <a:solidFill>
                  <a:schemeClr val="dk2"/>
                </a:solidFill>
                <a:latin typeface="Arial"/>
                <a:ea typeface="Arial"/>
                <a:cs typeface="Arial"/>
                <a:sym typeface="Arial"/>
              </a:rPr>
              <a:t> by Cohen &amp; Misra paper</a:t>
            </a:r>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Residual oscillation </a:t>
            </a:r>
            <a:r>
              <a:rPr lang="en">
                <a:solidFill>
                  <a:schemeClr val="dk2"/>
                </a:solidFill>
              </a:rPr>
              <a:t>angular</a:t>
            </a:r>
            <a:r>
              <a:rPr b="0" i="0" lang="en" sz="1400" u="none" cap="none" strike="noStrike">
                <a:solidFill>
                  <a:schemeClr val="dk2"/>
                </a:solidFill>
                <a:latin typeface="Arial"/>
                <a:ea typeface="Arial"/>
                <a:cs typeface="Arial"/>
                <a:sym typeface="Arial"/>
              </a:rPr>
              <a:t> amplitude after one climber arrives at Apex Anchor:</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We assume that our space elevator tether uses carbon nanotube, same as Cohen &amp; Misra, with natural oscillation period of 5 days → α ~ 1mRad.</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For tether to return to vertical equilibrium after a sequence of p climbers arrives, the climbers must be separated by an interval of</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p:txBody>
      </p:sp>
      <p:pic>
        <p:nvPicPr>
          <p:cNvPr descr="图片包含 文本&#10;&#10;AI 生成的内容可能不正确。" id="215" name="Google Shape;215;p14"/>
          <p:cNvPicPr preferRelativeResize="0"/>
          <p:nvPr/>
        </p:nvPicPr>
        <p:blipFill rotWithShape="1">
          <a:blip r:embed="rId4">
            <a:alphaModFix/>
          </a:blip>
          <a:srcRect b="0" l="0" r="0" t="0"/>
          <a:stretch/>
        </p:blipFill>
        <p:spPr>
          <a:xfrm>
            <a:off x="1012027" y="3796275"/>
            <a:ext cx="1970467" cy="392739"/>
          </a:xfrm>
          <a:prstGeom prst="rect">
            <a:avLst/>
          </a:prstGeom>
          <a:noFill/>
          <a:ln>
            <a:noFill/>
          </a:ln>
        </p:spPr>
      </p:pic>
      <p:sp>
        <p:nvSpPr>
          <p:cNvPr id="216" name="Google Shape;216;p14"/>
          <p:cNvSpPr txBox="1"/>
          <p:nvPr/>
        </p:nvSpPr>
        <p:spPr>
          <a:xfrm>
            <a:off x="3134893" y="3731034"/>
            <a:ext cx="525663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where i is index of individual climbers, n is number of oscillatory cycles to wait for, n = 0, 1, 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Stochastic Disruptions</a:t>
            </a:r>
            <a:endParaRPr/>
          </a:p>
        </p:txBody>
      </p:sp>
      <p:sp>
        <p:nvSpPr>
          <p:cNvPr id="222" name="Google Shape;222;p15"/>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Tether Swaying</a:t>
            </a:r>
            <a:endParaRPr>
              <a:solidFill>
                <a:schemeClr val="dk1"/>
              </a:solidFill>
            </a:endParaRPr>
          </a:p>
        </p:txBody>
      </p:sp>
      <p:pic>
        <p:nvPicPr>
          <p:cNvPr id="223" name="Google Shape;223;p15" title="libration-cancellation.png"/>
          <p:cNvPicPr preferRelativeResize="0"/>
          <p:nvPr/>
        </p:nvPicPr>
        <p:blipFill rotWithShape="1">
          <a:blip r:embed="rId3">
            <a:alphaModFix/>
          </a:blip>
          <a:srcRect b="0" l="0" r="0" t="0"/>
          <a:stretch/>
        </p:blipFill>
        <p:spPr>
          <a:xfrm>
            <a:off x="567787" y="1433263"/>
            <a:ext cx="5650279" cy="3367338"/>
          </a:xfrm>
          <a:prstGeom prst="rect">
            <a:avLst/>
          </a:prstGeom>
          <a:noFill/>
          <a:ln>
            <a:noFill/>
          </a:ln>
        </p:spPr>
      </p:pic>
      <p:sp>
        <p:nvSpPr>
          <p:cNvPr id="224" name="Google Shape;224;p15"/>
          <p:cNvSpPr txBox="1"/>
          <p:nvPr/>
        </p:nvSpPr>
        <p:spPr>
          <a:xfrm>
            <a:off x="6107663" y="4125775"/>
            <a:ext cx="2388638" cy="400079"/>
          </a:xfrm>
          <a:prstGeom prst="rect">
            <a:avLst/>
          </a:prstGeom>
          <a:noFill/>
          <a:ln>
            <a:noFill/>
          </a:ln>
        </p:spPr>
        <p:txBody>
          <a:bodyPr anchorCtr="0" anchor="t" bIns="91425" lIns="91425" spcFirstLastPara="1" rIns="91425" wrap="square" tIns="91425">
            <a:spAutoFit/>
          </a:bodyPr>
          <a:lstStyle/>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T = 5 days, n = 0, p = 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Stochastic Disruptions</a:t>
            </a:r>
            <a:endParaRPr/>
          </a:p>
        </p:txBody>
      </p:sp>
      <p:sp>
        <p:nvSpPr>
          <p:cNvPr id="230" name="Google Shape;230;p16"/>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Failures</a:t>
            </a:r>
            <a:endParaRPr>
              <a:solidFill>
                <a:schemeClr val="dk1"/>
              </a:solidFill>
            </a:endParaRPr>
          </a:p>
        </p:txBody>
      </p:sp>
      <p:sp>
        <p:nvSpPr>
          <p:cNvPr id="231" name="Google Shape;231;p16"/>
          <p:cNvSpPr txBox="1"/>
          <p:nvPr/>
        </p:nvSpPr>
        <p:spPr>
          <a:xfrm>
            <a:off x="311700" y="1446900"/>
            <a:ext cx="83403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We assume:</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Each rocket launch fails independently with probability p</a:t>
            </a:r>
            <a:r>
              <a:rPr b="0" baseline="-25000" i="0" lang="en" sz="1600" u="none" cap="none" strike="noStrike">
                <a:solidFill>
                  <a:schemeClr val="dk2"/>
                </a:solidFill>
                <a:latin typeface="Arial"/>
                <a:ea typeface="Arial"/>
                <a:cs typeface="Arial"/>
                <a:sym typeface="Arial"/>
              </a:rPr>
              <a:t>R</a:t>
            </a:r>
            <a:r>
              <a:rPr b="0" i="0" lang="en" sz="1600" u="none" cap="none" strike="noStrike">
                <a:solidFill>
                  <a:schemeClr val="dk2"/>
                </a:solidFill>
                <a:latin typeface="Arial"/>
                <a:ea typeface="Arial"/>
                <a:cs typeface="Arial"/>
                <a:sym typeface="Arial"/>
              </a:rPr>
              <a:t> = 2%. (2025-level). Failed launch has full cost but payload 0.</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Each elevator climber fails independently with probability pE = 0.0001% =</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10</a:t>
            </a:r>
            <a:r>
              <a:rPr b="0" baseline="30000" i="0" lang="en" sz="1600" u="none" cap="none" strike="noStrike">
                <a:solidFill>
                  <a:schemeClr val="dk2"/>
                </a:solidFill>
                <a:latin typeface="Arial"/>
                <a:ea typeface="Arial"/>
                <a:cs typeface="Arial"/>
                <a:sym typeface="Arial"/>
              </a:rPr>
              <a:t>−6</a:t>
            </a:r>
            <a:r>
              <a:rPr b="0" i="0" lang="en" sz="1600" u="none" cap="none" strike="noStrike">
                <a:solidFill>
                  <a:schemeClr val="dk2"/>
                </a:solidFill>
                <a:latin typeface="Arial"/>
                <a:ea typeface="Arial"/>
                <a:cs typeface="Arial"/>
                <a:sym typeface="Arial"/>
              </a:rPr>
              <a:t>. If a failure occurs, the elevator shuts down for 30 days, and a repair cost of $5 billion is incurred.</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The elevator requires a maintenance cost of $85 million per year.</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Stochastic Disruptions</a:t>
            </a:r>
            <a:endParaRPr/>
          </a:p>
        </p:txBody>
      </p:sp>
      <p:sp>
        <p:nvSpPr>
          <p:cNvPr id="237" name="Google Shape;237;p17"/>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Failures</a:t>
            </a:r>
            <a:endParaRPr>
              <a:solidFill>
                <a:schemeClr val="dk1"/>
              </a:solidFill>
            </a:endParaRPr>
          </a:p>
        </p:txBody>
      </p:sp>
      <p:sp>
        <p:nvSpPr>
          <p:cNvPr id="238" name="Google Shape;238;p17"/>
          <p:cNvSpPr txBox="1"/>
          <p:nvPr/>
        </p:nvSpPr>
        <p:spPr>
          <a:xfrm>
            <a:off x="311700" y="1446900"/>
            <a:ext cx="8340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BOB ANALYSIS!!!</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Stochastic Disruptions</a:t>
            </a:r>
            <a:endParaRPr/>
          </a:p>
        </p:txBody>
      </p:sp>
      <p:sp>
        <p:nvSpPr>
          <p:cNvPr id="244" name="Google Shape;244;p18"/>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Conclusions about simulations of failures</a:t>
            </a:r>
            <a:endParaRPr>
              <a:solidFill>
                <a:schemeClr val="dk1"/>
              </a:solidFill>
            </a:endParaRPr>
          </a:p>
        </p:txBody>
      </p:sp>
      <p:pic>
        <p:nvPicPr>
          <p:cNvPr id="245" name="Google Shape;245;p18" title="Screenshot 2026-02-11 at 10.59.17 AM.png"/>
          <p:cNvPicPr preferRelativeResize="0"/>
          <p:nvPr/>
        </p:nvPicPr>
        <p:blipFill rotWithShape="1">
          <a:blip r:embed="rId3">
            <a:alphaModFix/>
          </a:blip>
          <a:srcRect b="0" l="0" r="0" t="0"/>
          <a:stretch/>
        </p:blipFill>
        <p:spPr>
          <a:xfrm>
            <a:off x="587850" y="2003463"/>
            <a:ext cx="3573550" cy="1726825"/>
          </a:xfrm>
          <a:prstGeom prst="rect">
            <a:avLst/>
          </a:prstGeom>
          <a:noFill/>
          <a:ln>
            <a:noFill/>
          </a:ln>
        </p:spPr>
      </p:pic>
      <p:pic>
        <p:nvPicPr>
          <p:cNvPr id="246" name="Google Shape;246;p18" title="q2_schedule_risk_grouped.png"/>
          <p:cNvPicPr preferRelativeResize="0"/>
          <p:nvPr/>
        </p:nvPicPr>
        <p:blipFill rotWithShape="1">
          <a:blip r:embed="rId4">
            <a:alphaModFix/>
          </a:blip>
          <a:srcRect b="0" l="0" r="0" t="0"/>
          <a:stretch/>
        </p:blipFill>
        <p:spPr>
          <a:xfrm>
            <a:off x="4687975" y="117700"/>
            <a:ext cx="4358973" cy="2454051"/>
          </a:xfrm>
          <a:prstGeom prst="rect">
            <a:avLst/>
          </a:prstGeom>
          <a:noFill/>
          <a:ln>
            <a:noFill/>
          </a:ln>
        </p:spPr>
      </p:pic>
      <p:pic>
        <p:nvPicPr>
          <p:cNvPr id="247" name="Google Shape;247;p18" title="q2_cost_grouped.png"/>
          <p:cNvPicPr preferRelativeResize="0"/>
          <p:nvPr/>
        </p:nvPicPr>
        <p:blipFill rotWithShape="1">
          <a:blip r:embed="rId5">
            <a:alphaModFix/>
          </a:blip>
          <a:srcRect b="0" l="0" r="0" t="0"/>
          <a:stretch/>
        </p:blipFill>
        <p:spPr>
          <a:xfrm>
            <a:off x="4687975" y="2720000"/>
            <a:ext cx="4260152" cy="23401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Colony Water Sustainment Analysis</a:t>
            </a:r>
            <a:endParaRPr/>
          </a:p>
        </p:txBody>
      </p:sp>
      <p:sp>
        <p:nvSpPr>
          <p:cNvPr id="253" name="Google Shape;253;p19"/>
          <p:cNvSpPr txBox="1"/>
          <p:nvPr/>
        </p:nvSpPr>
        <p:spPr>
          <a:xfrm>
            <a:off x="311700" y="944149"/>
            <a:ext cx="8520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Water usage are mainly divided into </a:t>
            </a:r>
            <a:endParaRPr b="0" i="0" sz="1600" u="none" cap="none" strike="noStrike">
              <a:solidFill>
                <a:schemeClr val="dk2"/>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a) Residential Usage    b) Agricultural Usage     c) Industrial Usage</a:t>
            </a:r>
            <a:endParaRPr b="0" i="0" sz="1600" u="none" cap="none" strike="noStrike">
              <a:solidFill>
                <a:schemeClr val="dk2"/>
              </a:solidFill>
              <a:latin typeface="Arial"/>
              <a:ea typeface="Arial"/>
              <a:cs typeface="Arial"/>
              <a:sym typeface="Arial"/>
            </a:endParaRPr>
          </a:p>
        </p:txBody>
      </p:sp>
      <p:sp>
        <p:nvSpPr>
          <p:cNvPr id="254" name="Google Shape;254;p19"/>
          <p:cNvSpPr txBox="1"/>
          <p:nvPr/>
        </p:nvSpPr>
        <p:spPr>
          <a:xfrm>
            <a:off x="311700" y="1888075"/>
            <a:ext cx="8365575" cy="1661963"/>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On Earth, average per person per day is 221L[3]; on Moon, we expect it to be much smaller and recycling rate much higher.</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NASA concludes 4 astronauts use 41L of water per day, with water reuse rate of 98%[4, 5].</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pic>
        <p:nvPicPr>
          <p:cNvPr id="255" name="Google Shape;255;p19" title="Screenshot 2026-02-11 at 11.14.26 AM.png"/>
          <p:cNvPicPr preferRelativeResize="0"/>
          <p:nvPr/>
        </p:nvPicPr>
        <p:blipFill rotWithShape="1">
          <a:blip r:embed="rId3">
            <a:alphaModFix/>
          </a:blip>
          <a:srcRect b="0" l="0" r="0" t="0"/>
          <a:stretch/>
        </p:blipFill>
        <p:spPr>
          <a:xfrm>
            <a:off x="778902" y="2987101"/>
            <a:ext cx="4816706" cy="1661963"/>
          </a:xfrm>
          <a:prstGeom prst="rect">
            <a:avLst/>
          </a:prstGeom>
          <a:noFill/>
          <a:ln>
            <a:noFill/>
          </a:ln>
        </p:spPr>
      </p:pic>
      <p:sp>
        <p:nvSpPr>
          <p:cNvPr id="256" name="Google Shape;256;p19"/>
          <p:cNvSpPr txBox="1"/>
          <p:nvPr/>
        </p:nvSpPr>
        <p:spPr>
          <a:xfrm>
            <a:off x="311700" y="4583369"/>
            <a:ext cx="8520600" cy="923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Estimated residential water need per year is ~4.29 × 10</a:t>
            </a:r>
            <a:r>
              <a:rPr b="0" baseline="30000" i="0" lang="en" sz="1600" u="none" cap="none" strike="noStrike">
                <a:solidFill>
                  <a:schemeClr val="dk2"/>
                </a:solidFill>
                <a:latin typeface="Arial"/>
                <a:ea typeface="Arial"/>
                <a:cs typeface="Arial"/>
                <a:sym typeface="Arial"/>
              </a:rPr>
              <a:t>8</a:t>
            </a:r>
            <a:r>
              <a:rPr b="0" i="0" lang="en" sz="1600" u="none" cap="none" strike="noStrike">
                <a:solidFill>
                  <a:schemeClr val="dk2"/>
                </a:solidFill>
                <a:latin typeface="Arial"/>
                <a:ea typeface="Arial"/>
                <a:cs typeface="Arial"/>
                <a:sym typeface="Arial"/>
              </a:rPr>
              <a:t>L.</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57" name="Google Shape;257;p19"/>
          <p:cNvSpPr txBox="1"/>
          <p:nvPr>
            <p:ph idx="1" type="body"/>
          </p:nvPr>
        </p:nvSpPr>
        <p:spPr>
          <a:xfrm>
            <a:off x="311700" y="1583700"/>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Residential Water Need</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Colony Water Sustainment Analysis</a:t>
            </a:r>
            <a:endParaRPr/>
          </a:p>
        </p:txBody>
      </p:sp>
      <p:sp>
        <p:nvSpPr>
          <p:cNvPr id="263" name="Google Shape;263;p20"/>
          <p:cNvSpPr txBox="1"/>
          <p:nvPr/>
        </p:nvSpPr>
        <p:spPr>
          <a:xfrm>
            <a:off x="311700" y="1390442"/>
            <a:ext cx="8520600" cy="2893069"/>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Energy requirement per capita: 2200 kcal/day</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Assuming food energy density = 1.5 kcal/g, the required daily edible biomass per capita ~1.47kg/day, and 5.37 * 10</a:t>
            </a:r>
            <a:r>
              <a:rPr b="0" baseline="30000" i="0" lang="en" sz="1600" u="none" cap="none" strike="noStrike">
                <a:solidFill>
                  <a:schemeClr val="dk2"/>
                </a:solidFill>
                <a:latin typeface="Arial"/>
                <a:ea typeface="Arial"/>
                <a:cs typeface="Arial"/>
                <a:sym typeface="Arial"/>
              </a:rPr>
              <a:t>7</a:t>
            </a:r>
            <a:r>
              <a:rPr b="0" i="0" lang="en" sz="1600" u="none" cap="none" strike="noStrike">
                <a:solidFill>
                  <a:schemeClr val="dk2"/>
                </a:solidFill>
                <a:latin typeface="Arial"/>
                <a:ea typeface="Arial"/>
                <a:cs typeface="Arial"/>
                <a:sym typeface="Arial"/>
              </a:rPr>
              <a:t> kg/year for 100,000 people.</a:t>
            </a:r>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Assuming productivity of 20-40 g/m</a:t>
            </a:r>
            <a:r>
              <a:rPr b="0" baseline="30000" i="0" lang="en" sz="1600" u="none" cap="none" strike="noStrike">
                <a:solidFill>
                  <a:schemeClr val="dk2"/>
                </a:solidFill>
                <a:latin typeface="Arial"/>
                <a:ea typeface="Arial"/>
                <a:cs typeface="Arial"/>
                <a:sym typeface="Arial"/>
              </a:rPr>
              <a:t>2</a:t>
            </a:r>
            <a:r>
              <a:rPr b="0" i="0" lang="en" sz="1600" u="none" cap="none" strike="noStrike">
                <a:solidFill>
                  <a:schemeClr val="dk2"/>
                </a:solidFill>
                <a:latin typeface="Arial"/>
                <a:ea typeface="Arial"/>
                <a:cs typeface="Arial"/>
                <a:sym typeface="Arial"/>
              </a:rPr>
              <a:t>d, at least 5 km</a:t>
            </a:r>
            <a:r>
              <a:rPr b="0" baseline="30000" i="0" lang="en" sz="1600" u="none" cap="none" strike="noStrike">
                <a:solidFill>
                  <a:schemeClr val="dk2"/>
                </a:solidFill>
                <a:latin typeface="Arial"/>
                <a:ea typeface="Arial"/>
                <a:cs typeface="Arial"/>
                <a:sym typeface="Arial"/>
              </a:rPr>
              <a:t>2</a:t>
            </a:r>
            <a:r>
              <a:rPr b="0" i="0" lang="en" sz="1600" u="none" cap="none" strike="noStrike">
                <a:solidFill>
                  <a:schemeClr val="dk2"/>
                </a:solidFill>
                <a:latin typeface="Arial"/>
                <a:ea typeface="Arial"/>
                <a:cs typeface="Arial"/>
                <a:sym typeface="Arial"/>
              </a:rPr>
              <a:t> of cultivation area is required [8].</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Assumeing hydroponic systems reduces water use by 90% [7] and cooling coils captures evapotranspiration [8], we estimate a 2% loss of water due to metabolic bonding and leakages.</a:t>
            </a:r>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Scaled from NASA’s BPC experimental data [8], 1 L/m</a:t>
            </a:r>
            <a:r>
              <a:rPr b="0" baseline="30000" i="0" lang="en" sz="1600" u="none" cap="none" strike="noStrike">
                <a:solidFill>
                  <a:schemeClr val="dk2"/>
                </a:solidFill>
                <a:latin typeface="Arial"/>
                <a:ea typeface="Arial"/>
                <a:cs typeface="Arial"/>
                <a:sym typeface="Arial"/>
              </a:rPr>
              <a:t>2</a:t>
            </a:r>
            <a:r>
              <a:rPr b="0" i="0" lang="en" sz="1600" u="none" cap="none" strike="noStrike">
                <a:solidFill>
                  <a:schemeClr val="dk2"/>
                </a:solidFill>
                <a:latin typeface="Arial"/>
                <a:ea typeface="Arial"/>
                <a:cs typeface="Arial"/>
                <a:sym typeface="Arial"/>
              </a:rPr>
              <a:t>/day</a:t>
            </a:r>
            <a:r>
              <a:rPr b="0" baseline="30000" i="0" lang="en" sz="1600" u="none" cap="none" strike="noStrike">
                <a:solidFill>
                  <a:schemeClr val="dk2"/>
                </a:solidFill>
                <a:latin typeface="Arial"/>
                <a:ea typeface="Arial"/>
                <a:cs typeface="Arial"/>
                <a:sym typeface="Arial"/>
              </a:rPr>
              <a:t> </a:t>
            </a:r>
            <a:r>
              <a:rPr b="0" i="0" lang="en" sz="1600" u="none" cap="none" strike="noStrike">
                <a:solidFill>
                  <a:schemeClr val="dk2"/>
                </a:solidFill>
                <a:latin typeface="Arial"/>
                <a:ea typeface="Arial"/>
                <a:cs typeface="Arial"/>
                <a:sym typeface="Arial"/>
              </a:rPr>
              <a:t>is needed across 5 km</a:t>
            </a:r>
            <a:r>
              <a:rPr b="0" baseline="30000" i="0" lang="en" sz="1600" u="none" cap="none" strike="noStrike">
                <a:solidFill>
                  <a:schemeClr val="dk2"/>
                </a:solidFill>
                <a:latin typeface="Arial"/>
                <a:ea typeface="Arial"/>
                <a:cs typeface="Arial"/>
                <a:sym typeface="Arial"/>
              </a:rPr>
              <a:t>2</a:t>
            </a:r>
            <a:r>
              <a:rPr b="0" i="0" lang="en" sz="1600" u="none" cap="none" strike="noStrike">
                <a:solidFill>
                  <a:schemeClr val="dk2"/>
                </a:solidFill>
                <a:latin typeface="Arial"/>
                <a:ea typeface="Arial"/>
                <a:cs typeface="Arial"/>
                <a:sym typeface="Arial"/>
              </a:rPr>
              <a:t>. Total water use: 5*10</a:t>
            </a:r>
            <a:r>
              <a:rPr b="0" baseline="30000" i="0" lang="en" sz="1600" u="none" cap="none" strike="noStrike">
                <a:solidFill>
                  <a:schemeClr val="dk2"/>
                </a:solidFill>
                <a:latin typeface="Arial"/>
                <a:ea typeface="Arial"/>
                <a:cs typeface="Arial"/>
                <a:sym typeface="Arial"/>
              </a:rPr>
              <a:t>6</a:t>
            </a:r>
            <a:r>
              <a:rPr b="0" i="0" lang="en" sz="1600" u="none" cap="none" strike="noStrike">
                <a:solidFill>
                  <a:schemeClr val="dk2"/>
                </a:solidFill>
                <a:latin typeface="Arial"/>
                <a:ea typeface="Arial"/>
                <a:cs typeface="Arial"/>
                <a:sym typeface="Arial"/>
              </a:rPr>
              <a:t> L/day.</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2% unrecoverable loss → </a:t>
            </a:r>
            <a:r>
              <a:rPr b="1" i="0" lang="en" sz="1600" u="none" cap="none" strike="noStrike">
                <a:solidFill>
                  <a:schemeClr val="dk2"/>
                </a:solidFill>
                <a:latin typeface="Arial"/>
                <a:ea typeface="Arial"/>
                <a:cs typeface="Arial"/>
                <a:sym typeface="Arial"/>
              </a:rPr>
              <a:t>3.65 × 10</a:t>
            </a:r>
            <a:r>
              <a:rPr b="1" baseline="30000" i="0" lang="en" sz="1600" u="none" cap="none" strike="noStrike">
                <a:solidFill>
                  <a:schemeClr val="dk2"/>
                </a:solidFill>
                <a:latin typeface="Arial"/>
                <a:ea typeface="Arial"/>
                <a:cs typeface="Arial"/>
                <a:sym typeface="Arial"/>
              </a:rPr>
              <a:t>7</a:t>
            </a:r>
            <a:r>
              <a:rPr b="1" i="0" lang="en" sz="1600" u="none" cap="none" strike="noStrike">
                <a:solidFill>
                  <a:schemeClr val="dk2"/>
                </a:solidFill>
                <a:latin typeface="Arial"/>
                <a:ea typeface="Arial"/>
                <a:cs typeface="Arial"/>
                <a:sym typeface="Arial"/>
              </a:rPr>
              <a:t> L</a:t>
            </a:r>
            <a:r>
              <a:rPr b="0" i="0" lang="en" sz="1600" u="none" cap="none" strike="noStrike">
                <a:solidFill>
                  <a:schemeClr val="dk2"/>
                </a:solidFill>
                <a:latin typeface="Arial"/>
                <a:ea typeface="Arial"/>
                <a:cs typeface="Arial"/>
                <a:sym typeface="Arial"/>
              </a:rPr>
              <a:t> of water supplement annually.</a:t>
            </a:r>
            <a:endParaRPr/>
          </a:p>
          <a:p>
            <a:pPr indent="-228600" lvl="0" marL="457200" marR="0" rtl="0" algn="l">
              <a:lnSpc>
                <a:spcPct val="10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64" name="Google Shape;264;p20"/>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Agricultural Water Need</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Colony Water Sustainment Analysis</a:t>
            </a:r>
            <a:endParaRPr/>
          </a:p>
        </p:txBody>
      </p:sp>
      <p:sp>
        <p:nvSpPr>
          <p:cNvPr id="270" name="Google Shape;270;p21"/>
          <p:cNvSpPr txBox="1"/>
          <p:nvPr/>
        </p:nvSpPr>
        <p:spPr>
          <a:xfrm>
            <a:off x="311700" y="1390442"/>
            <a:ext cx="85206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We separate into four categories: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Infrastructure: technical needs like cooling, dust mitigation, and chemical processing.</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Life support system: primarily accounts for the system losses and draws in recycling.</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Atmosphere management: humidity control and air composition adjustment needs.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Safety reserves: a safety buffer of potable and fire-suppression water.</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71" name="Google Shape;271;p21"/>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Industrial Water Need</a:t>
            </a:r>
            <a:endParaRPr>
              <a:solidFill>
                <a:schemeClr val="dk1"/>
              </a:solidFill>
            </a:endParaRPr>
          </a:p>
        </p:txBody>
      </p:sp>
      <p:sp>
        <p:nvSpPr>
          <p:cNvPr id="272" name="Google Shape;272;p21"/>
          <p:cNvSpPr txBox="1"/>
          <p:nvPr/>
        </p:nvSpPr>
        <p:spPr>
          <a:xfrm>
            <a:off x="340975" y="2812850"/>
            <a:ext cx="3719100" cy="212362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We also consider the possibility of lunar mining.</a:t>
            </a:r>
            <a:endParaRPr b="0" i="0" sz="14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400" u="none" cap="none" strike="noStrike">
                <a:solidFill>
                  <a:schemeClr val="dk2"/>
                </a:solidFill>
                <a:latin typeface="Arial"/>
                <a:ea typeface="Arial"/>
                <a:cs typeface="Arial"/>
                <a:sym typeface="Arial"/>
              </a:rPr>
              <a:t>Moon is rich on ilmenite (FeTiO</a:t>
            </a:r>
            <a:r>
              <a:rPr b="0" baseline="-25000" i="0" lang="en" sz="1400" u="none" cap="none" strike="noStrike">
                <a:solidFill>
                  <a:schemeClr val="dk2"/>
                </a:solidFill>
                <a:latin typeface="Arial"/>
                <a:ea typeface="Arial"/>
                <a:cs typeface="Arial"/>
                <a:sym typeface="Arial"/>
              </a:rPr>
              <a:t>3</a:t>
            </a:r>
            <a:r>
              <a:rPr b="0" i="0" lang="en" sz="1400" u="none" cap="none" strike="noStrike">
                <a:solidFill>
                  <a:schemeClr val="dk2"/>
                </a:solidFill>
                <a:latin typeface="Arial"/>
                <a:ea typeface="Arial"/>
                <a:cs typeface="Arial"/>
                <a:sym typeface="Arial"/>
              </a:rPr>
              <a:t>): 31.6% titanium, 36.8% iron and oxygen [9], and has O</a:t>
            </a:r>
            <a:r>
              <a:rPr b="0" baseline="-25000" i="0" lang="en" sz="1400" u="none" cap="none" strike="noStrike">
                <a:solidFill>
                  <a:schemeClr val="dk2"/>
                </a:solidFill>
                <a:latin typeface="Arial"/>
                <a:ea typeface="Arial"/>
                <a:cs typeface="Arial"/>
                <a:sym typeface="Arial"/>
              </a:rPr>
              <a:t>2</a:t>
            </a:r>
            <a:r>
              <a:rPr b="0" i="0" lang="en" sz="1400" u="none" cap="none" strike="noStrike">
                <a:solidFill>
                  <a:schemeClr val="dk2"/>
                </a:solidFill>
                <a:latin typeface="Arial"/>
                <a:ea typeface="Arial"/>
                <a:cs typeface="Arial"/>
                <a:sym typeface="Arial"/>
              </a:rPr>
              <a:t> as a byproduct [10]. This relies on efficient reagent recovery (Cl</a:t>
            </a:r>
            <a:r>
              <a:rPr b="0" baseline="-25000" i="0" lang="en" sz="1400" u="none" cap="none" strike="noStrike">
                <a:solidFill>
                  <a:schemeClr val="dk2"/>
                </a:solidFill>
                <a:latin typeface="Arial"/>
                <a:ea typeface="Arial"/>
                <a:cs typeface="Arial"/>
                <a:sym typeface="Arial"/>
              </a:rPr>
              <a:t>2</a:t>
            </a:r>
            <a:r>
              <a:rPr b="0" i="0" lang="en" sz="1400" u="none" cap="none" strike="noStrike">
                <a:solidFill>
                  <a:schemeClr val="dk2"/>
                </a:solidFill>
                <a:latin typeface="Arial"/>
                <a:ea typeface="Arial"/>
                <a:cs typeface="Arial"/>
                <a:sym typeface="Arial"/>
              </a:rPr>
              <a:t>, H</a:t>
            </a:r>
            <a:r>
              <a:rPr b="0" baseline="-25000" i="0" lang="en" sz="1400" u="none" cap="none" strike="noStrike">
                <a:solidFill>
                  <a:schemeClr val="dk2"/>
                </a:solidFill>
                <a:latin typeface="Arial"/>
                <a:ea typeface="Arial"/>
                <a:cs typeface="Arial"/>
                <a:sym typeface="Arial"/>
              </a:rPr>
              <a:t>2</a:t>
            </a:r>
            <a:r>
              <a:rPr b="0" i="0" lang="en" sz="1400" u="none" cap="none" strike="noStrike">
                <a:solidFill>
                  <a:schemeClr val="dk2"/>
                </a:solidFill>
                <a:latin typeface="Arial"/>
                <a:ea typeface="Arial"/>
                <a:cs typeface="Arial"/>
                <a:sym typeface="Arial"/>
              </a:rPr>
              <a:t>, Ca, C) [10]</a:t>
            </a:r>
            <a:endParaRPr b="0" i="0" sz="14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400" u="none" cap="none" strike="noStrike">
                <a:solidFill>
                  <a:schemeClr val="dk2"/>
                </a:solidFill>
                <a:latin typeface="Arial"/>
                <a:ea typeface="Arial"/>
                <a:cs typeface="Arial"/>
                <a:sym typeface="Arial"/>
              </a:rPr>
              <a:t>This is much more economic than transporting from Earth. </a:t>
            </a:r>
            <a:endParaRPr b="0" i="0" sz="1400" u="none" cap="none" strike="noStrike">
              <a:solidFill>
                <a:schemeClr val="dk2"/>
              </a:solidFill>
              <a:latin typeface="Arial"/>
              <a:ea typeface="Arial"/>
              <a:cs typeface="Arial"/>
              <a:sym typeface="Arial"/>
            </a:endParaRPr>
          </a:p>
        </p:txBody>
      </p:sp>
      <p:pic>
        <p:nvPicPr>
          <p:cNvPr id="273" name="Google Shape;273;p21" title="Screenshot 2026-02-11 at 11.36.35 AM.png"/>
          <p:cNvPicPr preferRelativeResize="0"/>
          <p:nvPr/>
        </p:nvPicPr>
        <p:blipFill rotWithShape="1">
          <a:blip r:embed="rId3">
            <a:alphaModFix/>
          </a:blip>
          <a:srcRect b="0" l="0" r="0" t="0"/>
          <a:stretch/>
        </p:blipFill>
        <p:spPr>
          <a:xfrm>
            <a:off x="4089350" y="3079301"/>
            <a:ext cx="4772225" cy="1590725"/>
          </a:xfrm>
          <a:prstGeom prst="rect">
            <a:avLst/>
          </a:prstGeom>
          <a:noFill/>
          <a:ln>
            <a:noFill/>
          </a:ln>
        </p:spPr>
      </p:pic>
      <p:sp>
        <p:nvSpPr>
          <p:cNvPr id="274" name="Google Shape;274;p21"/>
          <p:cNvSpPr txBox="1"/>
          <p:nvPr/>
        </p:nvSpPr>
        <p:spPr>
          <a:xfrm>
            <a:off x="4089350" y="4670026"/>
            <a:ext cx="4572000" cy="307777"/>
          </a:xfrm>
          <a:prstGeom prst="rect">
            <a:avLst/>
          </a:prstGeom>
          <a:noFill/>
          <a:ln>
            <a:noFill/>
          </a:ln>
        </p:spPr>
        <p:txBody>
          <a:bodyPr anchorCtr="0" anchor="t" bIns="45700" lIns="91425" spcFirstLastPara="1" rIns="91425" wrap="square" tIns="45700">
            <a:spAutoFit/>
          </a:bodyPr>
          <a:lstStyle/>
          <a:p>
            <a:pPr indent="0" lvl="0" marL="1270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7.13 L/day/person  →  ~2.60 * 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/year.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Colony Water Sustainment Analysis</a:t>
            </a:r>
            <a:endParaRPr/>
          </a:p>
        </p:txBody>
      </p:sp>
      <p:sp>
        <p:nvSpPr>
          <p:cNvPr id="280" name="Google Shape;280;p22"/>
          <p:cNvSpPr txBox="1"/>
          <p:nvPr/>
        </p:nvSpPr>
        <p:spPr>
          <a:xfrm>
            <a:off x="311700" y="1390442"/>
            <a:ext cx="8520600" cy="2646848"/>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The total annual water needs is 4.29 × 10</a:t>
            </a:r>
            <a:r>
              <a:rPr b="0" baseline="30000" i="0" lang="en" sz="1600" u="none" cap="none" strike="noStrike">
                <a:solidFill>
                  <a:schemeClr val="dk2"/>
                </a:solidFill>
                <a:latin typeface="Arial"/>
                <a:ea typeface="Arial"/>
                <a:cs typeface="Arial"/>
                <a:sym typeface="Arial"/>
              </a:rPr>
              <a:t>8</a:t>
            </a:r>
            <a:r>
              <a:rPr b="0" i="0" lang="en" sz="1600" u="none" cap="none" strike="noStrike">
                <a:solidFill>
                  <a:schemeClr val="dk2"/>
                </a:solidFill>
                <a:latin typeface="Arial"/>
                <a:ea typeface="Arial"/>
                <a:cs typeface="Arial"/>
                <a:sym typeface="Arial"/>
              </a:rPr>
              <a:t> L + 3.65 × 10</a:t>
            </a:r>
            <a:r>
              <a:rPr b="0" baseline="30000" i="0" lang="en" sz="1600" u="none" cap="none" strike="noStrike">
                <a:solidFill>
                  <a:schemeClr val="dk2"/>
                </a:solidFill>
                <a:latin typeface="Arial"/>
                <a:ea typeface="Arial"/>
                <a:cs typeface="Arial"/>
                <a:sym typeface="Arial"/>
              </a:rPr>
              <a:t>7</a:t>
            </a:r>
            <a:r>
              <a:rPr b="0" i="0" lang="en" sz="1600" u="none" cap="none" strike="noStrike">
                <a:solidFill>
                  <a:schemeClr val="dk2"/>
                </a:solidFill>
                <a:latin typeface="Arial"/>
                <a:ea typeface="Arial"/>
                <a:cs typeface="Arial"/>
                <a:sym typeface="Arial"/>
              </a:rPr>
              <a:t> L + 2.60 × 10</a:t>
            </a:r>
            <a:r>
              <a:rPr b="0" baseline="30000" i="0" lang="en" sz="1600" u="none" cap="none" strike="noStrike">
                <a:solidFill>
                  <a:schemeClr val="dk2"/>
                </a:solidFill>
                <a:latin typeface="Arial"/>
                <a:ea typeface="Arial"/>
                <a:cs typeface="Arial"/>
                <a:sym typeface="Arial"/>
              </a:rPr>
              <a:t>8</a:t>
            </a:r>
            <a:r>
              <a:rPr b="0" i="0" lang="en" sz="1600" u="none" cap="none" strike="noStrike">
                <a:solidFill>
                  <a:schemeClr val="dk2"/>
                </a:solidFill>
                <a:latin typeface="Arial"/>
                <a:ea typeface="Arial"/>
                <a:cs typeface="Arial"/>
                <a:sym typeface="Arial"/>
              </a:rPr>
              <a:t> L = 7.26 × 10</a:t>
            </a:r>
            <a:r>
              <a:rPr b="0" baseline="30000" i="0" lang="en" sz="1600" u="none" cap="none" strike="noStrike">
                <a:solidFill>
                  <a:schemeClr val="dk2"/>
                </a:solidFill>
                <a:latin typeface="Arial"/>
                <a:ea typeface="Arial"/>
                <a:cs typeface="Arial"/>
                <a:sym typeface="Arial"/>
              </a:rPr>
              <a:t>8</a:t>
            </a:r>
            <a:r>
              <a:rPr b="0" i="0" lang="en" sz="1600" u="none" cap="none" strike="noStrike">
                <a:solidFill>
                  <a:schemeClr val="dk2"/>
                </a:solidFill>
                <a:latin typeface="Arial"/>
                <a:ea typeface="Arial"/>
                <a:cs typeface="Arial"/>
                <a:sym typeface="Arial"/>
              </a:rPr>
              <a:t> L/year</a:t>
            </a:r>
            <a:endParaRPr/>
          </a:p>
          <a:p>
            <a:pPr indent="-228600" lvl="0" marL="457200" marR="0" rtl="0" algn="l">
              <a:lnSpc>
                <a:spcPct val="10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a:p>
            <a:pPr indent="-228600" lvl="0" marL="457200" marR="0" rtl="0" algn="l">
              <a:lnSpc>
                <a:spcPct val="10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This means a monthly goal of 60500 metric tons, at full capacity of both rockets and climbers (150 rocket launches, 929 climbers).</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81" name="Google Shape;281;p22"/>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Water Needs Summary</a:t>
            </a:r>
            <a:endParaRPr>
              <a:solidFill>
                <a:schemeClr val="dk1"/>
              </a:solidFill>
            </a:endParaRPr>
          </a:p>
        </p:txBody>
      </p:sp>
      <p:pic>
        <p:nvPicPr>
          <p:cNvPr id="282" name="Google Shape;282;p22"/>
          <p:cNvPicPr preferRelativeResize="0"/>
          <p:nvPr/>
        </p:nvPicPr>
        <p:blipFill rotWithShape="1">
          <a:blip r:embed="rId3">
            <a:alphaModFix/>
          </a:blip>
          <a:srcRect b="0" l="0" r="0" t="0"/>
          <a:stretch/>
        </p:blipFill>
        <p:spPr>
          <a:xfrm>
            <a:off x="864378" y="2024727"/>
            <a:ext cx="5005424" cy="37624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Environmental Impact</a:t>
            </a:r>
            <a:endParaRPr/>
          </a:p>
        </p:txBody>
      </p:sp>
      <p:sp>
        <p:nvSpPr>
          <p:cNvPr id="288" name="Google Shape;288;p23"/>
          <p:cNvSpPr txBox="1"/>
          <p:nvPr/>
        </p:nvSpPr>
        <p:spPr>
          <a:xfrm>
            <a:off x="311700" y="1390442"/>
            <a:ext cx="8520600" cy="4371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Over 60% of rocket launch sites are situated within or adjacent to protected areas.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Biodiversity risk is calculated using intersection with protected areas listed in WDPA (World Database on Protected Areas) times species richness averaged by IUCN.</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The metric is normalized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We select three space elevator sites and normalize them with the rocket launch sites: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Marsabit Desert, Kenya (2.704</a:t>
            </a:r>
            <a:r>
              <a:rPr b="0" baseline="30000" i="0" lang="en" sz="1600" u="none" cap="none" strike="noStrike">
                <a:solidFill>
                  <a:schemeClr val="dk2"/>
                </a:solidFill>
                <a:latin typeface="Arial"/>
                <a:ea typeface="Arial"/>
                <a:cs typeface="Arial"/>
                <a:sym typeface="Arial"/>
              </a:rPr>
              <a:t>◦</a:t>
            </a:r>
            <a:r>
              <a:rPr b="0" i="0" lang="en" sz="1600" u="none" cap="none" strike="noStrike">
                <a:solidFill>
                  <a:schemeClr val="dk2"/>
                </a:solidFill>
                <a:latin typeface="Arial"/>
                <a:ea typeface="Arial"/>
                <a:cs typeface="Arial"/>
                <a:sym typeface="Arial"/>
              </a:rPr>
              <a:t>N, 37.263</a:t>
            </a:r>
            <a:r>
              <a:rPr b="0" baseline="30000" i="0" lang="en" sz="1600" u="none" cap="none" strike="noStrike">
                <a:solidFill>
                  <a:schemeClr val="dk2"/>
                </a:solidFill>
                <a:latin typeface="Arial"/>
                <a:ea typeface="Arial"/>
                <a:cs typeface="Arial"/>
                <a:sym typeface="Arial"/>
              </a:rPr>
              <a:t>◦</a:t>
            </a:r>
            <a:r>
              <a:rPr b="0" i="0" lang="en" sz="1600" u="none" cap="none" strike="noStrike">
                <a:solidFill>
                  <a:schemeClr val="dk2"/>
                </a:solidFill>
                <a:latin typeface="Arial"/>
                <a:ea typeface="Arial"/>
                <a:cs typeface="Arial"/>
                <a:sym typeface="Arial"/>
              </a:rPr>
              <a:t>E)</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Galapagos Highlands (0.633</a:t>
            </a:r>
            <a:r>
              <a:rPr b="0" baseline="30000" i="0" lang="en" sz="1600" u="none" cap="none" strike="noStrike">
                <a:solidFill>
                  <a:schemeClr val="dk2"/>
                </a:solidFill>
                <a:latin typeface="Arial"/>
                <a:ea typeface="Arial"/>
                <a:cs typeface="Arial"/>
                <a:sym typeface="Arial"/>
              </a:rPr>
              <a:t>◦</a:t>
            </a:r>
            <a:r>
              <a:rPr b="0" i="0" lang="en" sz="1600" u="none" cap="none" strike="noStrike">
                <a:solidFill>
                  <a:schemeClr val="dk2"/>
                </a:solidFill>
                <a:latin typeface="Arial"/>
                <a:ea typeface="Arial"/>
                <a:cs typeface="Arial"/>
                <a:sym typeface="Arial"/>
              </a:rPr>
              <a:t>S, 90.367</a:t>
            </a:r>
            <a:r>
              <a:rPr b="0" baseline="30000" i="0" lang="en" sz="1600" u="none" cap="none" strike="noStrike">
                <a:solidFill>
                  <a:schemeClr val="dk2"/>
                </a:solidFill>
                <a:latin typeface="Arial"/>
                <a:ea typeface="Arial"/>
                <a:cs typeface="Arial"/>
                <a:sym typeface="Arial"/>
              </a:rPr>
              <a:t>◦</a:t>
            </a:r>
            <a:r>
              <a:rPr b="0" i="0" lang="en" sz="1600" u="none" cap="none" strike="noStrike">
                <a:solidFill>
                  <a:schemeClr val="dk2"/>
                </a:solidFill>
                <a:latin typeface="Arial"/>
                <a:ea typeface="Arial"/>
                <a:cs typeface="Arial"/>
                <a:sym typeface="Arial"/>
              </a:rPr>
              <a:t>W)</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Padang, Indonesia (0.949</a:t>
            </a:r>
            <a:r>
              <a:rPr b="0" baseline="30000" i="0" lang="en" sz="1600" u="none" cap="none" strike="noStrike">
                <a:solidFill>
                  <a:schemeClr val="dk2"/>
                </a:solidFill>
                <a:latin typeface="Arial"/>
                <a:ea typeface="Arial"/>
                <a:cs typeface="Arial"/>
                <a:sym typeface="Arial"/>
              </a:rPr>
              <a:t>◦</a:t>
            </a:r>
            <a:r>
              <a:rPr b="0" i="0" lang="en" sz="1600" u="none" cap="none" strike="noStrike">
                <a:solidFill>
                  <a:schemeClr val="dk2"/>
                </a:solidFill>
                <a:latin typeface="Arial"/>
                <a:ea typeface="Arial"/>
                <a:cs typeface="Arial"/>
                <a:sym typeface="Arial"/>
              </a:rPr>
              <a:t>S, 100.354</a:t>
            </a:r>
            <a:r>
              <a:rPr b="0" baseline="30000" i="0" lang="en" sz="1600" u="none" cap="none" strike="noStrike">
                <a:solidFill>
                  <a:schemeClr val="dk2"/>
                </a:solidFill>
                <a:latin typeface="Arial"/>
                <a:ea typeface="Arial"/>
                <a:cs typeface="Arial"/>
                <a:sym typeface="Arial"/>
              </a:rPr>
              <a:t>◦</a:t>
            </a:r>
            <a:r>
              <a:rPr b="0" i="0" lang="en" sz="1600" u="none" cap="none" strike="noStrike">
                <a:solidFill>
                  <a:schemeClr val="dk2"/>
                </a:solidFill>
                <a:latin typeface="Arial"/>
                <a:ea typeface="Arial"/>
                <a:cs typeface="Arial"/>
                <a:sym typeface="Arial"/>
              </a:rPr>
              <a:t>E)</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All less than 3</a:t>
            </a:r>
            <a:r>
              <a:rPr b="0" baseline="30000" i="0" lang="en" sz="1600" u="none" cap="none" strike="noStrike">
                <a:solidFill>
                  <a:schemeClr val="dk2"/>
                </a:solidFill>
                <a:latin typeface="Arial"/>
                <a:ea typeface="Arial"/>
                <a:cs typeface="Arial"/>
                <a:sym typeface="Arial"/>
              </a:rPr>
              <a:t>◦</a:t>
            </a:r>
            <a:r>
              <a:rPr b="0" i="0" lang="en" sz="1600" u="none" cap="none" strike="noStrike">
                <a:solidFill>
                  <a:schemeClr val="dk2"/>
                </a:solidFill>
                <a:latin typeface="Arial"/>
                <a:ea typeface="Arial"/>
                <a:cs typeface="Arial"/>
                <a:sym typeface="Arial"/>
              </a:rPr>
              <a:t> to the equator, to avoid tether stress and ensure structural integrity, which would be disastrous for a 100,000km space elevator. Inland locations are prioritized and relative lower biodiversity were targeted (especially for equatorial latitudes).</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89" name="Google Shape;289;p23"/>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Biodiversity Risk</a:t>
            </a:r>
            <a:endParaRPr>
              <a:solidFill>
                <a:schemeClr val="dk1"/>
              </a:solidFill>
            </a:endParaRPr>
          </a:p>
        </p:txBody>
      </p:sp>
      <p:pic>
        <p:nvPicPr>
          <p:cNvPr id="290" name="Google Shape;290;p23" title="Screenshot 2026-02-11 at 12.56.26 PM.png"/>
          <p:cNvPicPr preferRelativeResize="0"/>
          <p:nvPr/>
        </p:nvPicPr>
        <p:blipFill rotWithShape="1">
          <a:blip r:embed="rId3">
            <a:alphaModFix/>
          </a:blip>
          <a:srcRect b="0" l="0" r="0" t="0"/>
          <a:stretch/>
        </p:blipFill>
        <p:spPr>
          <a:xfrm>
            <a:off x="3177075" y="2247900"/>
            <a:ext cx="2266950" cy="323850"/>
          </a:xfrm>
          <a:prstGeom prst="rect">
            <a:avLst/>
          </a:prstGeom>
          <a:noFill/>
          <a:ln>
            <a:noFill/>
          </a:ln>
        </p:spPr>
      </p:pic>
      <p:pic>
        <p:nvPicPr>
          <p:cNvPr id="291" name="Google Shape;291;p23" title="Screenshot 2026-02-11 at 12.58.48 PM.png"/>
          <p:cNvPicPr preferRelativeResize="0"/>
          <p:nvPr/>
        </p:nvPicPr>
        <p:blipFill rotWithShape="1">
          <a:blip r:embed="rId4">
            <a:alphaModFix/>
          </a:blip>
          <a:srcRect b="0" l="0" r="0" t="0"/>
          <a:stretch/>
        </p:blipFill>
        <p:spPr>
          <a:xfrm>
            <a:off x="3122500" y="2682423"/>
            <a:ext cx="1514450" cy="254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Environmental Impact</a:t>
            </a:r>
            <a:endParaRPr/>
          </a:p>
        </p:txBody>
      </p:sp>
      <p:sp>
        <p:nvSpPr>
          <p:cNvPr id="297" name="Google Shape;297;p24"/>
          <p:cNvSpPr txBox="1"/>
          <p:nvPr/>
        </p:nvSpPr>
        <p:spPr>
          <a:xfrm>
            <a:off x="311700" y="1390442"/>
            <a:ext cx="8520600" cy="2647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Ozone risk become more prominent when considering the frequency of rocket launches in this hypothetical scenario.</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Black Carbon (BC) emissions are directly injected into the stratosphere with a residence of up to 6 years [11]. BC heats up atmosphere, thereby causing ozone loss.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There is no statistically significant evidence that the ozone hole is recovering (increase of 0.3%/decade with an uncertainty of at least </a:t>
            </a:r>
            <a:r>
              <a:rPr b="0" i="0" lang="en" sz="1200" u="none" cap="none" strike="noStrike">
                <a:solidFill>
                  <a:schemeClr val="dk1"/>
                </a:solidFill>
                <a:latin typeface="Times New Roman"/>
                <a:ea typeface="Times New Roman"/>
                <a:cs typeface="Times New Roman"/>
                <a:sym typeface="Times New Roman"/>
              </a:rPr>
              <a:t>±</a:t>
            </a:r>
            <a:r>
              <a:rPr b="0" i="0" lang="en" sz="1600" u="none" cap="none" strike="noStrike">
                <a:solidFill>
                  <a:schemeClr val="dk2"/>
                </a:solidFill>
                <a:latin typeface="Arial"/>
                <a:ea typeface="Arial"/>
                <a:cs typeface="Arial"/>
                <a:sym typeface="Arial"/>
              </a:rPr>
              <a:t>0.3%/decade in 60</a:t>
            </a:r>
            <a:r>
              <a:rPr b="0" baseline="30000" i="0" lang="en" sz="1600" u="none" cap="none" strike="noStrike">
                <a:solidFill>
                  <a:schemeClr val="dk2"/>
                </a:solidFill>
                <a:latin typeface="Arial"/>
                <a:ea typeface="Arial"/>
                <a:cs typeface="Arial"/>
                <a:sym typeface="Arial"/>
              </a:rPr>
              <a:t>◦</a:t>
            </a:r>
            <a:r>
              <a:rPr b="0" i="0" lang="en" sz="1600" u="none" cap="none" strike="noStrike">
                <a:solidFill>
                  <a:schemeClr val="dk2"/>
                </a:solidFill>
                <a:latin typeface="Arial"/>
                <a:ea typeface="Arial"/>
                <a:cs typeface="Arial"/>
                <a:sym typeface="Arial"/>
              </a:rPr>
              <a:t>S-60</a:t>
            </a:r>
            <a:r>
              <a:rPr b="0" baseline="30000" i="0" lang="en" sz="1600" u="none" cap="none" strike="noStrike">
                <a:solidFill>
                  <a:schemeClr val="dk2"/>
                </a:solidFill>
                <a:latin typeface="Arial"/>
                <a:ea typeface="Arial"/>
                <a:cs typeface="Arial"/>
                <a:sym typeface="Arial"/>
              </a:rPr>
              <a:t>◦</a:t>
            </a:r>
            <a:r>
              <a:rPr b="0" i="0" lang="en" sz="1600" u="none" cap="none" strike="noStrike">
                <a:solidFill>
                  <a:schemeClr val="dk2"/>
                </a:solidFill>
                <a:latin typeface="Arial"/>
                <a:ea typeface="Arial"/>
                <a:cs typeface="Arial"/>
                <a:sym typeface="Arial"/>
              </a:rPr>
              <a:t>N over 1996-2020), but in current levels of emissions it is not getting worse [13].</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Falcon Heavy uses RP-1/LOX fuel, which is already one of the cleanest rocket fuel while ensuring enough thrust. Emits 13.15 tons of BC in stratosphere per launch [12].</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98" name="Google Shape;298;p24"/>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Ozone Risk</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Environmental Impact</a:t>
            </a:r>
            <a:endParaRPr/>
          </a:p>
        </p:txBody>
      </p:sp>
      <p:sp>
        <p:nvSpPr>
          <p:cNvPr id="304" name="Google Shape;304;p25"/>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Ozone Risk</a:t>
            </a:r>
            <a:endParaRPr>
              <a:solidFill>
                <a:schemeClr val="dk1"/>
              </a:solidFill>
            </a:endParaRPr>
          </a:p>
        </p:txBody>
      </p:sp>
      <p:pic>
        <p:nvPicPr>
          <p:cNvPr id="305" name="Google Shape;305;p25" title="payload to liftoff.png"/>
          <p:cNvPicPr preferRelativeResize="0"/>
          <p:nvPr/>
        </p:nvPicPr>
        <p:blipFill rotWithShape="1">
          <a:blip r:embed="rId3">
            <a:alphaModFix/>
          </a:blip>
          <a:srcRect b="0" l="0" r="0" t="0"/>
          <a:stretch/>
        </p:blipFill>
        <p:spPr>
          <a:xfrm>
            <a:off x="4875825" y="0"/>
            <a:ext cx="2751551" cy="1873451"/>
          </a:xfrm>
          <a:prstGeom prst="rect">
            <a:avLst/>
          </a:prstGeom>
          <a:noFill/>
          <a:ln>
            <a:noFill/>
          </a:ln>
        </p:spPr>
      </p:pic>
      <p:pic>
        <p:nvPicPr>
          <p:cNvPr id="306" name="Google Shape;306;p25" title="bc emission to liftoff.png"/>
          <p:cNvPicPr preferRelativeResize="0"/>
          <p:nvPr/>
        </p:nvPicPr>
        <p:blipFill rotWithShape="1">
          <a:blip r:embed="rId4">
            <a:alphaModFix/>
          </a:blip>
          <a:srcRect b="0" l="0" r="0" t="0"/>
          <a:stretch/>
        </p:blipFill>
        <p:spPr>
          <a:xfrm>
            <a:off x="617000" y="2723215"/>
            <a:ext cx="2751550" cy="1872584"/>
          </a:xfrm>
          <a:prstGeom prst="rect">
            <a:avLst/>
          </a:prstGeom>
          <a:noFill/>
          <a:ln>
            <a:noFill/>
          </a:ln>
        </p:spPr>
      </p:pic>
      <p:pic>
        <p:nvPicPr>
          <p:cNvPr id="307" name="Google Shape;307;p25" title="bc emission to payload.png"/>
          <p:cNvPicPr preferRelativeResize="0"/>
          <p:nvPr/>
        </p:nvPicPr>
        <p:blipFill rotWithShape="1">
          <a:blip r:embed="rId5">
            <a:alphaModFix/>
          </a:blip>
          <a:srcRect b="0" l="0" r="0" t="0"/>
          <a:stretch/>
        </p:blipFill>
        <p:spPr>
          <a:xfrm>
            <a:off x="4092600" y="1964300"/>
            <a:ext cx="4318030" cy="2942950"/>
          </a:xfrm>
          <a:prstGeom prst="rect">
            <a:avLst/>
          </a:prstGeom>
          <a:noFill/>
          <a:ln>
            <a:noFill/>
          </a:ln>
        </p:spPr>
      </p:pic>
      <p:sp>
        <p:nvSpPr>
          <p:cNvPr id="308" name="Google Shape;308;p25"/>
          <p:cNvSpPr txBox="1"/>
          <p:nvPr/>
        </p:nvSpPr>
        <p:spPr>
          <a:xfrm>
            <a:off x="617000" y="1590425"/>
            <a:ext cx="29610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Found that BC emissions and payload has a near perfect-linear relationship. </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Environmental Impact</a:t>
            </a:r>
            <a:endParaRPr/>
          </a:p>
        </p:txBody>
      </p:sp>
      <p:sp>
        <p:nvSpPr>
          <p:cNvPr id="314" name="Google Shape;314;p26"/>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Ozone Risk</a:t>
            </a:r>
            <a:endParaRPr>
              <a:solidFill>
                <a:schemeClr val="dk1"/>
              </a:solidFill>
            </a:endParaRPr>
          </a:p>
        </p:txBody>
      </p:sp>
      <p:sp>
        <p:nvSpPr>
          <p:cNvPr id="315" name="Google Shape;315;p26"/>
          <p:cNvSpPr txBox="1"/>
          <p:nvPr/>
        </p:nvSpPr>
        <p:spPr>
          <a:xfrm>
            <a:off x="617000" y="1428100"/>
            <a:ext cx="3129600" cy="2647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Dobson Unit (DU) is used to measure the thickness of the ozone layer.</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According to Maloney’s simulation [4], a 10Gg of BC emissions will result in a statistically significant -3.5DU reduction annually; 30Gg -9.05DU; 100 Gg -20DU.</a:t>
            </a:r>
            <a:endParaRPr b="0" i="0" sz="1600" u="none" cap="none" strike="noStrike">
              <a:solidFill>
                <a:schemeClr val="dk2"/>
              </a:solidFill>
              <a:latin typeface="Arial"/>
              <a:ea typeface="Arial"/>
              <a:cs typeface="Arial"/>
              <a:sym typeface="Arial"/>
            </a:endParaRPr>
          </a:p>
        </p:txBody>
      </p:sp>
      <p:pic>
        <p:nvPicPr>
          <p:cNvPr id="316" name="Google Shape;316;p26" title="Screenshot 2026-02-11 at 2.05.59 PM.png"/>
          <p:cNvPicPr preferRelativeResize="0"/>
          <p:nvPr/>
        </p:nvPicPr>
        <p:blipFill rotWithShape="1">
          <a:blip r:embed="rId3">
            <a:alphaModFix/>
          </a:blip>
          <a:srcRect b="0" l="0" r="0" t="0"/>
          <a:stretch/>
        </p:blipFill>
        <p:spPr>
          <a:xfrm>
            <a:off x="775175" y="4612200"/>
            <a:ext cx="4842125" cy="403500"/>
          </a:xfrm>
          <a:prstGeom prst="rect">
            <a:avLst/>
          </a:prstGeom>
          <a:noFill/>
          <a:ln>
            <a:noFill/>
          </a:ln>
        </p:spPr>
      </p:pic>
      <p:pic>
        <p:nvPicPr>
          <p:cNvPr id="317" name="Google Shape;317;p26" title="Screenshot 2026-02-11 at 2.06.15 PM.png"/>
          <p:cNvPicPr preferRelativeResize="0"/>
          <p:nvPr/>
        </p:nvPicPr>
        <p:blipFill rotWithShape="1">
          <a:blip r:embed="rId4">
            <a:alphaModFix/>
          </a:blip>
          <a:srcRect b="0" l="0" r="0" t="0"/>
          <a:stretch/>
        </p:blipFill>
        <p:spPr>
          <a:xfrm>
            <a:off x="5617300" y="4568200"/>
            <a:ext cx="2961000" cy="491502"/>
          </a:xfrm>
          <a:prstGeom prst="rect">
            <a:avLst/>
          </a:prstGeom>
          <a:noFill/>
          <a:ln>
            <a:noFill/>
          </a:ln>
        </p:spPr>
      </p:pic>
      <p:pic>
        <p:nvPicPr>
          <p:cNvPr id="318" name="Google Shape;318;p26" title="power law ozone depletion.png"/>
          <p:cNvPicPr preferRelativeResize="0"/>
          <p:nvPr/>
        </p:nvPicPr>
        <p:blipFill rotWithShape="1">
          <a:blip r:embed="rId5">
            <a:alphaModFix/>
          </a:blip>
          <a:srcRect b="0" l="0" r="0" t="0"/>
          <a:stretch/>
        </p:blipFill>
        <p:spPr>
          <a:xfrm>
            <a:off x="3901350" y="380625"/>
            <a:ext cx="4481549" cy="3371787"/>
          </a:xfrm>
          <a:prstGeom prst="rect">
            <a:avLst/>
          </a:prstGeom>
          <a:noFill/>
          <a:ln>
            <a:noFill/>
          </a:ln>
        </p:spPr>
      </p:pic>
      <p:sp>
        <p:nvSpPr>
          <p:cNvPr id="319" name="Google Shape;319;p26"/>
          <p:cNvSpPr txBox="1"/>
          <p:nvPr/>
        </p:nvSpPr>
        <p:spPr>
          <a:xfrm>
            <a:off x="617000" y="3866079"/>
            <a:ext cx="8590500" cy="923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Confidence band is calculated by repeatedly sampling the three ozone anomalies assuming normal distribution and fitting the log-log power law, and take the 2.5% and 97.5% percentile for each point.</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Environmental Impact</a:t>
            </a:r>
            <a:endParaRPr/>
          </a:p>
        </p:txBody>
      </p:sp>
      <p:sp>
        <p:nvSpPr>
          <p:cNvPr id="325" name="Google Shape;325;p27"/>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Ozone Risk</a:t>
            </a:r>
            <a:endParaRPr>
              <a:solidFill>
                <a:schemeClr val="dk1"/>
              </a:solidFill>
            </a:endParaRPr>
          </a:p>
        </p:txBody>
      </p:sp>
      <p:sp>
        <p:nvSpPr>
          <p:cNvPr id="326" name="Google Shape;326;p27"/>
          <p:cNvSpPr txBox="1"/>
          <p:nvPr/>
        </p:nvSpPr>
        <p:spPr>
          <a:xfrm>
            <a:off x="593775" y="1428100"/>
            <a:ext cx="5388300" cy="1662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AutoNum type="alphaLcParenBoth"/>
            </a:pPr>
            <a:r>
              <a:rPr b="0" i="0" lang="en" sz="1600" u="none" cap="none" strike="noStrike">
                <a:solidFill>
                  <a:schemeClr val="dk2"/>
                </a:solidFill>
                <a:latin typeface="Arial"/>
                <a:ea typeface="Arial"/>
                <a:cs typeface="Arial"/>
                <a:sym typeface="Arial"/>
              </a:rPr>
              <a:t>Constraining ozone while minimizing biodiversity</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AutoNum type="alphaLcParenBoth"/>
            </a:pPr>
            <a:r>
              <a:rPr b="0" i="0" lang="en" sz="1600" u="none" cap="none" strike="noStrike">
                <a:solidFill>
                  <a:schemeClr val="dk2"/>
                </a:solidFill>
                <a:latin typeface="Arial"/>
                <a:ea typeface="Arial"/>
                <a:cs typeface="Arial"/>
                <a:sym typeface="Arial"/>
              </a:rPr>
              <a:t>Constraining biodiversity while minimizing ozone</a:t>
            </a:r>
            <a:endParaRPr b="0" i="0" sz="1600" u="none" cap="none" strike="noStrike">
              <a:solidFill>
                <a:schemeClr val="dk2"/>
              </a:solidFill>
              <a:latin typeface="Arial"/>
              <a:ea typeface="Arial"/>
              <a:cs typeface="Arial"/>
              <a:sym typeface="Arial"/>
            </a:endParaRPr>
          </a:p>
        </p:txBody>
      </p:sp>
      <p:pic>
        <p:nvPicPr>
          <p:cNvPr id="327" name="Google Shape;327;p27" title="Screenshot 2026-02-11 at 2.15.13 PM.png"/>
          <p:cNvPicPr preferRelativeResize="0"/>
          <p:nvPr/>
        </p:nvPicPr>
        <p:blipFill rotWithShape="1">
          <a:blip r:embed="rId3">
            <a:alphaModFix/>
          </a:blip>
          <a:srcRect b="0" l="0" r="0" t="0"/>
          <a:stretch/>
        </p:blipFill>
        <p:spPr>
          <a:xfrm>
            <a:off x="2076150" y="1859200"/>
            <a:ext cx="2971800" cy="647700"/>
          </a:xfrm>
          <a:prstGeom prst="rect">
            <a:avLst/>
          </a:prstGeom>
          <a:noFill/>
          <a:ln>
            <a:noFill/>
          </a:ln>
        </p:spPr>
      </p:pic>
      <p:pic>
        <p:nvPicPr>
          <p:cNvPr id="328" name="Google Shape;328;p27" title="Screenshot 2026-02-11 at 2.15.49 PM.png"/>
          <p:cNvPicPr preferRelativeResize="0"/>
          <p:nvPr/>
        </p:nvPicPr>
        <p:blipFill rotWithShape="1">
          <a:blip r:embed="rId4">
            <a:alphaModFix/>
          </a:blip>
          <a:srcRect b="0" l="0" r="0" t="0"/>
          <a:stretch/>
        </p:blipFill>
        <p:spPr>
          <a:xfrm>
            <a:off x="5737500" y="1859200"/>
            <a:ext cx="2491748" cy="572700"/>
          </a:xfrm>
          <a:prstGeom prst="rect">
            <a:avLst/>
          </a:prstGeom>
          <a:noFill/>
          <a:ln>
            <a:noFill/>
          </a:ln>
        </p:spPr>
      </p:pic>
      <p:pic>
        <p:nvPicPr>
          <p:cNvPr id="329" name="Google Shape;329;p27" title="Screenshot 2026-02-11 at 2.16.16 PM.png"/>
          <p:cNvPicPr preferRelativeResize="0"/>
          <p:nvPr/>
        </p:nvPicPr>
        <p:blipFill rotWithShape="1">
          <a:blip r:embed="rId5">
            <a:alphaModFix/>
          </a:blip>
          <a:srcRect b="0" l="0" r="0" t="0"/>
          <a:stretch/>
        </p:blipFill>
        <p:spPr>
          <a:xfrm>
            <a:off x="2549538" y="3730275"/>
            <a:ext cx="1174769" cy="572700"/>
          </a:xfrm>
          <a:prstGeom prst="rect">
            <a:avLst/>
          </a:prstGeom>
          <a:noFill/>
          <a:ln>
            <a:noFill/>
          </a:ln>
        </p:spPr>
      </p:pic>
      <p:pic>
        <p:nvPicPr>
          <p:cNvPr id="330" name="Google Shape;330;p27" title="Screenshot 2026-02-11 at 2.17.56 PM.png"/>
          <p:cNvPicPr preferRelativeResize="0"/>
          <p:nvPr/>
        </p:nvPicPr>
        <p:blipFill rotWithShape="1">
          <a:blip r:embed="rId6">
            <a:alphaModFix/>
          </a:blip>
          <a:srcRect b="0" l="0" r="0" t="0"/>
          <a:stretch/>
        </p:blipFill>
        <p:spPr>
          <a:xfrm>
            <a:off x="4741650" y="3692775"/>
            <a:ext cx="3487607" cy="647700"/>
          </a:xfrm>
          <a:prstGeom prst="rect">
            <a:avLst/>
          </a:prstGeom>
          <a:noFill/>
          <a:ln>
            <a:noFill/>
          </a:ln>
        </p:spPr>
      </p:pic>
      <p:pic>
        <p:nvPicPr>
          <p:cNvPr id="331" name="Google Shape;331;p27" title="Screenshot 2026-02-11 at 2.18.52 PM.png"/>
          <p:cNvPicPr preferRelativeResize="0"/>
          <p:nvPr/>
        </p:nvPicPr>
        <p:blipFill rotWithShape="1">
          <a:blip r:embed="rId7">
            <a:alphaModFix/>
          </a:blip>
          <a:srcRect b="0" l="0" r="0" t="0"/>
          <a:stretch/>
        </p:blipFill>
        <p:spPr>
          <a:xfrm>
            <a:off x="3460013" y="3002700"/>
            <a:ext cx="2277481" cy="572700"/>
          </a:xfrm>
          <a:prstGeom prst="rect">
            <a:avLst/>
          </a:prstGeom>
          <a:noFill/>
          <a:ln>
            <a:noFill/>
          </a:ln>
        </p:spPr>
      </p:pic>
      <p:pic>
        <p:nvPicPr>
          <p:cNvPr id="332" name="Google Shape;332;p27" title="Screenshot 2026-02-11 at 2.19.02 PM.png"/>
          <p:cNvPicPr preferRelativeResize="0"/>
          <p:nvPr/>
        </p:nvPicPr>
        <p:blipFill rotWithShape="1">
          <a:blip r:embed="rId8">
            <a:alphaModFix/>
          </a:blip>
          <a:srcRect b="0" l="0" r="0" t="0"/>
          <a:stretch/>
        </p:blipFill>
        <p:spPr>
          <a:xfrm>
            <a:off x="5874376" y="3098613"/>
            <a:ext cx="2218000" cy="380875"/>
          </a:xfrm>
          <a:prstGeom prst="rect">
            <a:avLst/>
          </a:prstGeom>
          <a:noFill/>
          <a:ln>
            <a:noFill/>
          </a:ln>
        </p:spPr>
      </p:pic>
      <p:sp>
        <p:nvSpPr>
          <p:cNvPr id="333" name="Google Shape;333;p27"/>
          <p:cNvSpPr txBox="1"/>
          <p:nvPr/>
        </p:nvSpPr>
        <p:spPr>
          <a:xfrm>
            <a:off x="593775" y="3077175"/>
            <a:ext cx="3366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Minimizing ozone loss is same as minimizing rocket launches.</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Environmental Impact</a:t>
            </a:r>
            <a:endParaRPr/>
          </a:p>
        </p:txBody>
      </p:sp>
      <p:sp>
        <p:nvSpPr>
          <p:cNvPr id="339" name="Google Shape;339;p28"/>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Results Summary</a:t>
            </a:r>
            <a:endParaRPr>
              <a:solidFill>
                <a:schemeClr val="dk1"/>
              </a:solidFill>
            </a:endParaRPr>
          </a:p>
        </p:txBody>
      </p:sp>
      <p:pic>
        <p:nvPicPr>
          <p:cNvPr id="340" name="Google Shape;340;p28" title="biodiversity vs payload.png"/>
          <p:cNvPicPr preferRelativeResize="0"/>
          <p:nvPr/>
        </p:nvPicPr>
        <p:blipFill rotWithShape="1">
          <a:blip r:embed="rId3">
            <a:alphaModFix/>
          </a:blip>
          <a:srcRect b="0" l="0" r="0" t="0"/>
          <a:stretch/>
        </p:blipFill>
        <p:spPr>
          <a:xfrm>
            <a:off x="5636700" y="2532606"/>
            <a:ext cx="3177936" cy="2584050"/>
          </a:xfrm>
          <a:prstGeom prst="rect">
            <a:avLst/>
          </a:prstGeom>
          <a:noFill/>
          <a:ln>
            <a:noFill/>
          </a:ln>
        </p:spPr>
      </p:pic>
      <p:pic>
        <p:nvPicPr>
          <p:cNvPr id="341" name="Google Shape;341;p28" title="ozone vs payload.png"/>
          <p:cNvPicPr preferRelativeResize="0"/>
          <p:nvPr/>
        </p:nvPicPr>
        <p:blipFill rotWithShape="1">
          <a:blip r:embed="rId4">
            <a:alphaModFix/>
          </a:blip>
          <a:srcRect b="0" l="0" r="0" t="0"/>
          <a:stretch/>
        </p:blipFill>
        <p:spPr>
          <a:xfrm>
            <a:off x="5636700" y="11056"/>
            <a:ext cx="3195599" cy="2584050"/>
          </a:xfrm>
          <a:prstGeom prst="rect">
            <a:avLst/>
          </a:prstGeom>
          <a:noFill/>
          <a:ln>
            <a:noFill/>
          </a:ln>
        </p:spPr>
      </p:pic>
      <p:pic>
        <p:nvPicPr>
          <p:cNvPr id="342" name="Google Shape;342;p28" title="Screenshot 2026-02-11 at 2.25.42 PM.png"/>
          <p:cNvPicPr preferRelativeResize="0"/>
          <p:nvPr/>
        </p:nvPicPr>
        <p:blipFill rotWithShape="1">
          <a:blip r:embed="rId5">
            <a:alphaModFix/>
          </a:blip>
          <a:srcRect b="0" l="0" r="0" t="0"/>
          <a:stretch/>
        </p:blipFill>
        <p:spPr>
          <a:xfrm>
            <a:off x="385738" y="1590429"/>
            <a:ext cx="4977976" cy="1119800"/>
          </a:xfrm>
          <a:prstGeom prst="rect">
            <a:avLst/>
          </a:prstGeom>
          <a:noFill/>
          <a:ln>
            <a:noFill/>
          </a:ln>
        </p:spPr>
      </p:pic>
      <p:sp>
        <p:nvSpPr>
          <p:cNvPr id="343" name="Google Shape;343;p28"/>
          <p:cNvSpPr txBox="1"/>
          <p:nvPr/>
        </p:nvSpPr>
        <p:spPr>
          <a:xfrm>
            <a:off x="311700" y="2837275"/>
            <a:ext cx="4977900" cy="1169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Assuming a constraint of DU</a:t>
            </a:r>
            <a:r>
              <a:rPr b="0" baseline="-25000" i="0" lang="en" sz="1600" u="none" cap="none" strike="noStrike">
                <a:solidFill>
                  <a:schemeClr val="dk2"/>
                </a:solidFill>
                <a:latin typeface="Arial"/>
                <a:ea typeface="Arial"/>
                <a:cs typeface="Arial"/>
                <a:sym typeface="Arial"/>
              </a:rPr>
              <a:t>max</a:t>
            </a:r>
            <a:r>
              <a:rPr b="0" i="0" lang="en" sz="1600" u="none" cap="none" strike="noStrike">
                <a:solidFill>
                  <a:schemeClr val="dk2"/>
                </a:solidFill>
                <a:latin typeface="Arial"/>
                <a:ea typeface="Arial"/>
                <a:cs typeface="Arial"/>
                <a:sym typeface="Arial"/>
              </a:rPr>
              <a:t> = -1, we set a goal of payload 38,000 tons. Minimizing the biodiversity risk gives the above cost for space elevator, traditional rocket, and hybrid method. </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Sensitivity Analysis</a:t>
            </a:r>
            <a:endParaRPr/>
          </a:p>
        </p:txBody>
      </p:sp>
      <p:sp>
        <p:nvSpPr>
          <p:cNvPr id="349" name="Google Shape;349;p29"/>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Systemic Capacity Demand</a:t>
            </a:r>
            <a:endParaRPr>
              <a:solidFill>
                <a:schemeClr val="dk1"/>
              </a:solidFill>
            </a:endParaRPr>
          </a:p>
        </p:txBody>
      </p:sp>
      <p:pic>
        <p:nvPicPr>
          <p:cNvPr id="350" name="Google Shape;350;p29" title="Screenshot 2026-02-11 at 4.01.06 PM.png"/>
          <p:cNvPicPr preferRelativeResize="0"/>
          <p:nvPr/>
        </p:nvPicPr>
        <p:blipFill rotWithShape="1">
          <a:blip r:embed="rId3">
            <a:alphaModFix/>
          </a:blip>
          <a:srcRect b="0" l="0" r="0" t="0"/>
          <a:stretch/>
        </p:blipFill>
        <p:spPr>
          <a:xfrm>
            <a:off x="5356814" y="1017725"/>
            <a:ext cx="3475486" cy="227572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Sensitivity Analysis</a:t>
            </a:r>
            <a:endParaRPr/>
          </a:p>
        </p:txBody>
      </p:sp>
      <p:sp>
        <p:nvSpPr>
          <p:cNvPr id="356" name="Google Shape;356;p30"/>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Throughput Vulnerability (Water Demand)</a:t>
            </a:r>
            <a:endParaRPr>
              <a:solidFill>
                <a:schemeClr val="dk1"/>
              </a:solidFill>
            </a:endParaRPr>
          </a:p>
        </p:txBody>
      </p:sp>
      <p:sp>
        <p:nvSpPr>
          <p:cNvPr id="357" name="Google Shape;357;p30"/>
          <p:cNvSpPr txBox="1"/>
          <p:nvPr/>
        </p:nvSpPr>
        <p:spPr>
          <a:xfrm>
            <a:off x="311700" y="1486047"/>
            <a:ext cx="8141738" cy="677078"/>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Hybrid model’s max payload capacity: 61,000 Mt/month</a:t>
            </a:r>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Recall: a monthly water requirement of 60,500 Mt for the operational colony.</a:t>
            </a:r>
            <a:endParaRPr/>
          </a:p>
        </p:txBody>
      </p:sp>
      <p:pic>
        <p:nvPicPr>
          <p:cNvPr descr="表格&#10;&#10;AI 生成的内容可能不正确。" id="358" name="Google Shape;358;p30"/>
          <p:cNvPicPr preferRelativeResize="0"/>
          <p:nvPr/>
        </p:nvPicPr>
        <p:blipFill rotWithShape="1">
          <a:blip r:embed="rId3">
            <a:alphaModFix/>
          </a:blip>
          <a:srcRect b="0" l="0" r="0" t="0"/>
          <a:stretch/>
        </p:blipFill>
        <p:spPr>
          <a:xfrm>
            <a:off x="4846845" y="395563"/>
            <a:ext cx="3548082" cy="997011"/>
          </a:xfrm>
          <a:prstGeom prst="rect">
            <a:avLst/>
          </a:prstGeom>
          <a:noFill/>
          <a:ln>
            <a:noFill/>
          </a:ln>
        </p:spPr>
      </p:pic>
      <p:pic>
        <p:nvPicPr>
          <p:cNvPr id="359" name="Google Shape;359;p30" title="Screenshot 2026-02-11 at 4.03.29 PM.png"/>
          <p:cNvPicPr preferRelativeResize="0"/>
          <p:nvPr/>
        </p:nvPicPr>
        <p:blipFill rotWithShape="1">
          <a:blip r:embed="rId4">
            <a:alphaModFix/>
          </a:blip>
          <a:srcRect b="0" l="0" r="0" t="0"/>
          <a:stretch/>
        </p:blipFill>
        <p:spPr>
          <a:xfrm>
            <a:off x="692920" y="2256598"/>
            <a:ext cx="3689649" cy="2508958"/>
          </a:xfrm>
          <a:prstGeom prst="rect">
            <a:avLst/>
          </a:prstGeom>
          <a:noFill/>
          <a:ln>
            <a:noFill/>
          </a:ln>
        </p:spPr>
      </p:pic>
      <p:sp>
        <p:nvSpPr>
          <p:cNvPr id="360" name="Google Shape;360;p30"/>
          <p:cNvSpPr txBox="1"/>
          <p:nvPr/>
        </p:nvSpPr>
        <p:spPr>
          <a:xfrm>
            <a:off x="4717012" y="2722110"/>
            <a:ext cx="4006074" cy="1692741"/>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400" u="none" cap="none" strike="noStrike">
                <a:solidFill>
                  <a:schemeClr val="dk2"/>
                </a:solidFill>
                <a:latin typeface="Arial"/>
                <a:ea typeface="Arial"/>
                <a:cs typeface="Arial"/>
                <a:sym typeface="Arial"/>
              </a:rPr>
              <a:t>Rocket failure rate increasing to 5% delays mean delivery by 5 days/yr</a:t>
            </a:r>
            <a:endParaRPr/>
          </a:p>
          <a:p>
            <a:pPr indent="0" lvl="0" marL="127000" marR="0" rtl="0" algn="l">
              <a:lnSpc>
                <a:spcPct val="100000"/>
              </a:lnSpc>
              <a:spcBef>
                <a:spcPts val="0"/>
              </a:spcBef>
              <a:spcAft>
                <a:spcPts val="0"/>
              </a:spcAft>
              <a:buNone/>
            </a:pPr>
            <a:r>
              <a:t/>
            </a:r>
            <a:endParaRPr b="0" i="0" sz="14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400" u="none" cap="none" strike="noStrike">
                <a:solidFill>
                  <a:schemeClr val="dk2"/>
                </a:solidFill>
                <a:latin typeface="Arial"/>
                <a:ea typeface="Arial"/>
                <a:cs typeface="Arial"/>
                <a:sym typeface="Arial"/>
              </a:rPr>
              <a:t>Elevator failure rate increasing to 1/10^5 climbers delays mean delivery by 24 days/yr</a:t>
            </a:r>
            <a:endParaRPr/>
          </a:p>
          <a:p>
            <a:pPr indent="-228600" lvl="0" marL="457200" marR="0" rtl="0" algn="l">
              <a:lnSpc>
                <a:spcPct val="100000"/>
              </a:lnSpc>
              <a:spcBef>
                <a:spcPts val="0"/>
              </a:spcBef>
              <a:spcAft>
                <a:spcPts val="0"/>
              </a:spcAft>
              <a:buClr>
                <a:schemeClr val="dk2"/>
              </a:buClr>
              <a:buSzPts val="1600"/>
              <a:buFont typeface="Arial"/>
              <a:buNone/>
            </a:pPr>
            <a:r>
              <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Sensitivity Analysis</a:t>
            </a:r>
            <a:endParaRPr/>
          </a:p>
        </p:txBody>
      </p:sp>
      <p:sp>
        <p:nvSpPr>
          <p:cNvPr id="366" name="Google Shape;366;p31"/>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Operational Resilience</a:t>
            </a:r>
            <a:endParaRPr>
              <a:solidFill>
                <a:schemeClr val="dk1"/>
              </a:solidFill>
            </a:endParaRPr>
          </a:p>
        </p:txBody>
      </p:sp>
      <p:sp>
        <p:nvSpPr>
          <p:cNvPr id="367" name="Google Shape;367;p31"/>
          <p:cNvSpPr txBox="1"/>
          <p:nvPr/>
        </p:nvSpPr>
        <p:spPr>
          <a:xfrm>
            <a:off x="311700" y="2837275"/>
            <a:ext cx="4977900" cy="431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Assuming a constraint of DU</a:t>
            </a:r>
            <a:r>
              <a:rPr b="0" baseline="-25000" i="0" lang="en" sz="1600" u="none" cap="none" strike="noStrike">
                <a:solidFill>
                  <a:schemeClr val="dk2"/>
                </a:solidFill>
                <a:latin typeface="Arial"/>
                <a:ea typeface="Arial"/>
                <a:cs typeface="Arial"/>
                <a:sym typeface="Arial"/>
              </a:rPr>
              <a:t>max</a:t>
            </a:r>
            <a:r>
              <a:rPr b="0" i="0" lang="en" sz="1600" u="none" cap="none" strike="noStrike">
                <a:solidFill>
                  <a:schemeClr val="dk2"/>
                </a:solidFill>
                <a:latin typeface="Arial"/>
                <a:ea typeface="Arial"/>
                <a:cs typeface="Arial"/>
                <a:sym typeface="Arial"/>
              </a:rPr>
              <a:t> = -1, we </a:t>
            </a:r>
            <a:endParaRPr b="0" i="0" sz="1600" u="none" cap="none" strike="noStrike">
              <a:solidFill>
                <a:schemeClr val="dk2"/>
              </a:solidFill>
              <a:latin typeface="Arial"/>
              <a:ea typeface="Arial"/>
              <a:cs typeface="Arial"/>
              <a:sym typeface="Arial"/>
            </a:endParaRPr>
          </a:p>
        </p:txBody>
      </p:sp>
      <p:pic>
        <p:nvPicPr>
          <p:cNvPr id="368" name="Google Shape;368;p31" title="Screenshot 2026-02-11 at 4.02.12 PM.png"/>
          <p:cNvPicPr preferRelativeResize="0"/>
          <p:nvPr/>
        </p:nvPicPr>
        <p:blipFill rotWithShape="1">
          <a:blip r:embed="rId3">
            <a:alphaModFix/>
          </a:blip>
          <a:srcRect b="0" l="0" r="0" t="0"/>
          <a:stretch/>
        </p:blipFill>
        <p:spPr>
          <a:xfrm>
            <a:off x="5264863" y="328825"/>
            <a:ext cx="3714386" cy="20410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Sensitivity Analysis</a:t>
            </a:r>
            <a:endParaRPr/>
          </a:p>
        </p:txBody>
      </p:sp>
      <p:sp>
        <p:nvSpPr>
          <p:cNvPr id="374" name="Google Shape;374;p32"/>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Notable Results</a:t>
            </a:r>
            <a:endParaRPr>
              <a:solidFill>
                <a:schemeClr val="dk1"/>
              </a:solidFill>
            </a:endParaRPr>
          </a:p>
        </p:txBody>
      </p:sp>
      <p:sp>
        <p:nvSpPr>
          <p:cNvPr id="375" name="Google Shape;375;p32"/>
          <p:cNvSpPr txBox="1"/>
          <p:nvPr/>
        </p:nvSpPr>
        <p:spPr>
          <a:xfrm>
            <a:off x="311700" y="1476550"/>
            <a:ext cx="8520600" cy="2647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Completion time is most sensitive to rocket reliability and elevator availability.</a:t>
            </a:r>
            <a:endParaRPr b="0" i="0" sz="1600" u="none" cap="none" strike="noStrike">
              <a:solidFill>
                <a:schemeClr val="dk2"/>
              </a:solidFill>
              <a:latin typeface="Arial"/>
              <a:ea typeface="Arial"/>
              <a:cs typeface="Arial"/>
              <a:sym typeface="Arial"/>
            </a:endParaRPr>
          </a:p>
          <a:p>
            <a:pPr indent="-330200" lvl="1" marL="9144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Rocket failure rate from 2% to 5% -&gt; 150 years stop being achievable.</a:t>
            </a:r>
            <a:endParaRPr b="0" i="0" sz="1600" u="none" cap="none" strike="noStrike">
              <a:solidFill>
                <a:schemeClr val="dk2"/>
              </a:solidFill>
              <a:latin typeface="Arial"/>
              <a:ea typeface="Arial"/>
              <a:cs typeface="Arial"/>
              <a:sym typeface="Arial"/>
            </a:endParaRPr>
          </a:p>
          <a:p>
            <a:pPr indent="-330200" lvl="1" marL="9144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Elevator failure rate 10</a:t>
            </a:r>
            <a:r>
              <a:rPr b="0" baseline="30000" i="0" lang="en" sz="1600" u="none" cap="none" strike="noStrike">
                <a:solidFill>
                  <a:schemeClr val="dk2"/>
                </a:solidFill>
                <a:latin typeface="Arial"/>
                <a:ea typeface="Arial"/>
                <a:cs typeface="Arial"/>
                <a:sym typeface="Arial"/>
              </a:rPr>
              <a:t>-6</a:t>
            </a:r>
            <a:r>
              <a:rPr b="0" i="0" lang="en" sz="1600" u="none" cap="none" strike="noStrike">
                <a:solidFill>
                  <a:schemeClr val="dk2"/>
                </a:solidFill>
                <a:latin typeface="Arial"/>
                <a:ea typeface="Arial"/>
                <a:cs typeface="Arial"/>
                <a:sym typeface="Arial"/>
              </a:rPr>
              <a:t> to 10</a:t>
            </a:r>
            <a:r>
              <a:rPr b="0" baseline="30000" i="0" lang="en" sz="1600" u="none" cap="none" strike="noStrike">
                <a:solidFill>
                  <a:schemeClr val="dk2"/>
                </a:solidFill>
                <a:latin typeface="Arial"/>
                <a:ea typeface="Arial"/>
                <a:cs typeface="Arial"/>
                <a:sym typeface="Arial"/>
              </a:rPr>
              <a:t>-5 </a:t>
            </a:r>
            <a:r>
              <a:rPr b="0" i="0" lang="en" sz="1600" u="none" cap="none" strike="noStrike">
                <a:solidFill>
                  <a:schemeClr val="dk2"/>
                </a:solidFill>
                <a:latin typeface="Arial"/>
                <a:ea typeface="Arial"/>
                <a:cs typeface="Arial"/>
                <a:sym typeface="Arial"/>
              </a:rPr>
              <a:t>-&gt; over 149 years, increased expected failures from 1.6 to 15.2</a:t>
            </a:r>
            <a:endParaRPr b="0" i="0" sz="1600" u="none" cap="none" strike="noStrike">
              <a:solidFill>
                <a:schemeClr val="dk2"/>
              </a:solidFill>
              <a:latin typeface="Arial"/>
              <a:ea typeface="Arial"/>
              <a:cs typeface="Arial"/>
              <a:sym typeface="Arial"/>
            </a:endParaRPr>
          </a:p>
          <a:p>
            <a:pPr indent="-330200" lvl="1" marL="9144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Increasing downtime from 30 to 60 days makes 16.7% runs 151 years not achievable.</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Water supply is extremely fragile; deliveries can delay from 5 days-1 month.</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Repair and maintenance does not change schedule.</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Tons/climber does change schedule as there are less climbers overall prone to failure risks. </a:t>
            </a:r>
            <a:endParaRPr b="0" i="0" sz="1600" u="none" cap="none" strike="noStrike">
              <a:solidFill>
                <a:schemeClr val="dk2"/>
              </a:solidFill>
              <a:latin typeface="Arial"/>
              <a:ea typeface="Arial"/>
              <a:cs typeface="Arial"/>
              <a:sym typeface="Arial"/>
            </a:endParaRPr>
          </a:p>
        </p:txBody>
      </p:sp>
      <p:pic>
        <p:nvPicPr>
          <p:cNvPr id="376" name="Google Shape;376;p32" title="Screenshot 2026-02-11 at 4.12.22 PM.png"/>
          <p:cNvPicPr preferRelativeResize="0"/>
          <p:nvPr/>
        </p:nvPicPr>
        <p:blipFill rotWithShape="1">
          <a:blip r:embed="rId3">
            <a:alphaModFix/>
          </a:blip>
          <a:srcRect b="0" l="0" r="0" t="0"/>
          <a:stretch/>
        </p:blipFill>
        <p:spPr>
          <a:xfrm>
            <a:off x="1476025" y="3781150"/>
            <a:ext cx="3212250" cy="2267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Strengths and Limitations</a:t>
            </a:r>
            <a:endParaRPr/>
          </a:p>
        </p:txBody>
      </p:sp>
      <p:sp>
        <p:nvSpPr>
          <p:cNvPr id="382" name="Google Shape;382;p33"/>
          <p:cNvSpPr txBox="1"/>
          <p:nvPr/>
        </p:nvSpPr>
        <p:spPr>
          <a:xfrm>
            <a:off x="311700" y="1476550"/>
            <a:ext cx="8520600" cy="923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Key modeling and results are driven by physical throughput and capacity constraints.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Monte Carlo results distinguish schedule risk from cost risk</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Environmental impacts are treated in two dimensions (biodiversity and ozone)</a:t>
            </a:r>
            <a:endParaRPr b="0" i="0" sz="1600" u="none" cap="none" strike="noStrike">
              <a:solidFill>
                <a:schemeClr val="dk2"/>
              </a:solidFill>
              <a:latin typeface="Arial"/>
              <a:ea typeface="Arial"/>
              <a:cs typeface="Arial"/>
              <a:sym typeface="Arial"/>
            </a:endParaRPr>
          </a:p>
        </p:txBody>
      </p:sp>
      <p:sp>
        <p:nvSpPr>
          <p:cNvPr id="383" name="Google Shape;383;p33"/>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Strengths</a:t>
            </a:r>
            <a:endParaRPr>
              <a:solidFill>
                <a:schemeClr val="dk1"/>
              </a:solidFill>
            </a:endParaRPr>
          </a:p>
        </p:txBody>
      </p:sp>
      <p:sp>
        <p:nvSpPr>
          <p:cNvPr id="384" name="Google Shape;384;p33"/>
          <p:cNvSpPr txBox="1"/>
          <p:nvPr>
            <p:ph idx="1" type="body"/>
          </p:nvPr>
        </p:nvSpPr>
        <p:spPr>
          <a:xfrm>
            <a:off x="311700" y="2349197"/>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Limitations</a:t>
            </a:r>
            <a:endParaRPr>
              <a:solidFill>
                <a:schemeClr val="dk1"/>
              </a:solidFill>
            </a:endParaRPr>
          </a:p>
        </p:txBody>
      </p:sp>
      <p:sp>
        <p:nvSpPr>
          <p:cNvPr id="385" name="Google Shape;385;p33"/>
          <p:cNvSpPr txBox="1"/>
          <p:nvPr/>
        </p:nvSpPr>
        <p:spPr>
          <a:xfrm>
            <a:off x="311700" y="2727614"/>
            <a:ext cx="8832300" cy="1416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No lunar LSRU (in-situ resource utilization)</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Time-invariant capacities and unit costs (no economies of scale or cost evolution)</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No dynamic adaption (different launching sites or infrastructure assumptions)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Ozone dynamics does not take into account seasonality, meteorology, atmospheric transport</a:t>
            </a:r>
            <a:endParaRPr b="0" i="0" sz="1600" u="none" cap="none" strike="noStrike">
              <a:solidFill>
                <a:schemeClr val="dk2"/>
              </a:solidFill>
              <a:latin typeface="Arial"/>
              <a:ea typeface="Arial"/>
              <a:cs typeface="Arial"/>
              <a:sym typeface="Arial"/>
            </a:endParaRPr>
          </a:p>
        </p:txBody>
      </p:sp>
      <p:sp>
        <p:nvSpPr>
          <p:cNvPr id="386" name="Google Shape;386;p33"/>
          <p:cNvSpPr txBox="1"/>
          <p:nvPr/>
        </p:nvSpPr>
        <p:spPr>
          <a:xfrm>
            <a:off x="5350575" y="2228025"/>
            <a:ext cx="1731000" cy="73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87" name="Google Shape;387;p33"/>
          <p:cNvSpPr txBox="1"/>
          <p:nvPr/>
        </p:nvSpPr>
        <p:spPr>
          <a:xfrm>
            <a:off x="5690150" y="1159575"/>
            <a:ext cx="347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Conclusions</a:t>
            </a:r>
            <a:endParaRPr/>
          </a:p>
        </p:txBody>
      </p:sp>
      <p:sp>
        <p:nvSpPr>
          <p:cNvPr id="393" name="Google Shape;393;p34"/>
          <p:cNvSpPr txBox="1"/>
          <p:nvPr/>
        </p:nvSpPr>
        <p:spPr>
          <a:xfrm>
            <a:off x="5350575" y="2228025"/>
            <a:ext cx="1731000" cy="73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94" name="Google Shape;394;p34"/>
          <p:cNvSpPr txBox="1"/>
          <p:nvPr/>
        </p:nvSpPr>
        <p:spPr>
          <a:xfrm>
            <a:off x="5690150" y="1159575"/>
            <a:ext cx="347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395" name="Google Shape;395;p34"/>
          <p:cNvSpPr txBox="1"/>
          <p:nvPr/>
        </p:nvSpPr>
        <p:spPr>
          <a:xfrm>
            <a:off x="311700" y="3303725"/>
            <a:ext cx="8520600" cy="1416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Use higher-resolution, site-specific data</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Adaptive decisions: capacity expansion and contingency policies (what to do if failure)</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Incorporate ISRU</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More complete atmospheric model rather than ozone approximation </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Consider more environmental risks.</a:t>
            </a:r>
            <a:endParaRPr b="0" i="0" sz="1600" u="none" cap="none" strike="noStrike">
              <a:solidFill>
                <a:schemeClr val="dk2"/>
              </a:solidFill>
              <a:latin typeface="Arial"/>
              <a:ea typeface="Arial"/>
              <a:cs typeface="Arial"/>
              <a:sym typeface="Arial"/>
            </a:endParaRPr>
          </a:p>
        </p:txBody>
      </p:sp>
      <p:sp>
        <p:nvSpPr>
          <p:cNvPr id="396" name="Google Shape;396;p34"/>
          <p:cNvSpPr txBox="1"/>
          <p:nvPr/>
        </p:nvSpPr>
        <p:spPr>
          <a:xfrm>
            <a:off x="311700" y="1400500"/>
            <a:ext cx="8520600" cy="1416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Hybrid Strategy is better.</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Long-term maintenance almost impossible: 100,000 colony requires 726,000 tons of water annually, 60,500 tons per month.</a:t>
            </a:r>
            <a:endParaRPr b="0" i="0" sz="1600" u="none" cap="none" strike="noStrike">
              <a:solidFill>
                <a:schemeClr val="dk2"/>
              </a:solidFill>
              <a:latin typeface="Arial"/>
              <a:ea typeface="Arial"/>
              <a:cs typeface="Arial"/>
              <a:sym typeface="Arial"/>
            </a:endParaRPr>
          </a:p>
          <a:p>
            <a:pPr indent="-330200" lvl="0" marL="914400" marR="0" rtl="0" algn="l">
              <a:lnSpc>
                <a:spcPct val="100000"/>
              </a:lnSpc>
              <a:spcBef>
                <a:spcPts val="0"/>
              </a:spcBef>
              <a:spcAft>
                <a:spcPts val="0"/>
              </a:spcAft>
              <a:buClr>
                <a:schemeClr val="dk2"/>
              </a:buClr>
              <a:buSzPts val="1600"/>
              <a:buFont typeface="Arial"/>
              <a:buAutoNum type="alphaLcParenR"/>
            </a:pPr>
            <a:r>
              <a:rPr b="0" i="0" lang="en" sz="1600" u="none" cap="none" strike="noStrike">
                <a:solidFill>
                  <a:schemeClr val="dk2"/>
                </a:solidFill>
                <a:latin typeface="Arial"/>
                <a:ea typeface="Arial"/>
                <a:cs typeface="Arial"/>
                <a:sym typeface="Arial"/>
              </a:rPr>
              <a:t>Does not satisfy the suggested limits on biodiversity risk + ozone</a:t>
            </a:r>
            <a:endParaRPr b="0" i="0" sz="1600" u="none" cap="none" strike="noStrike">
              <a:solidFill>
                <a:schemeClr val="dk2"/>
              </a:solidFill>
              <a:latin typeface="Arial"/>
              <a:ea typeface="Arial"/>
              <a:cs typeface="Arial"/>
              <a:sym typeface="Arial"/>
            </a:endParaRPr>
          </a:p>
          <a:p>
            <a:pPr indent="-330200" lvl="0" marL="914400" marR="0" rtl="0" algn="l">
              <a:lnSpc>
                <a:spcPct val="100000"/>
              </a:lnSpc>
              <a:spcBef>
                <a:spcPts val="0"/>
              </a:spcBef>
              <a:spcAft>
                <a:spcPts val="0"/>
              </a:spcAft>
              <a:buClr>
                <a:schemeClr val="dk2"/>
              </a:buClr>
              <a:buSzPts val="1600"/>
              <a:buFont typeface="Arial"/>
              <a:buAutoNum type="alphaLcParenR"/>
            </a:pPr>
            <a:r>
              <a:rPr b="0" i="0" lang="en" sz="1600" u="none" cap="none" strike="noStrike">
                <a:solidFill>
                  <a:schemeClr val="dk2"/>
                </a:solidFill>
                <a:latin typeface="Arial"/>
                <a:ea typeface="Arial"/>
                <a:cs typeface="Arial"/>
                <a:sym typeface="Arial"/>
              </a:rPr>
              <a:t>Very susceptible to any sort of failures, rocket or climbers. </a:t>
            </a:r>
            <a:endParaRPr b="0" i="0" sz="1600" u="none" cap="none" strike="noStrike">
              <a:solidFill>
                <a:schemeClr val="dk2"/>
              </a:solidFill>
              <a:latin typeface="Arial"/>
              <a:ea typeface="Arial"/>
              <a:cs typeface="Arial"/>
              <a:sym typeface="Arial"/>
            </a:endParaRPr>
          </a:p>
        </p:txBody>
      </p:sp>
      <p:sp>
        <p:nvSpPr>
          <p:cNvPr id="397" name="Google Shape;397;p34"/>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Conclusion</a:t>
            </a:r>
            <a:endParaRPr>
              <a:solidFill>
                <a:schemeClr val="dk1"/>
              </a:solidFill>
            </a:endParaRPr>
          </a:p>
        </p:txBody>
      </p:sp>
      <p:sp>
        <p:nvSpPr>
          <p:cNvPr id="398" name="Google Shape;398;p34"/>
          <p:cNvSpPr txBox="1"/>
          <p:nvPr>
            <p:ph idx="1" type="body"/>
          </p:nvPr>
        </p:nvSpPr>
        <p:spPr>
          <a:xfrm>
            <a:off x="311700" y="2965725"/>
            <a:ext cx="8520600" cy="57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1200"/>
              </a:spcAft>
              <a:buSzPct val="117647"/>
              <a:buNone/>
            </a:pPr>
            <a:r>
              <a:rPr lang="en">
                <a:solidFill>
                  <a:schemeClr val="dk1"/>
                </a:solidFill>
              </a:rPr>
              <a:t>Future Improvement</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References</a:t>
            </a:r>
            <a:endParaRPr/>
          </a:p>
        </p:txBody>
      </p:sp>
      <p:sp>
        <p:nvSpPr>
          <p:cNvPr id="404" name="Google Shape;404;p35"/>
          <p:cNvSpPr txBox="1"/>
          <p:nvPr/>
        </p:nvSpPr>
        <p:spPr>
          <a:xfrm>
            <a:off x="311700" y="927575"/>
            <a:ext cx="8520600" cy="540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[1] International Space Elevator Consortium (ISEC). Space elevator faq. </a:t>
            </a:r>
            <a:r>
              <a:rPr b="0" i="0" lang="en" sz="900" u="sng" cap="none" strike="noStrike">
                <a:solidFill>
                  <a:schemeClr val="hlink"/>
                </a:solidFill>
                <a:latin typeface="Arial"/>
                <a:ea typeface="Arial"/>
                <a:cs typeface="Arial"/>
                <a:sym typeface="Arial"/>
                <a:hlinkClick r:id="rId3"/>
              </a:rPr>
              <a:t>https://www.isec.org/faq</a:t>
            </a:r>
            <a:r>
              <a:rPr b="0" i="0" lang="en" sz="900" u="none" cap="none" strike="noStrike">
                <a:solidFill>
                  <a:schemeClr val="dk2"/>
                </a:solidFill>
                <a:latin typeface="Arial"/>
                <a:ea typeface="Arial"/>
                <a:cs typeface="Arial"/>
                <a:sym typeface="Arial"/>
              </a:rPr>
              <a:t> </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[2] Stephen Cohen and A. Misra. The effect of climber transit on the space elevator dynamics. Acta Astronautica - ACTA ASTRONAUT, 64:538–553, 03 2009</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[3]Peter W. Mayer. Water research foundation study documents water conservation potential and more efficiency in households. Journal AWWA, 108(10):31–40, 2016.</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[4] Molly S. Anderson, Michael K. Ewert, and John F. Keener. Life support baseline values and assumptions document. Technical Publication NASA/TP-2015-218570/REV1, NASA Johnson Space Center, Houston, TX, 2018. JSC-E-DAA-TN51698.</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[5] Melissa L. Gaskill. NASA achieves water recovery milestone on international space station. International Space Station Research Communications Team.</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[6] U.S. Department of Agriculture and U.S. Department of Health and Human Services. Dietary guidelines for americans, 2020-2025. Technical  Report, U.S. Government Printing Office, Washington, DC, 2020.</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[7] Ganapathy Rajaseger, Kit Lun Chan, Kay Yee Tan, Shan Ramasamy, Mar Cho Khin, Anburaj Amaladoss, and Patel Kadamb Haribhai. Hydroponics: current trends in sustainable crop production. Bioinformation, 19(9):925–938, Sep 2023</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[8] R.M. Wheeler, C.L. Mackowiak, G.W. Stutte, J.C. Sager, N.C. Yorio, L.M. Ruffe, R.E. Fort-son, T.W. Dreschel, W.M. Knott, and K.A. Corey. Nasa’s biomass production chamber: A testbed for bioregenerative life support studies. Advances in Space Research, 18(4):215–224, 1996. Natural and Artificial.</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[9] David S. McKay and Richard J. Williams. A geologic assessment of potential lunar ores. In Gerard K. O’Neill, Brian O’Leary, and John Billingham, editors, Space Resources and Space Settlements, number NASA-SP-428 in NASA Special Publication, pages 243–255, Moffett Field, CA, 1979. NASA Ames Research Center. Document ID: 19790024068.</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[10] D. Bhogeswara Rao, U. V. Choudary, T. E. Erstfeld, R. J. Williams, and Y. A. Chang. Extraction processes for the production of aluminum, titanium, iron, magnesium, and oxygen from nonterrestrial sources. In Gerard K. O’Neill, Brian O’Leary, and John Billingham, editors, Space Resources and Space Settlements, number NASA-SP-428 in NASA Special Publication, pages 257–274, Washington, DC, 1979. National Aeronautics and Space Administration. Document ID: 19790024069</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[11] Christopher M. Maloney, Robert W. Portmann, Martin N. Ross, and Karen H. Rosenlof. The climate and ozone impacts of black carbon emissions from global rocket launches. Journal of Geophysical Research: Atmospheres, 127(12), 2022.</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[12] Tyler F. M. Brown, Michele T. Bannister, Laura E. Revell, Timofei Sukhodolov, and Eugene Rozanov. Worldwide rocket launch emissions 2019: An inventory for use in global models. Earth and Space Science, 11(10), 2024</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[13] World Meteorological Organization, United Nations Environment Programme, National Oceanic and Atmospheric Administration, National Aeronautics and Space Administration, &amp; European Commission. (2023). Scientific assessment of ozone depletion: 2022 (GAW Report No. 278). World Meteorological Organization; United Nations Environment Programme. </a:t>
            </a:r>
            <a:r>
              <a:rPr b="0" i="0" lang="en" sz="900" u="sng" cap="none" strike="noStrike">
                <a:solidFill>
                  <a:schemeClr val="hlink"/>
                </a:solidFill>
                <a:latin typeface="Arial"/>
                <a:ea typeface="Arial"/>
                <a:cs typeface="Arial"/>
                <a:sym typeface="Arial"/>
                <a:hlinkClick r:id="rId4"/>
              </a:rPr>
              <a:t>https://library.wmo.int/idurl/4/58360</a:t>
            </a:r>
            <a:r>
              <a:rPr b="0" i="0" lang="en" sz="900" u="none" cap="none" strike="noStrike">
                <a:solidFill>
                  <a:schemeClr val="dk2"/>
                </a:solidFill>
                <a:latin typeface="Arial"/>
                <a:ea typeface="Arial"/>
                <a:cs typeface="Arial"/>
                <a:sym typeface="Arial"/>
              </a:rPr>
              <a:t>. </a:t>
            </a:r>
            <a:endParaRPr b="0" i="0" sz="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Appendix A.</a:t>
            </a:r>
            <a:endParaRPr/>
          </a:p>
        </p:txBody>
      </p:sp>
      <p:pic>
        <p:nvPicPr>
          <p:cNvPr id="410" name="Google Shape;410;p36" title="Screenshot 2026-02-11 at 4.52.31 PM.png"/>
          <p:cNvPicPr preferRelativeResize="0"/>
          <p:nvPr/>
        </p:nvPicPr>
        <p:blipFill rotWithShape="1">
          <a:blip r:embed="rId3">
            <a:alphaModFix/>
          </a:blip>
          <a:srcRect b="0" l="0" r="0" t="0"/>
          <a:stretch/>
        </p:blipFill>
        <p:spPr>
          <a:xfrm>
            <a:off x="394025" y="1017725"/>
            <a:ext cx="4608325" cy="2445899"/>
          </a:xfrm>
          <a:prstGeom prst="rect">
            <a:avLst/>
          </a:prstGeom>
          <a:noFill/>
          <a:ln>
            <a:noFill/>
          </a:ln>
        </p:spPr>
      </p:pic>
      <p:pic>
        <p:nvPicPr>
          <p:cNvPr id="411" name="Google Shape;411;p36" title="Screenshot 2026-02-11 at 4.54.06 PM.png"/>
          <p:cNvPicPr preferRelativeResize="0"/>
          <p:nvPr/>
        </p:nvPicPr>
        <p:blipFill rotWithShape="1">
          <a:blip r:embed="rId4">
            <a:alphaModFix/>
          </a:blip>
          <a:srcRect b="0" l="0" r="0" t="0"/>
          <a:stretch/>
        </p:blipFill>
        <p:spPr>
          <a:xfrm>
            <a:off x="4846875" y="703725"/>
            <a:ext cx="3919176" cy="2590529"/>
          </a:xfrm>
          <a:prstGeom prst="rect">
            <a:avLst/>
          </a:prstGeom>
          <a:noFill/>
          <a:ln>
            <a:noFill/>
          </a:ln>
        </p:spPr>
      </p:pic>
      <p:pic>
        <p:nvPicPr>
          <p:cNvPr id="412" name="Google Shape;412;p36" title="Screenshot 2026-02-11 at 4.55.22 PM.png"/>
          <p:cNvPicPr preferRelativeResize="0"/>
          <p:nvPr/>
        </p:nvPicPr>
        <p:blipFill rotWithShape="1">
          <a:blip r:embed="rId5">
            <a:alphaModFix/>
          </a:blip>
          <a:srcRect b="0" l="0" r="0" t="0"/>
          <a:stretch/>
        </p:blipFill>
        <p:spPr>
          <a:xfrm>
            <a:off x="492000" y="3661551"/>
            <a:ext cx="3415579" cy="1481950"/>
          </a:xfrm>
          <a:prstGeom prst="rect">
            <a:avLst/>
          </a:prstGeom>
          <a:noFill/>
          <a:ln>
            <a:noFill/>
          </a:ln>
        </p:spPr>
      </p:pic>
      <p:pic>
        <p:nvPicPr>
          <p:cNvPr id="413" name="Google Shape;413;p36" title="Screenshot 2026-02-11 at 4.55.45 PM.png"/>
          <p:cNvPicPr preferRelativeResize="0"/>
          <p:nvPr/>
        </p:nvPicPr>
        <p:blipFill rotWithShape="1">
          <a:blip r:embed="rId6">
            <a:alphaModFix/>
          </a:blip>
          <a:srcRect b="0" l="0" r="0" t="0"/>
          <a:stretch/>
        </p:blipFill>
        <p:spPr>
          <a:xfrm>
            <a:off x="3907575" y="3957074"/>
            <a:ext cx="4608326" cy="8908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