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D4047C-DD43-4987-8A32-817CEECD953D}">
  <a:tblStyle styleId="{29D4047C-DD43-4987-8A32-817CEECD953D}"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3"/>
              </a:solidFill>
              <a:prstDash val="solid"/>
              <a:round/>
              <a:headEnd len="sm" w="sm" type="none"/>
              <a:tailEnd len="sm" w="sm" type="none"/>
            </a:ln>
          </a:top>
          <a:bottom>
            <a:ln cap="flat" cmpd="sng" w="12700">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20000"/>
            </a:schemeClr>
          </a:solidFill>
        </a:fill>
      </a:tcStyle>
    </a:band1H>
    <a:band2H>
      <a:tcTxStyle/>
    </a:band2H>
    <a:band1V>
      <a:tcTxStyle/>
      <a:tcStyle>
        <a:fill>
          <a:solidFill>
            <a:schemeClr val="accent3">
              <a:alpha val="20000"/>
            </a:schemeClr>
          </a:solidFill>
        </a:fill>
      </a:tcStyle>
    </a:band1V>
    <a:band2V>
      <a:tcTxStyle/>
    </a:band2V>
    <a:lastCol>
      <a:tcTxStyle b="on" i="off"/>
    </a:lastCol>
    <a:firstCol>
      <a:tcTxStyle b="on" i="off"/>
    </a:firstCol>
    <a:lastRow>
      <a:tcTxStyle b="on" i="off"/>
      <a:tcStyle>
        <a:tcBdr>
          <a:top>
            <a:ln cap="flat" cmpd="sng" w="12700">
              <a:solidFill>
                <a:schemeClr val="accent3"/>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3"/>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39cb608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39cb608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3bf4d293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93bf4d293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e6bf733af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be6bf733af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e6bf733af_2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be6bf733af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e6bf733af_2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be6bf733af_2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e6bf733af_2_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3be6bf733af_2_2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e6bf733af_2_2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be6bf733af_2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e6bf733af_2_2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3be6bf733af_2_2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3bf4d2935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3bf4d293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3bf4d293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93bf4d293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3bf4d2935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3bf4d2935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93bf4d293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93bf4d293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93bf4d293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93bf4d293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93bf4d2935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93bf4d2935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93bf4d293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93bf4d293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3bf4d2935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3bf4d2935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be6bf733af_2_3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be6bf733af_2_3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be6bf733af_2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be6bf733af_2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be6bf733af_2_3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be6bf733af_2_3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be6bf733af_2_3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3be6bf733af_2_3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93bf4d293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93bf4d293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93bf4d293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93bf4d293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93bf4d2935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93bf4d2935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93bf4d2935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93bf4d2935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93bf4d2935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93bf4d2935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93bf4d2935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93bf4d2935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93bf4d2935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93bf4d2935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be6bf733af_2_4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g3be6bf733af_2_4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93bf4d2935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93bf4d2935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93bf4d2935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93bf4d2935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93bf4d2935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93bf4d2935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93bf4d2935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93bf4d2935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93bf4d2935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93bf4d2935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93bf4d2935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93bf4d2935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14.png"/><Relationship Id="rId6"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6.png"/><Relationship Id="rId10" Type="http://schemas.openxmlformats.org/officeDocument/2006/relationships/image" Target="../media/image23.png"/><Relationship Id="rId9"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11.png"/><Relationship Id="rId7" Type="http://schemas.openxmlformats.org/officeDocument/2006/relationships/image" Target="../media/image19.png"/><Relationship Id="rId8"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7.png"/><Relationship Id="rId4" Type="http://schemas.openxmlformats.org/officeDocument/2006/relationships/image" Target="../media/image31.png"/><Relationship Id="rId5"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46.png"/><Relationship Id="rId5"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5.png"/><Relationship Id="rId4" Type="http://schemas.openxmlformats.org/officeDocument/2006/relationships/image" Target="../media/image34.png"/><Relationship Id="rId5"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35.png"/><Relationship Id="rId6" Type="http://schemas.openxmlformats.org/officeDocument/2006/relationships/image" Target="../media/image43.png"/><Relationship Id="rId7" Type="http://schemas.openxmlformats.org/officeDocument/2006/relationships/image" Target="../media/image60.png"/><Relationship Id="rId8" Type="http://schemas.openxmlformats.org/officeDocument/2006/relationships/image" Target="../media/image5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3.png"/><Relationship Id="rId4" Type="http://schemas.openxmlformats.org/officeDocument/2006/relationships/image" Target="../media/image55.png"/><Relationship Id="rId5"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www.isec.org/faq" TargetMode="External"/><Relationship Id="rId4" Type="http://schemas.openxmlformats.org/officeDocument/2006/relationships/hyperlink" Target="https://library.wmo.int/idurl/4/58360"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64.png"/><Relationship Id="rId4" Type="http://schemas.openxmlformats.org/officeDocument/2006/relationships/image" Target="../media/image63.png"/><Relationship Id="rId5" Type="http://schemas.openxmlformats.org/officeDocument/2006/relationships/image" Target="../media/image61.png"/><Relationship Id="rId6"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MCM Problem B</a:t>
            </a:r>
            <a:endParaRPr/>
          </a:p>
        </p:txBody>
      </p:sp>
      <p:sp>
        <p:nvSpPr>
          <p:cNvPr id="100" name="Google Shape;100;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Jessica, Eleanore, </a:t>
            </a:r>
            <a:r>
              <a:rPr lang="en"/>
              <a:t>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p:nvPr/>
        </p:nvSpPr>
        <p:spPr>
          <a:xfrm rot="-5402776">
            <a:off x="1043774" y="2204013"/>
            <a:ext cx="1485900" cy="15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Context</a:t>
            </a:r>
            <a:endParaRPr/>
          </a:p>
        </p:txBody>
      </p:sp>
      <p:sp>
        <p:nvSpPr>
          <p:cNvPr id="107" name="Google Shape;10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8" name="Google Shape;108;p26" title="rocket-svgrepo-com.png"/>
          <p:cNvPicPr preferRelativeResize="0"/>
          <p:nvPr/>
        </p:nvPicPr>
        <p:blipFill>
          <a:blip r:embed="rId3">
            <a:alphaModFix/>
          </a:blip>
          <a:stretch>
            <a:fillRect/>
          </a:stretch>
        </p:blipFill>
        <p:spPr>
          <a:xfrm rot="1377994">
            <a:off x="2745048" y="1796156"/>
            <a:ext cx="301156" cy="383684"/>
          </a:xfrm>
          <a:prstGeom prst="rect">
            <a:avLst/>
          </a:prstGeom>
          <a:noFill/>
          <a:ln>
            <a:noFill/>
          </a:ln>
        </p:spPr>
      </p:pic>
      <p:pic>
        <p:nvPicPr>
          <p:cNvPr id="109" name="Google Shape;109;p26" title="FullMoon2010.png"/>
          <p:cNvPicPr preferRelativeResize="0"/>
          <p:nvPr/>
        </p:nvPicPr>
        <p:blipFill>
          <a:blip r:embed="rId4">
            <a:alphaModFix/>
          </a:blip>
          <a:stretch>
            <a:fillRect/>
          </a:stretch>
        </p:blipFill>
        <p:spPr>
          <a:xfrm>
            <a:off x="6365925" y="690100"/>
            <a:ext cx="1602504" cy="1522701"/>
          </a:xfrm>
          <a:prstGeom prst="rect">
            <a:avLst/>
          </a:prstGeom>
          <a:noFill/>
          <a:ln>
            <a:noFill/>
          </a:ln>
        </p:spPr>
      </p:pic>
      <p:pic>
        <p:nvPicPr>
          <p:cNvPr id="110" name="Google Shape;110;p26" title="earth-planet-earth-png-8c9efc6b1014b412ccff80942ef40b08.png"/>
          <p:cNvPicPr preferRelativeResize="0"/>
          <p:nvPr/>
        </p:nvPicPr>
        <p:blipFill>
          <a:blip r:embed="rId5">
            <a:alphaModFix/>
          </a:blip>
          <a:stretch>
            <a:fillRect/>
          </a:stretch>
        </p:blipFill>
        <p:spPr>
          <a:xfrm>
            <a:off x="534500" y="1752600"/>
            <a:ext cx="2504449" cy="2501901"/>
          </a:xfrm>
          <a:prstGeom prst="rect">
            <a:avLst/>
          </a:prstGeom>
          <a:noFill/>
          <a:ln>
            <a:noFill/>
          </a:ln>
        </p:spPr>
      </p:pic>
      <p:sp>
        <p:nvSpPr>
          <p:cNvPr id="111" name="Google Shape;111;p26"/>
          <p:cNvSpPr/>
          <p:nvPr/>
        </p:nvSpPr>
        <p:spPr>
          <a:xfrm rot="-1372140">
            <a:off x="2857450" y="2495586"/>
            <a:ext cx="1486006" cy="152332"/>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6"/>
          <p:cNvSpPr/>
          <p:nvPr/>
        </p:nvSpPr>
        <p:spPr>
          <a:xfrm rot="-7226279">
            <a:off x="233674" y="2267945"/>
            <a:ext cx="1485772" cy="152349"/>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6"/>
          <p:cNvSpPr/>
          <p:nvPr/>
        </p:nvSpPr>
        <p:spPr>
          <a:xfrm>
            <a:off x="1472050" y="2759375"/>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26"/>
          <p:cNvSpPr/>
          <p:nvPr/>
        </p:nvSpPr>
        <p:spPr>
          <a:xfrm>
            <a:off x="1809177" y="2877139"/>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26"/>
          <p:cNvSpPr/>
          <p:nvPr/>
        </p:nvSpPr>
        <p:spPr>
          <a:xfrm>
            <a:off x="2140532" y="2873675"/>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26"/>
          <p:cNvSpPr/>
          <p:nvPr/>
        </p:nvSpPr>
        <p:spPr>
          <a:xfrm>
            <a:off x="2231452" y="2664414"/>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26"/>
          <p:cNvSpPr/>
          <p:nvPr/>
        </p:nvSpPr>
        <p:spPr>
          <a:xfrm>
            <a:off x="1526602" y="2404064"/>
            <a:ext cx="57600" cy="46200"/>
          </a:xfrm>
          <a:prstGeom prst="flowChartConnector">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8" name="Google Shape;118;p26" title="rocket-svgrepo-com.png"/>
          <p:cNvPicPr preferRelativeResize="0"/>
          <p:nvPr/>
        </p:nvPicPr>
        <p:blipFill>
          <a:blip r:embed="rId3">
            <a:alphaModFix/>
          </a:blip>
          <a:stretch>
            <a:fillRect/>
          </a:stretch>
        </p:blipFill>
        <p:spPr>
          <a:xfrm rot="1377994">
            <a:off x="4421423" y="2007031"/>
            <a:ext cx="301156" cy="383684"/>
          </a:xfrm>
          <a:prstGeom prst="rect">
            <a:avLst/>
          </a:prstGeom>
          <a:noFill/>
          <a:ln>
            <a:noFill/>
          </a:ln>
        </p:spPr>
      </p:pic>
      <p:sp>
        <p:nvSpPr>
          <p:cNvPr id="119" name="Google Shape;119;p26"/>
          <p:cNvSpPr txBox="1"/>
          <p:nvPr/>
        </p:nvSpPr>
        <p:spPr>
          <a:xfrm>
            <a:off x="3665925" y="2888350"/>
            <a:ext cx="47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3 * 10,000km Space Elevators on Equator</a:t>
            </a:r>
            <a:endParaRPr sz="1200">
              <a:solidFill>
                <a:schemeClr val="dk2"/>
              </a:solidFill>
            </a:endParaRPr>
          </a:p>
        </p:txBody>
      </p:sp>
      <p:sp>
        <p:nvSpPr>
          <p:cNvPr id="120" name="Google Shape;120;p26"/>
          <p:cNvSpPr txBox="1"/>
          <p:nvPr/>
        </p:nvSpPr>
        <p:spPr>
          <a:xfrm>
            <a:off x="2231450" y="1430600"/>
            <a:ext cx="4403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Rocket Launches from only available 10 interplanetary sites</a:t>
            </a:r>
            <a:endParaRPr sz="1200">
              <a:solidFill>
                <a:schemeClr val="dk2"/>
              </a:solidFill>
            </a:endParaRPr>
          </a:p>
        </p:txBody>
      </p:sp>
      <p:sp>
        <p:nvSpPr>
          <p:cNvPr id="121" name="Google Shape;121;p26"/>
          <p:cNvSpPr txBox="1"/>
          <p:nvPr/>
        </p:nvSpPr>
        <p:spPr>
          <a:xfrm>
            <a:off x="3038950" y="1852450"/>
            <a:ext cx="4770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Falcon Heavy</a:t>
            </a:r>
            <a:endParaRPr sz="800">
              <a:solidFill>
                <a:schemeClr val="dk2"/>
              </a:solidFill>
            </a:endParaRPr>
          </a:p>
        </p:txBody>
      </p:sp>
      <p:pic>
        <p:nvPicPr>
          <p:cNvPr id="122" name="Google Shape;122;p26" title="ChatGPT Image 2026年2月10日 23_17_07.png"/>
          <p:cNvPicPr preferRelativeResize="0"/>
          <p:nvPr/>
        </p:nvPicPr>
        <p:blipFill>
          <a:blip r:embed="rId6">
            <a:alphaModFix/>
          </a:blip>
          <a:stretch>
            <a:fillRect/>
          </a:stretch>
        </p:blipFill>
        <p:spPr>
          <a:xfrm>
            <a:off x="6634850" y="1252648"/>
            <a:ext cx="426950" cy="284628"/>
          </a:xfrm>
          <a:prstGeom prst="rect">
            <a:avLst/>
          </a:prstGeom>
          <a:noFill/>
          <a:ln>
            <a:noFill/>
          </a:ln>
        </p:spPr>
      </p:pic>
      <p:sp>
        <p:nvSpPr>
          <p:cNvPr id="123" name="Google Shape;123;p26"/>
          <p:cNvSpPr txBox="1"/>
          <p:nvPr/>
        </p:nvSpPr>
        <p:spPr>
          <a:xfrm>
            <a:off x="6634850" y="1430600"/>
            <a:ext cx="1428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100,000 people Moon Colony</a:t>
            </a:r>
            <a:endParaRPr sz="1200">
              <a:solidFill>
                <a:schemeClr val="lt1"/>
              </a:solidFill>
            </a:endParaRPr>
          </a:p>
        </p:txBody>
      </p:sp>
      <p:sp>
        <p:nvSpPr>
          <p:cNvPr id="124" name="Google Shape;124;p26"/>
          <p:cNvSpPr txBox="1"/>
          <p:nvPr/>
        </p:nvSpPr>
        <p:spPr>
          <a:xfrm>
            <a:off x="5834150" y="445025"/>
            <a:ext cx="30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100 million metric tons of material needed</a:t>
            </a:r>
            <a:endParaRPr sz="1200">
              <a:solidFill>
                <a:schemeClr val="dk2"/>
              </a:solidFill>
            </a:endParaRPr>
          </a:p>
        </p:txBody>
      </p:sp>
      <p:sp>
        <p:nvSpPr>
          <p:cNvPr id="125" name="Google Shape;125;p26"/>
          <p:cNvSpPr txBox="1"/>
          <p:nvPr/>
        </p:nvSpPr>
        <p:spPr>
          <a:xfrm>
            <a:off x="6508800" y="2067075"/>
            <a:ext cx="2323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Each year x amount of water needed to sustain the colony</a:t>
            </a:r>
            <a:endParaRPr sz="1200">
              <a:solidFill>
                <a:schemeClr val="dk2"/>
              </a:solidFill>
            </a:endParaRPr>
          </a:p>
        </p:txBody>
      </p:sp>
      <p:sp>
        <p:nvSpPr>
          <p:cNvPr id="126" name="Google Shape;126;p26"/>
          <p:cNvSpPr/>
          <p:nvPr/>
        </p:nvSpPr>
        <p:spPr>
          <a:xfrm rot="4192781">
            <a:off x="4162834" y="2208046"/>
            <a:ext cx="235470" cy="144352"/>
          </a:xfrm>
          <a:prstGeom prst="triangle">
            <a:avLst>
              <a:gd fmla="val 5320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7" name="Google Shape;127;p26" title="rocket-svgrepo-com.png"/>
          <p:cNvPicPr preferRelativeResize="0"/>
          <p:nvPr/>
        </p:nvPicPr>
        <p:blipFill>
          <a:blip r:embed="rId3">
            <a:alphaModFix/>
          </a:blip>
          <a:stretch>
            <a:fillRect/>
          </a:stretch>
        </p:blipFill>
        <p:spPr>
          <a:xfrm rot="1377994">
            <a:off x="2986323" y="2152281"/>
            <a:ext cx="301156" cy="383684"/>
          </a:xfrm>
          <a:prstGeom prst="rect">
            <a:avLst/>
          </a:prstGeom>
          <a:noFill/>
          <a:ln>
            <a:noFill/>
          </a:ln>
        </p:spPr>
      </p:pic>
      <p:sp>
        <p:nvSpPr>
          <p:cNvPr id="128" name="Google Shape;128;p26"/>
          <p:cNvSpPr/>
          <p:nvPr/>
        </p:nvSpPr>
        <p:spPr>
          <a:xfrm rot="-1348766">
            <a:off x="481423" y="1615982"/>
            <a:ext cx="235385" cy="144348"/>
          </a:xfrm>
          <a:prstGeom prst="triangle">
            <a:avLst>
              <a:gd fmla="val 5320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6"/>
          <p:cNvSpPr/>
          <p:nvPr/>
        </p:nvSpPr>
        <p:spPr>
          <a:xfrm rot="-4385">
            <a:off x="1669074" y="1481959"/>
            <a:ext cx="235200" cy="144300"/>
          </a:xfrm>
          <a:prstGeom prst="triangle">
            <a:avLst>
              <a:gd fmla="val 5320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26"/>
          <p:cNvSpPr txBox="1"/>
          <p:nvPr/>
        </p:nvSpPr>
        <p:spPr>
          <a:xfrm>
            <a:off x="3665913" y="2159463"/>
            <a:ext cx="61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highlight>
                  <a:schemeClr val="lt1"/>
                </a:highlight>
              </a:rPr>
              <a:t>Apex</a:t>
            </a:r>
            <a:endParaRPr sz="1200">
              <a:solidFill>
                <a:schemeClr val="dk2"/>
              </a:solidFill>
              <a:highlight>
                <a:schemeClr val="lt1"/>
              </a:highlight>
            </a:endParaRPr>
          </a:p>
        </p:txBody>
      </p:sp>
      <p:sp>
        <p:nvSpPr>
          <p:cNvPr id="131" name="Google Shape;131;p26"/>
          <p:cNvSpPr txBox="1"/>
          <p:nvPr/>
        </p:nvSpPr>
        <p:spPr>
          <a:xfrm>
            <a:off x="3665925" y="3352150"/>
            <a:ext cx="5166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Question: Determine an </a:t>
            </a:r>
            <a:r>
              <a:rPr lang="en" sz="1200" u="sng">
                <a:solidFill>
                  <a:schemeClr val="dk2"/>
                </a:solidFill>
              </a:rPr>
              <a:t>optimal</a:t>
            </a:r>
            <a:r>
              <a:rPr lang="en" sz="1200">
                <a:solidFill>
                  <a:schemeClr val="dk2"/>
                </a:solidFill>
              </a:rPr>
              <a:t> strategy (rocket-only, elevator-only, or hybrid) that balances </a:t>
            </a:r>
            <a:r>
              <a:rPr lang="en" sz="1200" u="sng">
                <a:solidFill>
                  <a:schemeClr val="dk2"/>
                </a:solidFill>
              </a:rPr>
              <a:t>cost, timeline, and environmental impact</a:t>
            </a:r>
            <a:r>
              <a:rPr lang="en" sz="1200">
                <a:solidFill>
                  <a:schemeClr val="dk2"/>
                </a:solidFill>
              </a:rPr>
              <a:t>, while maintaining </a:t>
            </a:r>
            <a:r>
              <a:rPr lang="en" sz="1200" u="sng">
                <a:solidFill>
                  <a:schemeClr val="dk2"/>
                </a:solidFill>
              </a:rPr>
              <a:t>resilience</a:t>
            </a:r>
            <a:r>
              <a:rPr lang="en" sz="1200">
                <a:solidFill>
                  <a:schemeClr val="dk2"/>
                </a:solidFill>
              </a:rPr>
              <a:t> against system failures.</a:t>
            </a:r>
            <a:endParaRPr sz="1200">
              <a:solidFill>
                <a:schemeClr val="dk2"/>
              </a:solidFill>
            </a:endParaRPr>
          </a:p>
        </p:txBody>
      </p:sp>
      <p:sp>
        <p:nvSpPr>
          <p:cNvPr id="132" name="Google Shape;132;p26"/>
          <p:cNvSpPr txBox="1"/>
          <p:nvPr/>
        </p:nvSpPr>
        <p:spPr>
          <a:xfrm>
            <a:off x="1267775" y="1039513"/>
            <a:ext cx="4403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*nothing is to scale; only strictly interpret it as an infographic</a:t>
            </a:r>
            <a:endParaRPr sz="12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Related Literature</a:t>
            </a:r>
            <a:endParaRPr/>
          </a:p>
        </p:txBody>
      </p:sp>
      <p:sp>
        <p:nvSpPr>
          <p:cNvPr id="138" name="Google Shape;138;p27"/>
          <p:cNvSpPr txBox="1"/>
          <p:nvPr>
            <p:ph idx="1" type="body"/>
          </p:nvPr>
        </p:nvSpPr>
        <p:spPr>
          <a:xfrm>
            <a:off x="241250" y="1140725"/>
            <a:ext cx="28941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600"/>
              <a:t>ISEC (Decade-long paper)</a:t>
            </a:r>
            <a:endParaRPr sz="1600"/>
          </a:p>
          <a:p>
            <a:pPr indent="0" lvl="0" marL="0" rtl="0" algn="ctr">
              <a:spcBef>
                <a:spcPts val="1200"/>
              </a:spcBef>
              <a:spcAft>
                <a:spcPts val="0"/>
              </a:spcAft>
              <a:buNone/>
            </a:pPr>
            <a:r>
              <a:t/>
            </a:r>
            <a:endParaRPr sz="1600"/>
          </a:p>
          <a:p>
            <a:pPr indent="-292100" lvl="0" marL="457200" rtl="0" algn="l">
              <a:lnSpc>
                <a:spcPct val="120000"/>
              </a:lnSpc>
              <a:spcBef>
                <a:spcPts val="1200"/>
              </a:spcBef>
              <a:spcAft>
                <a:spcPts val="0"/>
              </a:spcAft>
              <a:buClr>
                <a:schemeClr val="dk1"/>
              </a:buClr>
              <a:buSzPts val="1000"/>
              <a:buChar char="-"/>
            </a:pPr>
            <a:r>
              <a:rPr lang="en" sz="1000">
                <a:solidFill>
                  <a:schemeClr val="dk1"/>
                </a:solidFill>
                <a:highlight>
                  <a:srgbClr val="FFFFFF"/>
                </a:highlight>
              </a:rPr>
              <a:t>International Space Elevator Consortium</a:t>
            </a:r>
            <a:endParaRPr sz="1000">
              <a:solidFill>
                <a:schemeClr val="dk1"/>
              </a:solidFill>
              <a:highlight>
                <a:srgbClr val="FFFFFF"/>
              </a:highlight>
            </a:endParaRPr>
          </a:p>
          <a:p>
            <a:pPr indent="-292100" lvl="0" marL="457200" rtl="0" algn="l">
              <a:lnSpc>
                <a:spcPct val="120000"/>
              </a:lnSpc>
              <a:spcBef>
                <a:spcPts val="0"/>
              </a:spcBef>
              <a:spcAft>
                <a:spcPts val="0"/>
              </a:spcAft>
              <a:buClr>
                <a:schemeClr val="dk1"/>
              </a:buClr>
              <a:buSzPts val="1000"/>
              <a:buChar char="-"/>
            </a:pPr>
            <a:r>
              <a:rPr lang="en" sz="1000">
                <a:solidFill>
                  <a:schemeClr val="dk1"/>
                </a:solidFill>
                <a:highlight>
                  <a:srgbClr val="FFFFFF"/>
                </a:highlight>
              </a:rPr>
              <a:t>Established basic guidelines for where to construct space elevators and delivery process</a:t>
            </a:r>
            <a:endParaRPr sz="1000">
              <a:solidFill>
                <a:schemeClr val="dk1"/>
              </a:solidFill>
              <a:highlight>
                <a:srgbClr val="FFFFFF"/>
              </a:highlight>
            </a:endParaRPr>
          </a:p>
          <a:p>
            <a:pPr indent="-292100" lvl="0" marL="457200" rtl="0" algn="l">
              <a:lnSpc>
                <a:spcPct val="120000"/>
              </a:lnSpc>
              <a:spcBef>
                <a:spcPts val="0"/>
              </a:spcBef>
              <a:spcAft>
                <a:spcPts val="0"/>
              </a:spcAft>
              <a:buClr>
                <a:schemeClr val="dk1"/>
              </a:buClr>
              <a:buSzPts val="1000"/>
              <a:buChar char="-"/>
            </a:pPr>
            <a:r>
              <a:rPr lang="en" sz="1000">
                <a:solidFill>
                  <a:schemeClr val="dk1"/>
                </a:solidFill>
                <a:highlight>
                  <a:srgbClr val="FFFFFF"/>
                </a:highlight>
              </a:rPr>
              <a:t>Confirmed tether material and expected full operational capacity (79 tons) [1]</a:t>
            </a:r>
            <a:endParaRPr sz="1000">
              <a:solidFill>
                <a:schemeClr val="dk1"/>
              </a:solidFill>
              <a:highlight>
                <a:srgbClr val="FFFFFF"/>
              </a:highlight>
            </a:endParaRPr>
          </a:p>
          <a:p>
            <a:pPr indent="-292100" lvl="0" marL="457200" rtl="0" algn="l">
              <a:lnSpc>
                <a:spcPct val="120000"/>
              </a:lnSpc>
              <a:spcBef>
                <a:spcPts val="0"/>
              </a:spcBef>
              <a:spcAft>
                <a:spcPts val="0"/>
              </a:spcAft>
              <a:buClr>
                <a:schemeClr val="dk1"/>
              </a:buClr>
              <a:buSzPts val="1000"/>
              <a:buChar char="-"/>
            </a:pPr>
            <a:r>
              <a:rPr lang="en" sz="1000">
                <a:solidFill>
                  <a:schemeClr val="dk1"/>
                </a:solidFill>
                <a:highlight>
                  <a:srgbClr val="FFFFFF"/>
                </a:highlight>
              </a:rPr>
              <a:t>Acknowledged that Space Elevators are completely green and we can release nuclear wastes into space</a:t>
            </a:r>
            <a:endParaRPr sz="1000">
              <a:solidFill>
                <a:schemeClr val="dk1"/>
              </a:solidFill>
              <a:highlight>
                <a:srgbClr val="FFFFFF"/>
              </a:highlight>
            </a:endParaRPr>
          </a:p>
        </p:txBody>
      </p:sp>
      <p:sp>
        <p:nvSpPr>
          <p:cNvPr id="139" name="Google Shape;139;p27"/>
          <p:cNvSpPr txBox="1"/>
          <p:nvPr>
            <p:ph idx="1" type="body"/>
          </p:nvPr>
        </p:nvSpPr>
        <p:spPr>
          <a:xfrm>
            <a:off x="3135350" y="1140725"/>
            <a:ext cx="2700900" cy="1230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600"/>
              <a:t>Space Elevator Mechanism</a:t>
            </a:r>
            <a:endParaRPr sz="1000">
              <a:solidFill>
                <a:schemeClr val="dk1"/>
              </a:solidFill>
              <a:highlight>
                <a:srgbClr val="FFFFFF"/>
              </a:highlight>
            </a:endParaRPr>
          </a:p>
          <a:p>
            <a:pPr indent="-292100" lvl="0" marL="457200" rtl="0" algn="l">
              <a:lnSpc>
                <a:spcPct val="120000"/>
              </a:lnSpc>
              <a:spcBef>
                <a:spcPts val="1200"/>
              </a:spcBef>
              <a:spcAft>
                <a:spcPts val="0"/>
              </a:spcAft>
              <a:buClr>
                <a:schemeClr val="dk1"/>
              </a:buClr>
              <a:buSzPts val="1000"/>
              <a:buChar char="-"/>
            </a:pPr>
            <a:r>
              <a:rPr lang="en" sz="1000">
                <a:solidFill>
                  <a:schemeClr val="dk1"/>
                </a:solidFill>
                <a:highlight>
                  <a:srgbClr val="FFFFFF"/>
                </a:highlight>
              </a:rPr>
              <a:t>Investigated for a specific tether material (carbon nanotube) whether swaying is a concern</a:t>
            </a:r>
            <a:endParaRPr/>
          </a:p>
        </p:txBody>
      </p:sp>
      <p:sp>
        <p:nvSpPr>
          <p:cNvPr id="140" name="Google Shape;140;p27"/>
          <p:cNvSpPr txBox="1"/>
          <p:nvPr>
            <p:ph idx="1" type="body"/>
          </p:nvPr>
        </p:nvSpPr>
        <p:spPr>
          <a:xfrm>
            <a:off x="5836250" y="1140725"/>
            <a:ext cx="28941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600"/>
              <a:t>NASA’s reports on Moon Colony [10]</a:t>
            </a:r>
            <a:endParaRPr sz="1600"/>
          </a:p>
          <a:p>
            <a:pPr indent="0" lvl="0" marL="0" rtl="0" algn="l">
              <a:lnSpc>
                <a:spcPct val="120000"/>
              </a:lnSpc>
              <a:spcBef>
                <a:spcPts val="1200"/>
              </a:spcBef>
              <a:spcAft>
                <a:spcPts val="0"/>
              </a:spcAft>
              <a:buNone/>
            </a:pPr>
            <a:r>
              <a:t/>
            </a:r>
            <a:endParaRPr sz="1000">
              <a:solidFill>
                <a:schemeClr val="dk1"/>
              </a:solidFill>
              <a:highlight>
                <a:srgbClr val="FFFFFF"/>
              </a:highlight>
            </a:endParaRPr>
          </a:p>
          <a:p>
            <a:pPr indent="0" lvl="0" marL="0" rtl="0" algn="l">
              <a:lnSpc>
                <a:spcPct val="120000"/>
              </a:lnSpc>
              <a:spcBef>
                <a:spcPts val="1200"/>
              </a:spcBef>
              <a:spcAft>
                <a:spcPts val="0"/>
              </a:spcAft>
              <a:buNone/>
            </a:pPr>
            <a:r>
              <a:t/>
            </a:r>
            <a:endParaRPr sz="1000">
              <a:solidFill>
                <a:schemeClr val="dk1"/>
              </a:solidFill>
              <a:highlight>
                <a:srgbClr val="FFFFFF"/>
              </a:highlight>
            </a:endParaRPr>
          </a:p>
          <a:p>
            <a:pPr indent="0" lvl="0" marL="0" rtl="0" algn="l">
              <a:lnSpc>
                <a:spcPct val="120000"/>
              </a:lnSpc>
              <a:spcBef>
                <a:spcPts val="1200"/>
              </a:spcBef>
              <a:spcAft>
                <a:spcPts val="0"/>
              </a:spcAft>
              <a:buNone/>
            </a:pPr>
            <a:r>
              <a:t/>
            </a:r>
            <a:endParaRPr sz="1000">
              <a:solidFill>
                <a:schemeClr val="dk1"/>
              </a:solidFill>
              <a:highlight>
                <a:srgbClr val="FFFFFF"/>
              </a:highlight>
            </a:endParaRPr>
          </a:p>
          <a:p>
            <a:pPr indent="0" lvl="0" marL="0" rtl="0" algn="l">
              <a:lnSpc>
                <a:spcPct val="120000"/>
              </a:lnSpc>
              <a:spcBef>
                <a:spcPts val="1200"/>
              </a:spcBef>
              <a:spcAft>
                <a:spcPts val="0"/>
              </a:spcAft>
              <a:buNone/>
            </a:pPr>
            <a:r>
              <a:t/>
            </a:r>
            <a:endParaRPr sz="1000">
              <a:solidFill>
                <a:schemeClr val="dk1"/>
              </a:solidFill>
              <a:highlight>
                <a:srgbClr val="FFFFFF"/>
              </a:highlight>
            </a:endParaRPr>
          </a:p>
          <a:p>
            <a:pPr indent="-292100" lvl="0" marL="457200" rtl="0" algn="l">
              <a:lnSpc>
                <a:spcPct val="120000"/>
              </a:lnSpc>
              <a:spcBef>
                <a:spcPts val="1200"/>
              </a:spcBef>
              <a:spcAft>
                <a:spcPts val="0"/>
              </a:spcAft>
              <a:buClr>
                <a:schemeClr val="dk1"/>
              </a:buClr>
              <a:buSzPts val="1000"/>
              <a:buChar char="-"/>
            </a:pPr>
            <a:r>
              <a:rPr lang="en" sz="1000">
                <a:solidFill>
                  <a:schemeClr val="dk1"/>
                </a:solidFill>
                <a:highlight>
                  <a:srgbClr val="FFFFFF"/>
                </a:highlight>
              </a:rPr>
              <a:t>1977 Studies on Various topics related to moon settlement, including designs and sustainability analysis of (suggested 10,000 people) Moon Colony, local extraction/mining processes for metals and oxygen, etc.</a:t>
            </a:r>
            <a:endParaRPr sz="1000">
              <a:solidFill>
                <a:schemeClr val="dk1"/>
              </a:solidFill>
              <a:highlight>
                <a:srgbClr val="FFFFFF"/>
              </a:highlight>
            </a:endParaRPr>
          </a:p>
        </p:txBody>
      </p:sp>
      <p:pic>
        <p:nvPicPr>
          <p:cNvPr id="141" name="Google Shape;141;p27" title="Screenshot 2026-02-10 at 10.49.42 PM.png"/>
          <p:cNvPicPr preferRelativeResize="0"/>
          <p:nvPr/>
        </p:nvPicPr>
        <p:blipFill>
          <a:blip r:embed="rId3">
            <a:alphaModFix/>
          </a:blip>
          <a:stretch>
            <a:fillRect/>
          </a:stretch>
        </p:blipFill>
        <p:spPr>
          <a:xfrm>
            <a:off x="1113275" y="1562275"/>
            <a:ext cx="1150049" cy="510175"/>
          </a:xfrm>
          <a:prstGeom prst="rect">
            <a:avLst/>
          </a:prstGeom>
          <a:noFill/>
          <a:ln>
            <a:noFill/>
          </a:ln>
        </p:spPr>
      </p:pic>
      <p:pic>
        <p:nvPicPr>
          <p:cNvPr id="142" name="Google Shape;142;p27" title="Screenshot 2026-02-10 at 11.05.49 PM.png"/>
          <p:cNvPicPr preferRelativeResize="0"/>
          <p:nvPr/>
        </p:nvPicPr>
        <p:blipFill>
          <a:blip r:embed="rId4">
            <a:alphaModFix/>
          </a:blip>
          <a:stretch>
            <a:fillRect/>
          </a:stretch>
        </p:blipFill>
        <p:spPr>
          <a:xfrm>
            <a:off x="6268955" y="1797197"/>
            <a:ext cx="2563352" cy="1349151"/>
          </a:xfrm>
          <a:prstGeom prst="rect">
            <a:avLst/>
          </a:prstGeom>
          <a:noFill/>
          <a:ln>
            <a:noFill/>
          </a:ln>
        </p:spPr>
      </p:pic>
      <p:sp>
        <p:nvSpPr>
          <p:cNvPr id="143" name="Google Shape;143;p27"/>
          <p:cNvSpPr txBox="1"/>
          <p:nvPr>
            <p:ph idx="1" type="body"/>
          </p:nvPr>
        </p:nvSpPr>
        <p:spPr>
          <a:xfrm>
            <a:off x="3218038" y="2494025"/>
            <a:ext cx="2700900" cy="1997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600"/>
              <a:t>NASA’s study on Biomass Production in Extreme Circumstances [8]</a:t>
            </a:r>
            <a:endParaRPr sz="1000">
              <a:solidFill>
                <a:schemeClr val="dk1"/>
              </a:solidFill>
              <a:highlight>
                <a:srgbClr val="FFFFFF"/>
              </a:highlight>
            </a:endParaRPr>
          </a:p>
          <a:p>
            <a:pPr indent="-292100" lvl="0" marL="457200" rtl="0" algn="l">
              <a:lnSpc>
                <a:spcPct val="120000"/>
              </a:lnSpc>
              <a:spcBef>
                <a:spcPts val="1200"/>
              </a:spcBef>
              <a:spcAft>
                <a:spcPts val="0"/>
              </a:spcAft>
              <a:buClr>
                <a:schemeClr val="dk1"/>
              </a:buClr>
              <a:buSzPts val="1000"/>
              <a:buChar char="-"/>
            </a:pPr>
            <a:r>
              <a:rPr lang="en" sz="1000">
                <a:solidFill>
                  <a:schemeClr val="dk1"/>
                </a:solidFill>
                <a:highlight>
                  <a:srgbClr val="FFFFFF"/>
                </a:highlight>
              </a:rPr>
              <a:t>Can achieve 20 g/m^2/day production and high water recovery rate through condensed evapotranspiration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Assumptions and Justifications</a:t>
            </a:r>
            <a:endParaRPr/>
          </a:p>
        </p:txBody>
      </p:sp>
      <p:sp>
        <p:nvSpPr>
          <p:cNvPr id="149" name="Google Shape;149;p28"/>
          <p:cNvSpPr txBox="1"/>
          <p:nvPr>
            <p:ph idx="1" type="body"/>
          </p:nvPr>
        </p:nvSpPr>
        <p:spPr>
          <a:xfrm>
            <a:off x="411575" y="1017725"/>
            <a:ext cx="8420700" cy="3646500"/>
          </a:xfrm>
          <a:prstGeom prst="rect">
            <a:avLst/>
          </a:prstGeom>
          <a:noFill/>
          <a:ln>
            <a:noFill/>
          </a:ln>
        </p:spPr>
        <p:txBody>
          <a:bodyPr anchorCtr="0" anchor="t" bIns="91425" lIns="91425" spcFirstLastPara="1" rIns="91425" wrap="square" tIns="91425">
            <a:spAutoFit/>
          </a:bodyPr>
          <a:lstStyle/>
          <a:p>
            <a:pPr indent="0" lvl="0" marL="114300" rtl="0" algn="l">
              <a:lnSpc>
                <a:spcPct val="115000"/>
              </a:lnSpc>
              <a:spcBef>
                <a:spcPts val="0"/>
              </a:spcBef>
              <a:spcAft>
                <a:spcPts val="0"/>
              </a:spcAft>
              <a:buSzPts val="1800"/>
              <a:buNone/>
            </a:pPr>
            <a:r>
              <a:rPr lang="en" sz="1100"/>
              <a:t>1. Assumption: From 2050 onward, logistics capacities KE and KR remain constant over time, except when interrupted by modeled stochastic failures.</a:t>
            </a:r>
            <a:endParaRPr/>
          </a:p>
          <a:p>
            <a:pPr indent="0" lvl="0" marL="114300" rtl="0" algn="l">
              <a:lnSpc>
                <a:spcPct val="115000"/>
              </a:lnSpc>
              <a:spcBef>
                <a:spcPts val="0"/>
              </a:spcBef>
              <a:spcAft>
                <a:spcPts val="0"/>
              </a:spcAft>
              <a:buSzPts val="1800"/>
              <a:buNone/>
            </a:pPr>
            <a:r>
              <a:rPr lang="en" sz="1100"/>
              <a:t>Justification: This allows us to focus on long-run capacity constraints without introducing speculative technology ramp-up or degradation dynamics.</a:t>
            </a:r>
            <a:endParaRPr/>
          </a:p>
          <a:p>
            <a:pPr indent="0" lvl="0" marL="114300" rtl="0" algn="l">
              <a:lnSpc>
                <a:spcPct val="115000"/>
              </a:lnSpc>
              <a:spcBef>
                <a:spcPts val="0"/>
              </a:spcBef>
              <a:spcAft>
                <a:spcPts val="0"/>
              </a:spcAft>
              <a:buSzPts val="1800"/>
              <a:buNone/>
            </a:pPr>
            <a:r>
              <a:t/>
            </a:r>
            <a:endParaRPr sz="1000"/>
          </a:p>
          <a:p>
            <a:pPr indent="0" lvl="0" marL="114300" rtl="0" algn="l">
              <a:lnSpc>
                <a:spcPct val="115000"/>
              </a:lnSpc>
              <a:spcBef>
                <a:spcPts val="0"/>
              </a:spcBef>
              <a:spcAft>
                <a:spcPts val="0"/>
              </a:spcAft>
              <a:buSzPts val="1800"/>
              <a:buNone/>
            </a:pPr>
            <a:r>
              <a:rPr lang="en" sz="1100"/>
              <a:t>2. Assumption: Unit transport costs are linear and time-invariant, and all costs are measured in constant dollars (no economies of scale, inflation, or discounting).</a:t>
            </a:r>
            <a:br>
              <a:rPr lang="en" sz="1100"/>
            </a:br>
            <a:r>
              <a:rPr lang="en" sz="1100"/>
              <a:t>Justification: This isolates the cost–time tradeoff implied by physical constraints and avoids introducing uncertain macroeconomic assumptions.</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3. Assumption: Atmospheric and orbital conditions are constant, and launch sites are always available unless a stochastic "failure event" is triggered.</a:t>
            </a:r>
            <a:br>
              <a:rPr lang="en" sz="1100"/>
            </a:br>
            <a:r>
              <a:rPr lang="en" sz="1100"/>
              <a:t>Justification: The century-long scale of the project means short-term local delays average out. Major system disruptions can be handled through our Monte Carlo simulation.</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4. Assumption: The average ∆v required for lunar transit is a constant 15 km/s. Justification: This follows the Hohmann transfer orbit principles. It allows us to better account for the Earth’s rotational assist at the Apex Anchor and compares the latitudinal ∆v difference at different launch sites.</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Assumptions and Justifications</a:t>
            </a:r>
            <a:endParaRPr/>
          </a:p>
        </p:txBody>
      </p:sp>
      <p:sp>
        <p:nvSpPr>
          <p:cNvPr id="155" name="Google Shape;155;p29"/>
          <p:cNvSpPr txBox="1"/>
          <p:nvPr>
            <p:ph idx="1" type="body"/>
          </p:nvPr>
        </p:nvSpPr>
        <p:spPr>
          <a:xfrm>
            <a:off x="411575" y="1017725"/>
            <a:ext cx="8420700" cy="3080100"/>
          </a:xfrm>
          <a:prstGeom prst="rect">
            <a:avLst/>
          </a:prstGeom>
          <a:noFill/>
          <a:ln>
            <a:noFill/>
          </a:ln>
        </p:spPr>
        <p:txBody>
          <a:bodyPr anchorCtr="0" anchor="t" bIns="91425" lIns="91425" spcFirstLastPara="1" rIns="91425" wrap="square" tIns="91425">
            <a:spAutoFit/>
          </a:bodyPr>
          <a:lstStyle/>
          <a:p>
            <a:pPr indent="0" lvl="0" marL="114300" rtl="0" algn="l">
              <a:lnSpc>
                <a:spcPct val="115000"/>
              </a:lnSpc>
              <a:spcBef>
                <a:spcPts val="0"/>
              </a:spcBef>
              <a:spcAft>
                <a:spcPts val="0"/>
              </a:spcAft>
              <a:buSzPts val="1800"/>
              <a:buNone/>
            </a:pPr>
            <a:r>
              <a:rPr lang="en" sz="1100"/>
              <a:t>4. Assumption: The average ∆v required for lunar transit is a constant 15 km/s. Justification: This follows the Hohmann transfer orbit principles. It allows us to better account for the Earth’s rotational assist at the Apex Anchor and compares the latitudinal ∆v difference at different launch sites.</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5. Assumption: The fuel-to-payload efficiency ratio at the Apex Anchor is identical to that on the Earth’s surface.</a:t>
            </a:r>
            <a:br>
              <a:rPr lang="en" sz="1100"/>
            </a:br>
            <a:r>
              <a:rPr lang="en" sz="1100"/>
              <a:t>Justification: This allows us to apply the cost coefficient C∆v,1 across all three logistic plans, providing a more efficient estimation.</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6. Assumption: The lunar colony operates as a near-closed-loop regenerative system with high water recovery rates and agricultural productivity.</a:t>
            </a:r>
            <a:br>
              <a:rPr lang="en" sz="1100"/>
            </a:br>
            <a:r>
              <a:rPr lang="en" sz="1100"/>
              <a:t>Justification: High efficiency in production and recycling is a prerequisite for a moon colony of 100,000 people. These figures align with NASA’s Biomass Production Chamber (BPC) benchmarks and current ISS life-support performance.</a:t>
            </a:r>
            <a:endParaRPr sz="1000"/>
          </a:p>
          <a:p>
            <a:pPr indent="0" lvl="0" marL="114300" rtl="0" algn="l">
              <a:lnSpc>
                <a:spcPct val="115000"/>
              </a:lnSpc>
              <a:spcBef>
                <a:spcPts val="0"/>
              </a:spcBef>
              <a:spcAft>
                <a:spcPts val="0"/>
              </a:spcAft>
              <a:buSzPts val="1800"/>
              <a:buNone/>
            </a:pPr>
            <a:r>
              <a:t/>
            </a:r>
            <a:endParaRPr sz="1100"/>
          </a:p>
          <a:p>
            <a:pPr indent="0" lvl="0" marL="114300" rtl="0" algn="l">
              <a:lnSpc>
                <a:spcPct val="115000"/>
              </a:lnSpc>
              <a:spcBef>
                <a:spcPts val="0"/>
              </a:spcBef>
              <a:spcAft>
                <a:spcPts val="0"/>
              </a:spcAft>
              <a:buSzPts val="1800"/>
              <a:buNone/>
            </a:pPr>
            <a:r>
              <a:rPr lang="en" sz="1100"/>
              <a:t>7. Assumption: By 2050, the fuel efficiency of going to the Moon is the same as that of reaching LEO at present.</a:t>
            </a:r>
            <a:br>
              <a:rPr lang="en" sz="1100"/>
            </a:br>
            <a:r>
              <a:rPr lang="en" sz="1100"/>
              <a:t>Justification: This assumption is based on the logarithmic maturity of aerospace technologies. Historically, the cost and energy efficiency of new frontiers stabilize after three decades of commercialization.</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61" name="Google Shape;161;p30"/>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118"/>
              <a:buNone/>
            </a:pPr>
            <a:r>
              <a:rPr lang="en">
                <a:solidFill>
                  <a:schemeClr val="dk1"/>
                </a:solidFill>
              </a:rPr>
              <a:t>Scenario A. Only Rockets</a:t>
            </a:r>
            <a:endParaRPr>
              <a:solidFill>
                <a:schemeClr val="dk1"/>
              </a:solidFill>
            </a:endParaRPr>
          </a:p>
        </p:txBody>
      </p:sp>
      <p:sp>
        <p:nvSpPr>
          <p:cNvPr id="162" name="Google Shape;162;p30"/>
          <p:cNvSpPr txBox="1"/>
          <p:nvPr/>
        </p:nvSpPr>
        <p:spPr>
          <a:xfrm>
            <a:off x="311699" y="1446900"/>
            <a:ext cx="8636100" cy="2986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metric tons of materials</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Falcon Heavy delivery capacity: 100 metric tons per launch</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Assuming 1 launch from each launch site each day 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 100 / (10*365) ~ 274 years</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Assuming rocket cost breakup as follow</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Assuming a 35% booster loss rate, ~ $795 million/launch. </a:t>
            </a:r>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Cost using rocket = $7.95M/Mt. For 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Mt, this is a total of </a:t>
            </a:r>
            <a:r>
              <a:rPr b="1" i="0" lang="en" sz="1400" u="none" cap="none" strike="noStrike">
                <a:solidFill>
                  <a:schemeClr val="dk2"/>
                </a:solidFill>
                <a:latin typeface="Arial"/>
                <a:ea typeface="Arial"/>
                <a:cs typeface="Arial"/>
                <a:sym typeface="Arial"/>
              </a:rPr>
              <a:t>$795 trillion</a:t>
            </a:r>
            <a:r>
              <a:rPr b="0" i="0" lang="en" sz="1400" u="none" cap="none" strike="noStrike">
                <a:solidFill>
                  <a:schemeClr val="dk2"/>
                </a:solidFill>
                <a:latin typeface="Arial"/>
                <a:ea typeface="Arial"/>
                <a:cs typeface="Arial"/>
                <a:sym typeface="Arial"/>
              </a:rPr>
              <a:t>.</a:t>
            </a:r>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(For future use) assuming  Earth-to-Moon ∆v = 15 km/s, the cost to provide 1 Mt with 1 km/s of ∆v:</a:t>
            </a:r>
            <a:endParaRPr b="0" i="0" sz="1400" u="none" cap="none" strike="noStrike">
              <a:solidFill>
                <a:schemeClr val="dk2"/>
              </a:solidFill>
              <a:latin typeface="Arial"/>
              <a:ea typeface="Arial"/>
              <a:cs typeface="Arial"/>
              <a:sym typeface="Arial"/>
            </a:endParaRPr>
          </a:p>
        </p:txBody>
      </p:sp>
      <p:graphicFrame>
        <p:nvGraphicFramePr>
          <p:cNvPr id="163" name="Google Shape;163;p30"/>
          <p:cNvGraphicFramePr/>
          <p:nvPr/>
        </p:nvGraphicFramePr>
        <p:xfrm>
          <a:off x="844330" y="2479873"/>
          <a:ext cx="3000000" cy="3000000"/>
        </p:xfrm>
        <a:graphic>
          <a:graphicData uri="http://schemas.openxmlformats.org/drawingml/2006/table">
            <a:tbl>
              <a:tblPr bandRow="1">
                <a:noFill/>
                <a:tableStyleId>{29D4047C-DD43-4987-8A32-817CEECD953D}</a:tableStyleId>
              </a:tblPr>
              <a:tblGrid>
                <a:gridCol w="1450425"/>
                <a:gridCol w="1177150"/>
                <a:gridCol w="4859275"/>
              </a:tblGrid>
              <a:tr h="370850">
                <a:tc>
                  <a:txBody>
                    <a:bodyPr/>
                    <a:lstStyle/>
                    <a:p>
                      <a:pPr indent="0" lvl="0" marL="0" marR="0" rtl="0" algn="l">
                        <a:lnSpc>
                          <a:spcPct val="100000"/>
                        </a:lnSpc>
                        <a:spcBef>
                          <a:spcPts val="0"/>
                        </a:spcBef>
                        <a:spcAft>
                          <a:spcPts val="0"/>
                        </a:spcAft>
                        <a:buNone/>
                      </a:pPr>
                      <a:r>
                        <a:rPr lang="en" sz="1100" u="none" cap="none" strike="noStrike">
                          <a:solidFill>
                            <a:srgbClr val="575757"/>
                          </a:solidFill>
                        </a:rPr>
                        <a:t>Manufacture Cost</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$100M/rocket</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The cost of producing one rocket. If the booster is recovered and the rocket can be reused, this cost is saved.</a:t>
                      </a:r>
                      <a:endParaRPr sz="1100" u="none" cap="none" strike="noStrike">
                        <a:solidFill>
                          <a:srgbClr val="575757"/>
                        </a:solidFill>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 sz="1100" u="none" cap="none" strike="noStrike">
                          <a:solidFill>
                            <a:srgbClr val="575757"/>
                          </a:solidFill>
                        </a:rPr>
                        <a:t>Operational Cost</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$60M/launch</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The fixed logistic and personnel cost of each launch.</a:t>
                      </a:r>
                      <a:endParaRPr sz="1100" u="none" cap="none" strike="noStrike">
                        <a:solidFill>
                          <a:srgbClr val="575757"/>
                        </a:solidFill>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 sz="1100" u="none" cap="none" strike="noStrike">
                          <a:solidFill>
                            <a:srgbClr val="575757"/>
                          </a:solidFill>
                        </a:rPr>
                        <a:t>Cargo Cost</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$7000/kg</a:t>
                      </a:r>
                      <a:endParaRPr sz="1100" u="none" cap="none" strike="noStrike">
                        <a:solidFill>
                          <a:srgbClr val="575757"/>
                        </a:solidFill>
                      </a:endParaRPr>
                    </a:p>
                  </a:txBody>
                  <a:tcPr marT="45725" marB="45725" marR="91450" marL="91450"/>
                </a:tc>
                <a:tc>
                  <a:txBody>
                    <a:bodyPr/>
                    <a:lstStyle/>
                    <a:p>
                      <a:pPr indent="0" lvl="0" marL="0" marR="0" rtl="0" algn="l">
                        <a:lnSpc>
                          <a:spcPct val="100000"/>
                        </a:lnSpc>
                        <a:spcBef>
                          <a:spcPts val="0"/>
                        </a:spcBef>
                        <a:spcAft>
                          <a:spcPts val="0"/>
                        </a:spcAft>
                        <a:buNone/>
                      </a:pPr>
                      <a:r>
                        <a:rPr lang="en" sz="1100" u="none" cap="none" strike="noStrike">
                          <a:solidFill>
                            <a:srgbClr val="575757"/>
                          </a:solidFill>
                        </a:rPr>
                        <a:t>The cost of delivering 1 kg of cargo. Estimated according to Falcon Heavy.</a:t>
                      </a:r>
                      <a:endParaRPr sz="1100" u="none" cap="none" strike="noStrike">
                        <a:solidFill>
                          <a:srgbClr val="575757"/>
                        </a:solidFill>
                      </a:endParaRPr>
                    </a:p>
                  </a:txBody>
                  <a:tcPr marT="45725" marB="45725" marR="91450" marL="91450"/>
                </a:tc>
              </a:tr>
            </a:tbl>
          </a:graphicData>
        </a:graphic>
      </p:graphicFrame>
      <p:pic>
        <p:nvPicPr>
          <p:cNvPr descr="文本&#10;&#10;AI 生成的内容可能不正确。" id="164" name="Google Shape;164;p30"/>
          <p:cNvPicPr preferRelativeResize="0"/>
          <p:nvPr/>
        </p:nvPicPr>
        <p:blipFill rotWithShape="1">
          <a:blip r:embed="rId3">
            <a:alphaModFix/>
          </a:blip>
          <a:srcRect b="0" l="0" r="0" t="0"/>
          <a:stretch/>
        </p:blipFill>
        <p:spPr>
          <a:xfrm>
            <a:off x="769623" y="4362421"/>
            <a:ext cx="3652864" cy="566742"/>
          </a:xfrm>
          <a:prstGeom prst="rect">
            <a:avLst/>
          </a:prstGeom>
          <a:noFill/>
          <a:ln>
            <a:noFill/>
          </a:ln>
        </p:spPr>
      </p:pic>
      <p:sp>
        <p:nvSpPr>
          <p:cNvPr id="165" name="Google Shape;165;p30"/>
          <p:cNvSpPr txBox="1"/>
          <p:nvPr/>
        </p:nvSpPr>
        <p:spPr>
          <a:xfrm>
            <a:off x="4399147" y="4405943"/>
            <a:ext cx="4572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We assume that this value is the same for launching from Apex Anchor and from Earth’s equator.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71" name="Google Shape;171;p31"/>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118"/>
              <a:buNone/>
            </a:pPr>
            <a:r>
              <a:rPr lang="en">
                <a:solidFill>
                  <a:schemeClr val="dk1"/>
                </a:solidFill>
              </a:rPr>
              <a:t>Scenario B. Only Space Elevator</a:t>
            </a:r>
            <a:endParaRPr>
              <a:solidFill>
                <a:schemeClr val="dk1"/>
              </a:solidFill>
            </a:endParaRPr>
          </a:p>
        </p:txBody>
      </p:sp>
      <p:sp>
        <p:nvSpPr>
          <p:cNvPr id="172" name="Google Shape;172;p31"/>
          <p:cNvSpPr txBox="1"/>
          <p:nvPr/>
        </p:nvSpPr>
        <p:spPr>
          <a:xfrm>
            <a:off x="311700" y="1446900"/>
            <a:ext cx="6820500" cy="8313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metric tons of material</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Each of the 3 galactic harbor has a capacity of 179,000 tons/yr</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Takes ~ 186 years to deliver</a:t>
            </a:r>
            <a:endParaRPr b="0" i="0" sz="1400" u="none" cap="none" strike="noStrike">
              <a:solidFill>
                <a:schemeClr val="dk2"/>
              </a:solidFill>
              <a:latin typeface="Arial"/>
              <a:ea typeface="Arial"/>
              <a:cs typeface="Arial"/>
              <a:sym typeface="Arial"/>
            </a:endParaRPr>
          </a:p>
        </p:txBody>
      </p:sp>
      <p:sp>
        <p:nvSpPr>
          <p:cNvPr id="173" name="Google Shape;173;p31"/>
          <p:cNvSpPr txBox="1"/>
          <p:nvPr/>
        </p:nvSpPr>
        <p:spPr>
          <a:xfrm>
            <a:off x="311700" y="2258384"/>
            <a:ext cx="4497000" cy="400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AutoNum type="alphaLcParenBoth"/>
            </a:pPr>
            <a:r>
              <a:rPr b="1" i="0" lang="en" sz="1400" u="none" cap="none" strike="noStrike">
                <a:solidFill>
                  <a:schemeClr val="dk2"/>
                </a:solidFill>
                <a:latin typeface="Arial"/>
                <a:ea typeface="Arial"/>
                <a:cs typeface="Arial"/>
                <a:sym typeface="Arial"/>
              </a:rPr>
              <a:t>Elevator Cost from Earth to Apex Anchor</a:t>
            </a:r>
            <a:endParaRPr b="1" i="0" sz="1400" u="none" cap="none" strike="noStrike">
              <a:solidFill>
                <a:schemeClr val="dk2"/>
              </a:solidFill>
              <a:latin typeface="Arial"/>
              <a:ea typeface="Arial"/>
              <a:cs typeface="Arial"/>
              <a:sym typeface="Arial"/>
            </a:endParaRPr>
          </a:p>
        </p:txBody>
      </p:sp>
      <p:pic>
        <p:nvPicPr>
          <p:cNvPr id="174" name="Google Shape;174;p31" title="Screenshot 2026-02-11 at 12.22.52 AM.png"/>
          <p:cNvPicPr preferRelativeResize="0"/>
          <p:nvPr/>
        </p:nvPicPr>
        <p:blipFill rotWithShape="1">
          <a:blip r:embed="rId3">
            <a:alphaModFix/>
          </a:blip>
          <a:srcRect b="0" l="0" r="0" t="0"/>
          <a:stretch/>
        </p:blipFill>
        <p:spPr>
          <a:xfrm>
            <a:off x="822944" y="2910635"/>
            <a:ext cx="5266849" cy="443650"/>
          </a:xfrm>
          <a:prstGeom prst="rect">
            <a:avLst/>
          </a:prstGeom>
          <a:noFill/>
          <a:ln>
            <a:noFill/>
          </a:ln>
        </p:spPr>
      </p:pic>
      <p:sp>
        <p:nvSpPr>
          <p:cNvPr id="175" name="Google Shape;175;p31"/>
          <p:cNvSpPr txBox="1"/>
          <p:nvPr/>
        </p:nvSpPr>
        <p:spPr>
          <a:xfrm>
            <a:off x="316393" y="2543013"/>
            <a:ext cx="8225100" cy="400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Work needed to lift 1kg from Earth’s surface at the equator to the Apex Anchor:</a:t>
            </a:r>
            <a:endParaRPr b="0" i="0" sz="1400" u="none" cap="none" strike="noStrike">
              <a:solidFill>
                <a:schemeClr val="dk2"/>
              </a:solidFill>
              <a:latin typeface="Arial"/>
              <a:ea typeface="Arial"/>
              <a:cs typeface="Arial"/>
              <a:sym typeface="Arial"/>
            </a:endParaRPr>
          </a:p>
        </p:txBody>
      </p:sp>
      <p:pic>
        <p:nvPicPr>
          <p:cNvPr id="176" name="Google Shape;176;p31" title="Screenshot 2026-02-11 at 12.28.15 AM.png"/>
          <p:cNvPicPr preferRelativeResize="0"/>
          <p:nvPr/>
        </p:nvPicPr>
        <p:blipFill rotWithShape="1">
          <a:blip r:embed="rId4">
            <a:alphaModFix/>
          </a:blip>
          <a:srcRect b="0" l="0" r="0" t="0"/>
          <a:stretch/>
        </p:blipFill>
        <p:spPr>
          <a:xfrm>
            <a:off x="4050017" y="3812802"/>
            <a:ext cx="873121" cy="241150"/>
          </a:xfrm>
          <a:prstGeom prst="rect">
            <a:avLst/>
          </a:prstGeom>
          <a:noFill/>
          <a:ln>
            <a:noFill/>
          </a:ln>
        </p:spPr>
      </p:pic>
      <p:pic>
        <p:nvPicPr>
          <p:cNvPr id="177" name="Google Shape;177;p31" title="Screenshot 2026-02-11 at 12.28.50 AM.png"/>
          <p:cNvPicPr preferRelativeResize="0"/>
          <p:nvPr/>
        </p:nvPicPr>
        <p:blipFill rotWithShape="1">
          <a:blip r:embed="rId5">
            <a:alphaModFix/>
          </a:blip>
          <a:srcRect b="0" l="0" r="0" t="0"/>
          <a:stretch/>
        </p:blipFill>
        <p:spPr>
          <a:xfrm>
            <a:off x="5014722" y="3812802"/>
            <a:ext cx="1455215" cy="241150"/>
          </a:xfrm>
          <a:prstGeom prst="rect">
            <a:avLst/>
          </a:prstGeom>
          <a:noFill/>
          <a:ln>
            <a:noFill/>
          </a:ln>
        </p:spPr>
      </p:pic>
      <p:pic>
        <p:nvPicPr>
          <p:cNvPr id="178" name="Google Shape;178;p31" title="rocket.png"/>
          <p:cNvPicPr preferRelativeResize="0"/>
          <p:nvPr/>
        </p:nvPicPr>
        <p:blipFill rotWithShape="1">
          <a:blip r:embed="rId6">
            <a:alphaModFix/>
          </a:blip>
          <a:srcRect b="0" l="0" r="0" t="0"/>
          <a:stretch/>
        </p:blipFill>
        <p:spPr>
          <a:xfrm>
            <a:off x="5920075" y="382735"/>
            <a:ext cx="2964723" cy="2050847"/>
          </a:xfrm>
          <a:prstGeom prst="rect">
            <a:avLst/>
          </a:prstGeom>
          <a:noFill/>
          <a:ln>
            <a:noFill/>
          </a:ln>
        </p:spPr>
      </p:pic>
      <p:sp>
        <p:nvSpPr>
          <p:cNvPr id="179" name="Google Shape;179;p31"/>
          <p:cNvSpPr txBox="1"/>
          <p:nvPr/>
        </p:nvSpPr>
        <p:spPr>
          <a:xfrm>
            <a:off x="311700" y="3361454"/>
            <a:ext cx="7642500" cy="1385400"/>
          </a:xfrm>
          <a:prstGeom prst="rect">
            <a:avLst/>
          </a:prstGeom>
          <a:noFill/>
          <a:ln>
            <a:noFill/>
          </a:ln>
        </p:spPr>
        <p:txBody>
          <a:bodyPr anchorCtr="0" anchor="t" bIns="45700" lIns="91425" spcFirstLastPara="1" rIns="91425" wrap="square" tIns="45700">
            <a:spAutoFit/>
          </a:bodyPr>
          <a:lstStyle/>
          <a:p>
            <a:pPr indent="45720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	~ 2.88</a:t>
            </a:r>
            <a:r>
              <a:rPr b="0" baseline="30000" i="0" lang="en" sz="1400" u="none" cap="none" strike="noStrike">
                <a:solidFill>
                  <a:schemeClr val="dk2"/>
                </a:solidFill>
                <a:latin typeface="Arial"/>
                <a:ea typeface="Arial"/>
                <a:cs typeface="Arial"/>
                <a:sym typeface="Arial"/>
              </a:rPr>
              <a:t>7</a:t>
            </a:r>
            <a:r>
              <a:rPr b="0" i="0" lang="en" sz="1400" u="none" cap="none" strike="noStrike">
                <a:solidFill>
                  <a:schemeClr val="dk2"/>
                </a:solidFill>
                <a:latin typeface="Arial"/>
                <a:ea typeface="Arial"/>
                <a:cs typeface="Arial"/>
                <a:sym typeface="Arial"/>
              </a:rPr>
              <a:t> ×10 J/kg = 8.00 × 10</a:t>
            </a:r>
            <a:r>
              <a:rPr b="0" baseline="30000" i="0" lang="en" sz="1400" u="none" cap="none" strike="noStrike">
                <a:solidFill>
                  <a:schemeClr val="dk2"/>
                </a:solidFill>
                <a:latin typeface="Arial"/>
                <a:ea typeface="Arial"/>
                <a:cs typeface="Arial"/>
                <a:sym typeface="Arial"/>
              </a:rPr>
              <a:t>3</a:t>
            </a:r>
            <a:r>
              <a:rPr b="0" i="0" lang="en" sz="1400" u="none" cap="none" strike="noStrike">
                <a:solidFill>
                  <a:schemeClr val="dk2"/>
                </a:solidFill>
                <a:latin typeface="Arial"/>
                <a:ea typeface="Arial"/>
                <a:cs typeface="Arial"/>
                <a:sym typeface="Arial"/>
              </a:rPr>
              <a:t> kWh/Mt</a:t>
            </a:r>
            <a:endParaRPr/>
          </a:p>
          <a:p>
            <a:pPr indent="45720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Assuming electricity efficiency and price</a:t>
            </a:r>
            <a:endParaRPr/>
          </a:p>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	Cost/tons = $1.88*10^3 M/Mt</a:t>
            </a:r>
            <a:endParaRPr/>
          </a:p>
          <a:p>
            <a:pPr indent="0" lvl="0" marL="139700" marR="0" rtl="0" algn="l">
              <a:lnSpc>
                <a:spcPct val="100000"/>
              </a:lnSpc>
              <a:spcBef>
                <a:spcPts val="0"/>
              </a:spcBef>
              <a:spcAft>
                <a:spcPts val="0"/>
              </a:spcAft>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For total 537,000 Mt/yr, total cost is $1.01 * 10</a:t>
            </a:r>
            <a:r>
              <a:rPr b="0" baseline="30000" i="0" lang="en" sz="1400" u="none" cap="none" strike="noStrike">
                <a:solidFill>
                  <a:schemeClr val="dk2"/>
                </a:solidFill>
                <a:latin typeface="Arial"/>
                <a:ea typeface="Arial"/>
                <a:cs typeface="Arial"/>
                <a:sym typeface="Arial"/>
              </a:rPr>
              <a:t>9</a:t>
            </a:r>
            <a:r>
              <a:rPr b="0" i="0" lang="en" sz="1400" u="none" cap="none" strike="noStrike">
                <a:solidFill>
                  <a:schemeClr val="dk2"/>
                </a:solidFill>
                <a:latin typeface="Arial"/>
                <a:ea typeface="Arial"/>
                <a:cs typeface="Arial"/>
                <a:sym typeface="Arial"/>
              </a:rPr>
              <a:t> yr * 186 yr ~ </a:t>
            </a:r>
            <a:r>
              <a:rPr b="1" i="0" lang="en" sz="1400" u="none" cap="none" strike="noStrike">
                <a:solidFill>
                  <a:schemeClr val="dk2"/>
                </a:solidFill>
                <a:latin typeface="Arial"/>
                <a:ea typeface="Arial"/>
                <a:cs typeface="Arial"/>
                <a:sym typeface="Arial"/>
              </a:rPr>
              <a:t>$188 billion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185" name="Google Shape;185;p32"/>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118"/>
              <a:buNone/>
            </a:pPr>
            <a:r>
              <a:rPr lang="en">
                <a:solidFill>
                  <a:schemeClr val="dk1"/>
                </a:solidFill>
              </a:rPr>
              <a:t>Scenario B. Only Space Elevator</a:t>
            </a:r>
            <a:endParaRPr>
              <a:solidFill>
                <a:schemeClr val="dk1"/>
              </a:solidFill>
            </a:endParaRPr>
          </a:p>
        </p:txBody>
      </p:sp>
      <p:sp>
        <p:nvSpPr>
          <p:cNvPr id="186" name="Google Shape;186;p32"/>
          <p:cNvSpPr txBox="1"/>
          <p:nvPr/>
        </p:nvSpPr>
        <p:spPr>
          <a:xfrm>
            <a:off x="311700" y="1446900"/>
            <a:ext cx="682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87" name="Google Shape;187;p32"/>
          <p:cNvSpPr txBox="1"/>
          <p:nvPr/>
        </p:nvSpPr>
        <p:spPr>
          <a:xfrm>
            <a:off x="311700" y="1513730"/>
            <a:ext cx="4497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Arial"/>
                <a:ea typeface="Arial"/>
                <a:cs typeface="Arial"/>
                <a:sym typeface="Arial"/>
              </a:rPr>
              <a:t>(b)  Launching Cost from Apex to Moon</a:t>
            </a:r>
            <a:endParaRPr b="1" i="0" sz="1400" u="none" cap="none" strike="noStrike">
              <a:solidFill>
                <a:schemeClr val="dk2"/>
              </a:solidFill>
              <a:latin typeface="Arial"/>
              <a:ea typeface="Arial"/>
              <a:cs typeface="Arial"/>
              <a:sym typeface="Arial"/>
            </a:endParaRPr>
          </a:p>
        </p:txBody>
      </p:sp>
      <p:sp>
        <p:nvSpPr>
          <p:cNvPr id="188" name="Google Shape;188;p32"/>
          <p:cNvSpPr txBox="1"/>
          <p:nvPr/>
        </p:nvSpPr>
        <p:spPr>
          <a:xfrm>
            <a:off x="465175" y="1913925"/>
            <a:ext cx="6332100" cy="400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Tangential speed at apex anchor:</a:t>
            </a:r>
            <a:endParaRPr/>
          </a:p>
        </p:txBody>
      </p:sp>
      <p:grpSp>
        <p:nvGrpSpPr>
          <p:cNvPr id="189" name="Google Shape;189;p32"/>
          <p:cNvGrpSpPr/>
          <p:nvPr/>
        </p:nvGrpSpPr>
        <p:grpSpPr>
          <a:xfrm>
            <a:off x="3721950" y="1980755"/>
            <a:ext cx="2318942" cy="241150"/>
            <a:chOff x="3118161" y="1997825"/>
            <a:chExt cx="2318942" cy="241150"/>
          </a:xfrm>
        </p:grpSpPr>
        <p:pic>
          <p:nvPicPr>
            <p:cNvPr id="190" name="Google Shape;190;p32" title="Screenshot 2026-02-11 at 12.37.41 AM.png"/>
            <p:cNvPicPr preferRelativeResize="0"/>
            <p:nvPr/>
          </p:nvPicPr>
          <p:blipFill rotWithShape="1">
            <a:blip r:embed="rId3">
              <a:alphaModFix/>
            </a:blip>
            <a:srcRect b="0" l="0" r="0" t="0"/>
            <a:stretch/>
          </p:blipFill>
          <p:spPr>
            <a:xfrm>
              <a:off x="3118161" y="1997825"/>
              <a:ext cx="1150150" cy="241150"/>
            </a:xfrm>
            <a:prstGeom prst="rect">
              <a:avLst/>
            </a:prstGeom>
            <a:noFill/>
            <a:ln>
              <a:noFill/>
            </a:ln>
          </p:spPr>
        </p:pic>
        <p:pic>
          <p:nvPicPr>
            <p:cNvPr id="191" name="Google Shape;191;p32" title="Screenshot 2026-02-11 at 12.37.59 AM.png"/>
            <p:cNvPicPr preferRelativeResize="0"/>
            <p:nvPr/>
          </p:nvPicPr>
          <p:blipFill rotWithShape="1">
            <a:blip r:embed="rId4">
              <a:alphaModFix/>
            </a:blip>
            <a:srcRect b="0" l="0" r="0" t="0"/>
            <a:stretch/>
          </p:blipFill>
          <p:spPr>
            <a:xfrm>
              <a:off x="4249003" y="2021963"/>
              <a:ext cx="1188100" cy="192875"/>
            </a:xfrm>
            <a:prstGeom prst="rect">
              <a:avLst/>
            </a:prstGeom>
            <a:noFill/>
            <a:ln>
              <a:noFill/>
            </a:ln>
          </p:spPr>
        </p:pic>
      </p:grpSp>
      <p:pic>
        <p:nvPicPr>
          <p:cNvPr id="192" name="Google Shape;192;p32" title="rocket.png"/>
          <p:cNvPicPr preferRelativeResize="0"/>
          <p:nvPr/>
        </p:nvPicPr>
        <p:blipFill rotWithShape="1">
          <a:blip r:embed="rId5">
            <a:alphaModFix/>
          </a:blip>
          <a:srcRect b="0" l="0" r="0" t="0"/>
          <a:stretch/>
        </p:blipFill>
        <p:spPr>
          <a:xfrm>
            <a:off x="6092293" y="428300"/>
            <a:ext cx="2964723" cy="2050847"/>
          </a:xfrm>
          <a:prstGeom prst="rect">
            <a:avLst/>
          </a:prstGeom>
          <a:noFill/>
          <a:ln>
            <a:noFill/>
          </a:ln>
        </p:spPr>
      </p:pic>
      <p:sp>
        <p:nvSpPr>
          <p:cNvPr id="193" name="Google Shape;193;p32"/>
          <p:cNvSpPr txBox="1"/>
          <p:nvPr/>
        </p:nvSpPr>
        <p:spPr>
          <a:xfrm>
            <a:off x="809444" y="2281189"/>
            <a:ext cx="1750800" cy="400200"/>
          </a:xfrm>
          <a:prstGeom prst="rect">
            <a:avLst/>
          </a:prstGeom>
          <a:noFill/>
          <a:ln>
            <a:noFill/>
          </a:ln>
        </p:spPr>
        <p:txBody>
          <a:bodyPr anchorCtr="0" anchor="t" bIns="91425" lIns="91425" spcFirstLastPara="1" rIns="91425" wrap="square" tIns="91425">
            <a:spAutoFit/>
          </a:bodyPr>
          <a:lstStyle/>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Vis Visa Equation</a:t>
            </a:r>
            <a:endParaRPr b="0" i="0" sz="1400" u="none" cap="none" strike="noStrike">
              <a:solidFill>
                <a:schemeClr val="dk2"/>
              </a:solidFill>
              <a:latin typeface="Arial"/>
              <a:ea typeface="Arial"/>
              <a:cs typeface="Arial"/>
              <a:sym typeface="Arial"/>
            </a:endParaRPr>
          </a:p>
        </p:txBody>
      </p:sp>
      <p:pic>
        <p:nvPicPr>
          <p:cNvPr descr="墙上的钟表&#10;&#10;AI 生成的内容可能不正确。" id="194" name="Google Shape;194;p32"/>
          <p:cNvPicPr preferRelativeResize="0"/>
          <p:nvPr/>
        </p:nvPicPr>
        <p:blipFill rotWithShape="1">
          <a:blip r:embed="rId6">
            <a:alphaModFix/>
          </a:blip>
          <a:srcRect b="15024" l="7796" r="8099" t="12427"/>
          <a:stretch/>
        </p:blipFill>
        <p:spPr>
          <a:xfrm>
            <a:off x="2427889" y="2228652"/>
            <a:ext cx="1229711" cy="500993"/>
          </a:xfrm>
          <a:prstGeom prst="rect">
            <a:avLst/>
          </a:prstGeom>
          <a:noFill/>
          <a:ln>
            <a:noFill/>
          </a:ln>
        </p:spPr>
      </p:pic>
      <p:sp>
        <p:nvSpPr>
          <p:cNvPr id="195" name="Google Shape;195;p32"/>
          <p:cNvSpPr txBox="1"/>
          <p:nvPr/>
        </p:nvSpPr>
        <p:spPr>
          <a:xfrm>
            <a:off x="3525289" y="2279108"/>
            <a:ext cx="5153400" cy="400200"/>
          </a:xfrm>
          <a:prstGeom prst="rect">
            <a:avLst/>
          </a:prstGeom>
          <a:noFill/>
          <a:ln>
            <a:noFill/>
          </a:ln>
        </p:spPr>
        <p:txBody>
          <a:bodyPr anchorCtr="0" anchor="t" bIns="91425" lIns="91425" spcFirstLastPara="1" rIns="91425" wrap="square" tIns="91425">
            <a:spAutoFit/>
          </a:bodyPr>
          <a:lstStyle/>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gives a = -27000 km &lt; 0</a:t>
            </a:r>
            <a:endParaRPr b="0" i="0" sz="1400" u="none" cap="none" strike="noStrike">
              <a:solidFill>
                <a:schemeClr val="dk2"/>
              </a:solidFill>
              <a:latin typeface="Arial"/>
              <a:ea typeface="Arial"/>
              <a:cs typeface="Arial"/>
              <a:sym typeface="Arial"/>
            </a:endParaRPr>
          </a:p>
        </p:txBody>
      </p:sp>
      <p:sp>
        <p:nvSpPr>
          <p:cNvPr id="196" name="Google Shape;196;p32"/>
          <p:cNvSpPr txBox="1"/>
          <p:nvPr/>
        </p:nvSpPr>
        <p:spPr>
          <a:xfrm>
            <a:off x="465175" y="2653913"/>
            <a:ext cx="8520600" cy="22473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v &gt; escape trajectory: the cargo will fly away from the moon into outer space if released directly</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Arrival velocity at moon’s orbital radius</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Moon’s orbital rotational velocity: 1.02 km/s    →    Relative velocity: 3.08 km/s</a:t>
            </a:r>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Moon escape velocity: 2.38 km/s </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This is our ∆v (which is actually negative because the rocket is slowing the cargo down!)</a:t>
            </a:r>
            <a:endParaRPr b="0" i="0" sz="1400" u="none" cap="none" strike="noStrike">
              <a:solidFill>
                <a:schemeClr val="dk2"/>
              </a:solidFill>
              <a:latin typeface="Arial"/>
              <a:ea typeface="Arial"/>
              <a:cs typeface="Arial"/>
              <a:sym typeface="Arial"/>
            </a:endParaRPr>
          </a:p>
        </p:txBody>
      </p:sp>
      <p:pic>
        <p:nvPicPr>
          <p:cNvPr descr="图示&#10;&#10;AI 生成的内容可能不正确。" id="197" name="Google Shape;197;p32"/>
          <p:cNvPicPr preferRelativeResize="0"/>
          <p:nvPr/>
        </p:nvPicPr>
        <p:blipFill rotWithShape="1">
          <a:blip r:embed="rId7">
            <a:alphaModFix/>
          </a:blip>
          <a:srcRect b="0" l="0" r="0" t="0"/>
          <a:stretch/>
        </p:blipFill>
        <p:spPr>
          <a:xfrm>
            <a:off x="4127937" y="3002687"/>
            <a:ext cx="2427016" cy="499473"/>
          </a:xfrm>
          <a:prstGeom prst="rect">
            <a:avLst/>
          </a:prstGeom>
          <a:noFill/>
          <a:ln>
            <a:noFill/>
          </a:ln>
        </p:spPr>
      </p:pic>
      <p:pic>
        <p:nvPicPr>
          <p:cNvPr descr="图片包含 箱线图&#10;&#10;AI 生成的内容可能不正确。" id="198" name="Google Shape;198;p32"/>
          <p:cNvPicPr preferRelativeResize="0"/>
          <p:nvPr/>
        </p:nvPicPr>
        <p:blipFill rotWithShape="1">
          <a:blip r:embed="rId8">
            <a:alphaModFix/>
          </a:blip>
          <a:srcRect b="0" l="0" r="0" t="0"/>
          <a:stretch/>
        </p:blipFill>
        <p:spPr>
          <a:xfrm>
            <a:off x="862071" y="4087957"/>
            <a:ext cx="2859878" cy="473875"/>
          </a:xfrm>
          <a:prstGeom prst="rect">
            <a:avLst/>
          </a:prstGeom>
          <a:noFill/>
          <a:ln>
            <a:noFill/>
          </a:ln>
        </p:spPr>
      </p:pic>
      <p:sp>
        <p:nvSpPr>
          <p:cNvPr id="199" name="Google Shape;199;p32"/>
          <p:cNvSpPr txBox="1"/>
          <p:nvPr/>
        </p:nvSpPr>
        <p:spPr>
          <a:xfrm>
            <a:off x="3564659" y="4124854"/>
            <a:ext cx="4143000" cy="400200"/>
          </a:xfrm>
          <a:prstGeom prst="rect">
            <a:avLst/>
          </a:prstGeom>
          <a:noFill/>
          <a:ln>
            <a:noFill/>
          </a:ln>
        </p:spPr>
        <p:txBody>
          <a:bodyPr anchorCtr="0" anchor="t" bIns="91425" lIns="91425" spcFirstLastPara="1" rIns="91425" wrap="square" tIns="91425">
            <a:spAutoFit/>
          </a:bodyPr>
          <a:lstStyle/>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(this comes from orbital energy conservation)</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Delivery Scenarios</a:t>
            </a:r>
            <a:endParaRPr/>
          </a:p>
        </p:txBody>
      </p:sp>
      <p:sp>
        <p:nvSpPr>
          <p:cNvPr id="205" name="Google Shape;205;p33"/>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118"/>
              <a:buNone/>
            </a:pPr>
            <a:r>
              <a:rPr lang="en">
                <a:solidFill>
                  <a:schemeClr val="dk1"/>
                </a:solidFill>
              </a:rPr>
              <a:t>Scenario B. Only Space Elevator</a:t>
            </a:r>
            <a:endParaRPr>
              <a:solidFill>
                <a:schemeClr val="dk1"/>
              </a:solidFill>
            </a:endParaRPr>
          </a:p>
        </p:txBody>
      </p:sp>
      <p:sp>
        <p:nvSpPr>
          <p:cNvPr id="206" name="Google Shape;206;p33"/>
          <p:cNvSpPr txBox="1"/>
          <p:nvPr/>
        </p:nvSpPr>
        <p:spPr>
          <a:xfrm>
            <a:off x="311700" y="1446900"/>
            <a:ext cx="682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07" name="Google Shape;207;p33"/>
          <p:cNvSpPr txBox="1"/>
          <p:nvPr/>
        </p:nvSpPr>
        <p:spPr>
          <a:xfrm>
            <a:off x="311700" y="1513730"/>
            <a:ext cx="4497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Arial"/>
                <a:ea typeface="Arial"/>
                <a:cs typeface="Arial"/>
                <a:sym typeface="Arial"/>
              </a:rPr>
              <a:t>(b)  Launching Cost from Apex to Moon</a:t>
            </a:r>
            <a:endParaRPr b="1" i="0" sz="1400" u="none" cap="none" strike="noStrike">
              <a:solidFill>
                <a:schemeClr val="dk2"/>
              </a:solidFill>
              <a:latin typeface="Arial"/>
              <a:ea typeface="Arial"/>
              <a:cs typeface="Arial"/>
              <a:sym typeface="Arial"/>
            </a:endParaRPr>
          </a:p>
        </p:txBody>
      </p:sp>
      <p:sp>
        <p:nvSpPr>
          <p:cNvPr id="208" name="Google Shape;208;p33"/>
          <p:cNvSpPr txBox="1"/>
          <p:nvPr/>
        </p:nvSpPr>
        <p:spPr>
          <a:xfrm>
            <a:off x="465175" y="1913925"/>
            <a:ext cx="6332100" cy="8313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Apply the           :</a:t>
            </a:r>
            <a:endParaRPr/>
          </a:p>
          <a:p>
            <a:pPr indent="-228600" lvl="0" marL="457200" marR="0" rtl="0" algn="l">
              <a:lnSpc>
                <a:spcPct val="100000"/>
              </a:lnSpc>
              <a:spcBef>
                <a:spcPts val="0"/>
              </a:spcBef>
              <a:spcAft>
                <a:spcPts val="0"/>
              </a:spcAft>
              <a:buClr>
                <a:schemeClr val="dk2"/>
              </a:buClr>
              <a:buSzPts val="1400"/>
              <a:buFont typeface="Arial"/>
              <a:buNone/>
            </a:pPr>
            <a:r>
              <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For 10^8 Mt, the total cost is $210 trillion.</a:t>
            </a:r>
            <a:endParaRPr b="0" i="0" sz="1400" u="none" cap="none" strike="noStrike">
              <a:solidFill>
                <a:schemeClr val="dk2"/>
              </a:solidFill>
              <a:latin typeface="Arial"/>
              <a:ea typeface="Arial"/>
              <a:cs typeface="Arial"/>
              <a:sym typeface="Arial"/>
            </a:endParaRPr>
          </a:p>
        </p:txBody>
      </p:sp>
      <p:pic>
        <p:nvPicPr>
          <p:cNvPr id="209" name="Google Shape;209;p33" title="rocket.png"/>
          <p:cNvPicPr preferRelativeResize="0"/>
          <p:nvPr/>
        </p:nvPicPr>
        <p:blipFill rotWithShape="1">
          <a:blip r:embed="rId3">
            <a:alphaModFix/>
          </a:blip>
          <a:srcRect b="0" l="0" r="0" t="0"/>
          <a:stretch/>
        </p:blipFill>
        <p:spPr>
          <a:xfrm>
            <a:off x="6092293" y="428300"/>
            <a:ext cx="2964723" cy="2050847"/>
          </a:xfrm>
          <a:prstGeom prst="rect">
            <a:avLst/>
          </a:prstGeom>
          <a:noFill/>
          <a:ln>
            <a:noFill/>
          </a:ln>
        </p:spPr>
      </p:pic>
      <p:pic>
        <p:nvPicPr>
          <p:cNvPr id="210" name="Google Shape;210;p33"/>
          <p:cNvPicPr preferRelativeResize="0"/>
          <p:nvPr/>
        </p:nvPicPr>
        <p:blipFill rotWithShape="1">
          <a:blip r:embed="rId4">
            <a:alphaModFix/>
          </a:blip>
          <a:srcRect b="0" l="3025" r="0" t="0"/>
          <a:stretch/>
        </p:blipFill>
        <p:spPr>
          <a:xfrm>
            <a:off x="2409826" y="1968708"/>
            <a:ext cx="4581547" cy="328614"/>
          </a:xfrm>
          <a:prstGeom prst="rect">
            <a:avLst/>
          </a:prstGeom>
          <a:noFill/>
          <a:ln>
            <a:noFill/>
          </a:ln>
        </p:spPr>
      </p:pic>
      <p:pic>
        <p:nvPicPr>
          <p:cNvPr id="211" name="Google Shape;211;p33"/>
          <p:cNvPicPr preferRelativeResize="0"/>
          <p:nvPr/>
        </p:nvPicPr>
        <p:blipFill rotWithShape="1">
          <a:blip r:embed="rId4">
            <a:alphaModFix/>
          </a:blip>
          <a:srcRect b="-1370" l="60335" r="29483" t="1370"/>
          <a:stretch/>
        </p:blipFill>
        <p:spPr>
          <a:xfrm>
            <a:off x="1809751" y="1968709"/>
            <a:ext cx="481013" cy="328615"/>
          </a:xfrm>
          <a:prstGeom prst="rect">
            <a:avLst/>
          </a:prstGeom>
          <a:noFill/>
          <a:ln>
            <a:noFill/>
          </a:ln>
        </p:spPr>
      </p:pic>
      <p:sp>
        <p:nvSpPr>
          <p:cNvPr id="212" name="Google Shape;212;p33"/>
          <p:cNvSpPr txBox="1"/>
          <p:nvPr/>
        </p:nvSpPr>
        <p:spPr>
          <a:xfrm>
            <a:off x="431837" y="2866499"/>
            <a:ext cx="6332100" cy="400200"/>
          </a:xfrm>
          <a:prstGeom prst="rect">
            <a:avLst/>
          </a:prstGeom>
          <a:noFill/>
          <a:ln>
            <a:noFill/>
          </a:ln>
        </p:spPr>
        <p:txBody>
          <a:bodyPr anchorCtr="0" anchor="t" bIns="91425" lIns="91425" spcFirstLastPara="1" rIns="91425" wrap="square" tIns="91425">
            <a:spAutoFit/>
          </a:bodyPr>
          <a:lstStyle/>
          <a:p>
            <a:pPr indent="0" lvl="0" marL="1397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Cost of part (a) and (b) together: </a:t>
            </a:r>
            <a:r>
              <a:rPr b="1" i="0" lang="en" sz="1400" u="none" cap="none" strike="noStrike">
                <a:solidFill>
                  <a:schemeClr val="dk2"/>
                </a:solidFill>
                <a:latin typeface="Arial"/>
                <a:ea typeface="Arial"/>
                <a:cs typeface="Arial"/>
                <a:sym typeface="Arial"/>
              </a:rPr>
              <a:t>$210.188 trillion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Delivery Scenarios</a:t>
            </a:r>
            <a:endParaRPr/>
          </a:p>
        </p:txBody>
      </p:sp>
      <p:sp>
        <p:nvSpPr>
          <p:cNvPr id="218" name="Google Shape;218;p34"/>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Scenario C. Hybrid</a:t>
            </a:r>
            <a:endParaRPr>
              <a:solidFill>
                <a:schemeClr val="dk1"/>
              </a:solidFill>
            </a:endParaRPr>
          </a:p>
        </p:txBody>
      </p:sp>
      <p:sp>
        <p:nvSpPr>
          <p:cNvPr id="219" name="Google Shape;219;p34"/>
          <p:cNvSpPr txBox="1"/>
          <p:nvPr/>
        </p:nvSpPr>
        <p:spPr>
          <a:xfrm>
            <a:off x="311700" y="1446900"/>
            <a:ext cx="79962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Impossible to determine scheduling in a century-long project, we divide into 2 parts:</a:t>
            </a:r>
            <a:endParaRPr sz="1600">
              <a:solidFill>
                <a:schemeClr val="dk2"/>
              </a:solidFill>
            </a:endParaRPr>
          </a:p>
          <a:p>
            <a:pPr indent="-330200" lvl="0" marL="457200" rtl="0" algn="l">
              <a:spcBef>
                <a:spcPts val="0"/>
              </a:spcBef>
              <a:spcAft>
                <a:spcPts val="0"/>
              </a:spcAft>
              <a:buClr>
                <a:schemeClr val="dk2"/>
              </a:buClr>
              <a:buSzPts val="1600"/>
              <a:buAutoNum type="arabicPeriod"/>
            </a:pPr>
            <a:r>
              <a:rPr lang="en" sz="1600">
                <a:solidFill>
                  <a:schemeClr val="dk2"/>
                </a:solidFill>
              </a:rPr>
              <a:t>Treat volumes and launch capacities as continuous variables. Solve a LP for each candidate completion time T, and minimize cost while meeting the delivery goal. This traces the Pareto-optimal time-cost curve.</a:t>
            </a:r>
            <a:endParaRPr sz="1600">
              <a:solidFill>
                <a:schemeClr val="dk2"/>
              </a:solidFill>
            </a:endParaRPr>
          </a:p>
          <a:p>
            <a:pPr indent="-330200" lvl="0" marL="457200" rtl="0" algn="l">
              <a:spcBef>
                <a:spcPts val="0"/>
              </a:spcBef>
              <a:spcAft>
                <a:spcPts val="0"/>
              </a:spcAft>
              <a:buClr>
                <a:schemeClr val="dk2"/>
              </a:buClr>
              <a:buSzPts val="1600"/>
              <a:buAutoNum type="arabicPeriod"/>
            </a:pPr>
            <a:r>
              <a:rPr lang="en" sz="1600">
                <a:solidFill>
                  <a:schemeClr val="dk2"/>
                </a:solidFill>
              </a:rPr>
              <a:t>With a monthly goal, consider each day the binary choice to launch a rocket and to use how many climbers.</a:t>
            </a:r>
            <a:endParaRPr sz="16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Delivery Scenarios</a:t>
            </a:r>
            <a:endParaRPr/>
          </a:p>
        </p:txBody>
      </p:sp>
      <p:sp>
        <p:nvSpPr>
          <p:cNvPr id="225" name="Google Shape;225;p35"/>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Scenario C. Hybrid</a:t>
            </a:r>
            <a:endParaRPr>
              <a:solidFill>
                <a:schemeClr val="dk1"/>
              </a:solidFill>
            </a:endParaRPr>
          </a:p>
        </p:txBody>
      </p:sp>
      <p:pic>
        <p:nvPicPr>
          <p:cNvPr id="226" name="Google Shape;226;p35" title="Screenshot 2026-02-11 at 12.57.37 AM.png"/>
          <p:cNvPicPr preferRelativeResize="0"/>
          <p:nvPr/>
        </p:nvPicPr>
        <p:blipFill>
          <a:blip r:embed="rId3">
            <a:alphaModFix/>
          </a:blip>
          <a:stretch>
            <a:fillRect/>
          </a:stretch>
        </p:blipFill>
        <p:spPr>
          <a:xfrm>
            <a:off x="853575" y="1643350"/>
            <a:ext cx="2506649" cy="694250"/>
          </a:xfrm>
          <a:prstGeom prst="rect">
            <a:avLst/>
          </a:prstGeom>
          <a:noFill/>
          <a:ln>
            <a:noFill/>
          </a:ln>
        </p:spPr>
      </p:pic>
      <p:sp>
        <p:nvSpPr>
          <p:cNvPr id="227" name="Google Shape;227;p35"/>
          <p:cNvSpPr txBox="1"/>
          <p:nvPr/>
        </p:nvSpPr>
        <p:spPr>
          <a:xfrm>
            <a:off x="311700" y="1668475"/>
            <a:ext cx="7996200" cy="1662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AutoNum type="alphaLcParenBoth"/>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AutoNum type="alphaLcParenBoth"/>
            </a:pPr>
            <a:r>
              <a:t/>
            </a:r>
            <a:endParaRPr sz="1600">
              <a:solidFill>
                <a:schemeClr val="dk2"/>
              </a:solidFill>
            </a:endParaRPr>
          </a:p>
        </p:txBody>
      </p:sp>
      <p:pic>
        <p:nvPicPr>
          <p:cNvPr id="228" name="Google Shape;228;p35" title="Screenshot 2026-02-11 at 12.58.52 AM.png"/>
          <p:cNvPicPr preferRelativeResize="0"/>
          <p:nvPr/>
        </p:nvPicPr>
        <p:blipFill>
          <a:blip r:embed="rId4">
            <a:alphaModFix/>
          </a:blip>
          <a:stretch>
            <a:fillRect/>
          </a:stretch>
        </p:blipFill>
        <p:spPr>
          <a:xfrm>
            <a:off x="963750" y="3646400"/>
            <a:ext cx="1248375" cy="416125"/>
          </a:xfrm>
          <a:prstGeom prst="rect">
            <a:avLst/>
          </a:prstGeom>
          <a:noFill/>
          <a:ln>
            <a:noFill/>
          </a:ln>
        </p:spPr>
      </p:pic>
      <p:pic>
        <p:nvPicPr>
          <p:cNvPr id="229" name="Google Shape;229;p35" title="Screenshot 2026-02-11 at 12.59.19 AM.png"/>
          <p:cNvPicPr preferRelativeResize="0"/>
          <p:nvPr/>
        </p:nvPicPr>
        <p:blipFill>
          <a:blip r:embed="rId5">
            <a:alphaModFix/>
          </a:blip>
          <a:stretch>
            <a:fillRect/>
          </a:stretch>
        </p:blipFill>
        <p:spPr>
          <a:xfrm>
            <a:off x="2282550" y="2811812"/>
            <a:ext cx="3553600" cy="2085299"/>
          </a:xfrm>
          <a:prstGeom prst="rect">
            <a:avLst/>
          </a:prstGeom>
          <a:noFill/>
          <a:ln>
            <a:noFill/>
          </a:ln>
        </p:spPr>
      </p:pic>
      <p:sp>
        <p:nvSpPr>
          <p:cNvPr id="230" name="Google Shape;230;p35"/>
          <p:cNvSpPr txBox="1"/>
          <p:nvPr/>
        </p:nvSpPr>
        <p:spPr>
          <a:xfrm>
            <a:off x="5763525" y="2811825"/>
            <a:ext cx="3009600" cy="11697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1600">
                <a:solidFill>
                  <a:schemeClr val="dk2"/>
                </a:solidFill>
              </a:rPr>
              <a:t>varies by site because there’s a geometric misalignment between launch site and Moon’s orbital plane </a:t>
            </a:r>
            <a:endParaRPr sz="1600">
              <a:solidFill>
                <a:schemeClr val="dk2"/>
              </a:solidFill>
            </a:endParaRPr>
          </a:p>
        </p:txBody>
      </p:sp>
      <p:pic>
        <p:nvPicPr>
          <p:cNvPr id="231" name="Google Shape;231;p35" title="Screenshot 2026-02-11 at 1.03.13 AM.png"/>
          <p:cNvPicPr preferRelativeResize="0"/>
          <p:nvPr/>
        </p:nvPicPr>
        <p:blipFill>
          <a:blip r:embed="rId6">
            <a:alphaModFix/>
          </a:blip>
          <a:stretch>
            <a:fillRect/>
          </a:stretch>
        </p:blipFill>
        <p:spPr>
          <a:xfrm>
            <a:off x="5763525" y="2847884"/>
            <a:ext cx="460575" cy="348000"/>
          </a:xfrm>
          <a:prstGeom prst="rect">
            <a:avLst/>
          </a:prstGeom>
          <a:noFill/>
          <a:ln>
            <a:noFill/>
          </a:ln>
        </p:spPr>
      </p:pic>
      <p:pic>
        <p:nvPicPr>
          <p:cNvPr id="232" name="Google Shape;232;p35" title="Screenshot 2026-02-11 at 1.03.44 AM.png"/>
          <p:cNvPicPr preferRelativeResize="0"/>
          <p:nvPr/>
        </p:nvPicPr>
        <p:blipFill>
          <a:blip r:embed="rId7">
            <a:alphaModFix/>
          </a:blip>
          <a:stretch>
            <a:fillRect/>
          </a:stretch>
        </p:blipFill>
        <p:spPr>
          <a:xfrm>
            <a:off x="5450200" y="3981525"/>
            <a:ext cx="1718600" cy="295750"/>
          </a:xfrm>
          <a:prstGeom prst="rect">
            <a:avLst/>
          </a:prstGeom>
          <a:noFill/>
          <a:ln>
            <a:noFill/>
          </a:ln>
        </p:spPr>
      </p:pic>
      <p:pic>
        <p:nvPicPr>
          <p:cNvPr id="233" name="Google Shape;233;p35" title="Screenshot 2026-02-11 at 1.04.23 AM.png"/>
          <p:cNvPicPr preferRelativeResize="0"/>
          <p:nvPr/>
        </p:nvPicPr>
        <p:blipFill>
          <a:blip r:embed="rId8">
            <a:alphaModFix/>
          </a:blip>
          <a:stretch>
            <a:fillRect/>
          </a:stretch>
        </p:blipFill>
        <p:spPr>
          <a:xfrm>
            <a:off x="5450200" y="4277275"/>
            <a:ext cx="2524695" cy="295750"/>
          </a:xfrm>
          <a:prstGeom prst="rect">
            <a:avLst/>
          </a:prstGeom>
          <a:noFill/>
          <a:ln>
            <a:noFill/>
          </a:ln>
        </p:spPr>
      </p:pic>
      <p:pic>
        <p:nvPicPr>
          <p:cNvPr id="234" name="Google Shape;234;p35" title="Screenshot 2026-02-11 at 1.04.38 AM.png"/>
          <p:cNvPicPr preferRelativeResize="0"/>
          <p:nvPr/>
        </p:nvPicPr>
        <p:blipFill>
          <a:blip r:embed="rId9">
            <a:alphaModFix/>
          </a:blip>
          <a:stretch>
            <a:fillRect/>
          </a:stretch>
        </p:blipFill>
        <p:spPr>
          <a:xfrm>
            <a:off x="5448000" y="4601350"/>
            <a:ext cx="2529100" cy="295750"/>
          </a:xfrm>
          <a:prstGeom prst="rect">
            <a:avLst/>
          </a:prstGeom>
          <a:noFill/>
          <a:ln>
            <a:noFill/>
          </a:ln>
        </p:spPr>
      </p:pic>
      <p:pic>
        <p:nvPicPr>
          <p:cNvPr id="235" name="Google Shape;235;p35" title="Screenshot 2026-02-11 at 10.48.14 AM.png"/>
          <p:cNvPicPr preferRelativeResize="0"/>
          <p:nvPr/>
        </p:nvPicPr>
        <p:blipFill>
          <a:blip r:embed="rId10">
            <a:alphaModFix/>
          </a:blip>
          <a:stretch>
            <a:fillRect/>
          </a:stretch>
        </p:blipFill>
        <p:spPr>
          <a:xfrm>
            <a:off x="3360225" y="1405625"/>
            <a:ext cx="2979960" cy="1169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Delivery Scenarios</a:t>
            </a:r>
            <a:endParaRPr/>
          </a:p>
        </p:txBody>
      </p:sp>
      <p:sp>
        <p:nvSpPr>
          <p:cNvPr id="241" name="Google Shape;241;p36"/>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Scenario C. Hybrid</a:t>
            </a:r>
            <a:endParaRPr>
              <a:solidFill>
                <a:schemeClr val="dk1"/>
              </a:solidFill>
            </a:endParaRPr>
          </a:p>
        </p:txBody>
      </p:sp>
      <p:sp>
        <p:nvSpPr>
          <p:cNvPr id="242" name="Google Shape;242;p36"/>
          <p:cNvSpPr txBox="1"/>
          <p:nvPr/>
        </p:nvSpPr>
        <p:spPr>
          <a:xfrm>
            <a:off x="0" y="1415100"/>
            <a:ext cx="5695200" cy="3436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lang="en">
                <a:solidFill>
                  <a:schemeClr val="dk1"/>
                </a:solidFill>
              </a:rPr>
              <a:t>Feasible completion window is 111–187 years; earlier than 111 years is infeasible, later than 187 yields no additional cost advantage.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We saturate the low‑cost elevator first and use rockets only to meet residual demand, creating a linear Pareto frontier between duration and total cost.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Equal-weight balance at τ = 149 years (completion year 2199) delivers ≈80% of mass by elevator and ≈20% by rockets.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Total cost at τ = 149 is about $327 T, compared with ≈$210 T for the elevator‑only 187‑year plan and ≈$795 T for the 111‑year</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 plan.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Faster timelines require substituting expensive rockets for elevator cargo, raising total cost almost linearly.</a:t>
            </a:r>
            <a:endParaRPr sz="1600">
              <a:solidFill>
                <a:schemeClr val="dk2"/>
              </a:solidFill>
            </a:endParaRPr>
          </a:p>
        </p:txBody>
      </p:sp>
      <p:pic>
        <p:nvPicPr>
          <p:cNvPr id="243" name="Google Shape;243;p36" title="stage1_pareto_frontier_fancy_compact.png"/>
          <p:cNvPicPr preferRelativeResize="0"/>
          <p:nvPr/>
        </p:nvPicPr>
        <p:blipFill>
          <a:blip r:embed="rId3">
            <a:alphaModFix/>
          </a:blip>
          <a:stretch>
            <a:fillRect/>
          </a:stretch>
        </p:blipFill>
        <p:spPr>
          <a:xfrm>
            <a:off x="5771050" y="307825"/>
            <a:ext cx="2995174" cy="22639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Delivery Scenarios</a:t>
            </a:r>
            <a:endParaRPr/>
          </a:p>
        </p:txBody>
      </p:sp>
      <p:sp>
        <p:nvSpPr>
          <p:cNvPr id="249" name="Google Shape;249;p37"/>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Results</a:t>
            </a:r>
            <a:endParaRPr>
              <a:solidFill>
                <a:schemeClr val="dk1"/>
              </a:solidFill>
            </a:endParaRPr>
          </a:p>
        </p:txBody>
      </p:sp>
      <p:pic>
        <p:nvPicPr>
          <p:cNvPr id="250" name="Google Shape;250;p37" title="rocket-activity-1c.png"/>
          <p:cNvPicPr preferRelativeResize="0"/>
          <p:nvPr/>
        </p:nvPicPr>
        <p:blipFill>
          <a:blip r:embed="rId3">
            <a:alphaModFix/>
          </a:blip>
          <a:stretch>
            <a:fillRect/>
          </a:stretch>
        </p:blipFill>
        <p:spPr>
          <a:xfrm>
            <a:off x="5151100" y="588200"/>
            <a:ext cx="3597525" cy="1906275"/>
          </a:xfrm>
          <a:prstGeom prst="rect">
            <a:avLst/>
          </a:prstGeom>
          <a:noFill/>
          <a:ln>
            <a:noFill/>
          </a:ln>
        </p:spPr>
      </p:pic>
      <p:pic>
        <p:nvPicPr>
          <p:cNvPr id="251" name="Google Shape;251;p37" title="climber-activity-1c.png"/>
          <p:cNvPicPr preferRelativeResize="0"/>
          <p:nvPr/>
        </p:nvPicPr>
        <p:blipFill>
          <a:blip r:embed="rId4">
            <a:alphaModFix/>
          </a:blip>
          <a:stretch>
            <a:fillRect/>
          </a:stretch>
        </p:blipFill>
        <p:spPr>
          <a:xfrm>
            <a:off x="5151100" y="2827050"/>
            <a:ext cx="3597525" cy="1783656"/>
          </a:xfrm>
          <a:prstGeom prst="rect">
            <a:avLst/>
          </a:prstGeom>
          <a:noFill/>
          <a:ln>
            <a:noFill/>
          </a:ln>
        </p:spPr>
      </p:pic>
      <p:pic>
        <p:nvPicPr>
          <p:cNvPr id="252" name="Google Shape;252;p37" title="Screenshot 2026-02-11 at 1.09.29 AM.png"/>
          <p:cNvPicPr preferRelativeResize="0"/>
          <p:nvPr/>
        </p:nvPicPr>
        <p:blipFill>
          <a:blip r:embed="rId5">
            <a:alphaModFix/>
          </a:blip>
          <a:stretch>
            <a:fillRect/>
          </a:stretch>
        </p:blipFill>
        <p:spPr>
          <a:xfrm>
            <a:off x="311700" y="1974551"/>
            <a:ext cx="4842475" cy="1517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Stochastic Disruptions</a:t>
            </a:r>
            <a:endParaRPr/>
          </a:p>
        </p:txBody>
      </p:sp>
      <p:sp>
        <p:nvSpPr>
          <p:cNvPr id="258" name="Google Shape;258;p38"/>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Tether Sway</a:t>
            </a:r>
            <a:endParaRPr>
              <a:solidFill>
                <a:schemeClr val="dk1"/>
              </a:solidFill>
            </a:endParaRPr>
          </a:p>
        </p:txBody>
      </p:sp>
      <p:sp>
        <p:nvSpPr>
          <p:cNvPr id="259" name="Google Shape;259;p38"/>
          <p:cNvSpPr txBox="1"/>
          <p:nvPr/>
        </p:nvSpPr>
        <p:spPr>
          <a:xfrm>
            <a:off x="311700" y="1446900"/>
            <a:ext cx="870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For tether to return to vertical equilibrium, a sequence of p climbers must be separated by [2]:</a:t>
            </a:r>
            <a:endParaRPr sz="1600">
              <a:solidFill>
                <a:schemeClr val="dk2"/>
              </a:solidFill>
            </a:endParaRPr>
          </a:p>
        </p:txBody>
      </p:sp>
      <p:pic>
        <p:nvPicPr>
          <p:cNvPr id="260" name="Google Shape;260;p38" title="Screenshot 2026-02-11 at 10.50.49 AM.png"/>
          <p:cNvPicPr preferRelativeResize="0"/>
          <p:nvPr/>
        </p:nvPicPr>
        <p:blipFill>
          <a:blip r:embed="rId3">
            <a:alphaModFix/>
          </a:blip>
          <a:stretch>
            <a:fillRect/>
          </a:stretch>
        </p:blipFill>
        <p:spPr>
          <a:xfrm>
            <a:off x="717900" y="1878000"/>
            <a:ext cx="1724400" cy="431100"/>
          </a:xfrm>
          <a:prstGeom prst="rect">
            <a:avLst/>
          </a:prstGeom>
          <a:noFill/>
          <a:ln>
            <a:noFill/>
          </a:ln>
        </p:spPr>
      </p:pic>
      <p:sp>
        <p:nvSpPr>
          <p:cNvPr id="261" name="Google Shape;261;p38"/>
          <p:cNvSpPr txBox="1"/>
          <p:nvPr/>
        </p:nvSpPr>
        <p:spPr>
          <a:xfrm>
            <a:off x="311700" y="2356200"/>
            <a:ext cx="4450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where i is index for individual climber, n is number of oscillatory cycles to wait for.</a:t>
            </a:r>
            <a:endParaRPr sz="1600">
              <a:solidFill>
                <a:schemeClr val="dk2"/>
              </a:solidFill>
            </a:endParaRPr>
          </a:p>
        </p:txBody>
      </p:sp>
      <p:sp>
        <p:nvSpPr>
          <p:cNvPr id="262" name="Google Shape;262;p38"/>
          <p:cNvSpPr txBox="1"/>
          <p:nvPr/>
        </p:nvSpPr>
        <p:spPr>
          <a:xfrm>
            <a:off x="311700" y="3419075"/>
            <a:ext cx="4450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Paper states for carbon nanotubes the natural oscillation cycle is ~5 days [2].</a:t>
            </a:r>
            <a:endParaRPr sz="1600">
              <a:solidFill>
                <a:schemeClr val="dk2"/>
              </a:solidFill>
            </a:endParaRPr>
          </a:p>
          <a:p>
            <a:pPr indent="0" lvl="0" marL="0" rtl="0" algn="l">
              <a:spcBef>
                <a:spcPts val="0"/>
              </a:spcBef>
              <a:spcAft>
                <a:spcPts val="0"/>
              </a:spcAft>
              <a:buNone/>
            </a:pPr>
            <a:r>
              <a:rPr lang="en" sz="1600">
                <a:solidFill>
                  <a:schemeClr val="dk2"/>
                </a:solidFill>
              </a:rPr>
              <a:t>p climbers -&gt; 5/p interval. Reset every 1/w</a:t>
            </a:r>
            <a:r>
              <a:rPr baseline="-25000" lang="en" sz="1600">
                <a:solidFill>
                  <a:schemeClr val="dk2"/>
                </a:solidFill>
              </a:rPr>
              <a:t>tether</a:t>
            </a:r>
            <a:r>
              <a:rPr lang="en" sz="1600">
                <a:solidFill>
                  <a:schemeClr val="dk2"/>
                </a:solidFill>
              </a:rPr>
              <a:t>.</a:t>
            </a:r>
            <a:endParaRPr sz="1600">
              <a:solidFill>
                <a:schemeClr val="dk2"/>
              </a:solidFill>
            </a:endParaRPr>
          </a:p>
        </p:txBody>
      </p:sp>
      <p:pic>
        <p:nvPicPr>
          <p:cNvPr id="263" name="Google Shape;263;p38" title="libration-cancellation.png"/>
          <p:cNvPicPr preferRelativeResize="0"/>
          <p:nvPr/>
        </p:nvPicPr>
        <p:blipFill>
          <a:blip r:embed="rId4">
            <a:alphaModFix/>
          </a:blip>
          <a:stretch>
            <a:fillRect/>
          </a:stretch>
        </p:blipFill>
        <p:spPr>
          <a:xfrm>
            <a:off x="4858799" y="2041025"/>
            <a:ext cx="3973509" cy="23680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Stochastic Disruptions</a:t>
            </a:r>
            <a:endParaRPr/>
          </a:p>
        </p:txBody>
      </p:sp>
      <p:sp>
        <p:nvSpPr>
          <p:cNvPr id="269" name="Google Shape;269;p39"/>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Failures</a:t>
            </a:r>
            <a:endParaRPr>
              <a:solidFill>
                <a:schemeClr val="dk1"/>
              </a:solidFill>
            </a:endParaRPr>
          </a:p>
        </p:txBody>
      </p:sp>
      <p:sp>
        <p:nvSpPr>
          <p:cNvPr id="270" name="Google Shape;270;p39"/>
          <p:cNvSpPr txBox="1"/>
          <p:nvPr/>
        </p:nvSpPr>
        <p:spPr>
          <a:xfrm>
            <a:off x="311700" y="1446900"/>
            <a:ext cx="83403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We assume:</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Each rocket launch fails independently with probability p</a:t>
            </a:r>
            <a:r>
              <a:rPr baseline="-25000" lang="en" sz="1600">
                <a:solidFill>
                  <a:schemeClr val="dk2"/>
                </a:solidFill>
              </a:rPr>
              <a:t>R</a:t>
            </a:r>
            <a:r>
              <a:rPr lang="en" sz="1600">
                <a:solidFill>
                  <a:schemeClr val="dk2"/>
                </a:solidFill>
              </a:rPr>
              <a:t> = 2%. (2025-level). Failed launch has full cost but payload 0.</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Each elevator climber fails independently with probability pE = 0.0001% =</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10</a:t>
            </a:r>
            <a:r>
              <a:rPr baseline="30000" lang="en" sz="1600">
                <a:solidFill>
                  <a:schemeClr val="dk2"/>
                </a:solidFill>
              </a:rPr>
              <a:t>−6</a:t>
            </a:r>
            <a:r>
              <a:rPr lang="en" sz="1600">
                <a:solidFill>
                  <a:schemeClr val="dk2"/>
                </a:solidFill>
              </a:rPr>
              <a:t>. If a failure occurs, the elevator shuts down for 30 days, and a repair cost of $5 billion is incurred.</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The elevator requires a maintenance cost of $85 million per year.</a:t>
            </a:r>
            <a:endParaRPr sz="16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0"/>
          <p:cNvSpPr txBox="1"/>
          <p:nvPr>
            <p:ph type="title"/>
          </p:nvPr>
        </p:nvSpPr>
        <p:spPr>
          <a:xfrm>
            <a:off x="311700" y="122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Stochastic Disruptions</a:t>
            </a:r>
            <a:endParaRPr/>
          </a:p>
        </p:txBody>
      </p:sp>
      <p:sp>
        <p:nvSpPr>
          <p:cNvPr id="276" name="Google Shape;276;p40"/>
          <p:cNvSpPr txBox="1"/>
          <p:nvPr>
            <p:ph idx="1" type="body"/>
          </p:nvPr>
        </p:nvSpPr>
        <p:spPr>
          <a:xfrm>
            <a:off x="311700" y="6955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Failures</a:t>
            </a:r>
            <a:endParaRPr>
              <a:solidFill>
                <a:schemeClr val="dk1"/>
              </a:solidFill>
            </a:endParaRPr>
          </a:p>
        </p:txBody>
      </p:sp>
      <p:sp>
        <p:nvSpPr>
          <p:cNvPr id="277" name="Google Shape;277;p40"/>
          <p:cNvSpPr txBox="1"/>
          <p:nvPr/>
        </p:nvSpPr>
        <p:spPr>
          <a:xfrm>
            <a:off x="311700" y="1146225"/>
            <a:ext cx="8340300" cy="41481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Char char="-"/>
            </a:pPr>
            <a:r>
              <a:rPr lang="en" sz="1500">
                <a:solidFill>
                  <a:schemeClr val="dk1"/>
                </a:solidFill>
              </a:rPr>
              <a:t>Monte Carlo stress tests model random rocket and elevator failures to assess the robustness of the hybrid plan.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Each rocket launch has a 2% chance of failure; failed launches incur full cost but deliver no payload.</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Each climber fails with probability 10⁻⁶; a failure triggers a 30‑day shutdown and a $5 B repair.</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Under the 149‑year plan there are about 1341 launches and 10,740 climbs per year; the chance of at least one elevator failure in a year is ≈1.07%, leading to ≈1.59 failures over the project horizon.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Simulations show the deterministic 149‑year schedule effectively becomes a 150‑year plan: mean completion ≈150.004 years with a 0.422% chance of needing a 151st year; mean cost ≈$329 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Failures mainly introduce schedule risk; the cost distribution is narrow (95th percentile cost ≈$0.13 T above the mean).</a:t>
            </a:r>
            <a:endParaRPr sz="1500">
              <a:solidFill>
                <a:schemeClr val="dk1"/>
              </a:solidFill>
            </a:endParaRPr>
          </a:p>
          <a:p>
            <a:pPr indent="0" lvl="0" marL="0" rtl="0" algn="l">
              <a:spcBef>
                <a:spcPts val="0"/>
              </a:spcBef>
              <a:spcAft>
                <a:spcPts val="0"/>
              </a:spcAft>
              <a:buNone/>
            </a:pPr>
            <a:r>
              <a:t/>
            </a:r>
            <a:endParaRPr sz="16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Stochastic Disruptions</a:t>
            </a:r>
            <a:endParaRPr/>
          </a:p>
        </p:txBody>
      </p:sp>
      <p:sp>
        <p:nvSpPr>
          <p:cNvPr id="283" name="Google Shape;283;p41"/>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Conclusions about simulations of failures</a:t>
            </a:r>
            <a:endParaRPr>
              <a:solidFill>
                <a:schemeClr val="dk1"/>
              </a:solidFill>
            </a:endParaRPr>
          </a:p>
        </p:txBody>
      </p:sp>
      <p:pic>
        <p:nvPicPr>
          <p:cNvPr id="284" name="Google Shape;284;p41" title="Screenshot 2026-02-11 at 10.59.17 AM.png"/>
          <p:cNvPicPr preferRelativeResize="0"/>
          <p:nvPr/>
        </p:nvPicPr>
        <p:blipFill>
          <a:blip r:embed="rId3">
            <a:alphaModFix/>
          </a:blip>
          <a:stretch>
            <a:fillRect/>
          </a:stretch>
        </p:blipFill>
        <p:spPr>
          <a:xfrm>
            <a:off x="587850" y="2003463"/>
            <a:ext cx="3573550" cy="1726825"/>
          </a:xfrm>
          <a:prstGeom prst="rect">
            <a:avLst/>
          </a:prstGeom>
          <a:noFill/>
          <a:ln>
            <a:noFill/>
          </a:ln>
        </p:spPr>
      </p:pic>
      <p:pic>
        <p:nvPicPr>
          <p:cNvPr id="285" name="Google Shape;285;p41" title="q2_schedule_risk_grouped.png"/>
          <p:cNvPicPr preferRelativeResize="0"/>
          <p:nvPr/>
        </p:nvPicPr>
        <p:blipFill>
          <a:blip r:embed="rId4">
            <a:alphaModFix/>
          </a:blip>
          <a:stretch>
            <a:fillRect/>
          </a:stretch>
        </p:blipFill>
        <p:spPr>
          <a:xfrm>
            <a:off x="4687975" y="117700"/>
            <a:ext cx="4358973" cy="2454051"/>
          </a:xfrm>
          <a:prstGeom prst="rect">
            <a:avLst/>
          </a:prstGeom>
          <a:noFill/>
          <a:ln>
            <a:noFill/>
          </a:ln>
        </p:spPr>
      </p:pic>
      <p:pic>
        <p:nvPicPr>
          <p:cNvPr id="286" name="Google Shape;286;p41" title="q2_cost_grouped.png"/>
          <p:cNvPicPr preferRelativeResize="0"/>
          <p:nvPr/>
        </p:nvPicPr>
        <p:blipFill>
          <a:blip r:embed="rId5">
            <a:alphaModFix/>
          </a:blip>
          <a:stretch>
            <a:fillRect/>
          </a:stretch>
        </p:blipFill>
        <p:spPr>
          <a:xfrm>
            <a:off x="4687975" y="2720000"/>
            <a:ext cx="4260152" cy="23401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Colony Water Sustainment Analysis</a:t>
            </a:r>
            <a:endParaRPr/>
          </a:p>
        </p:txBody>
      </p:sp>
      <p:sp>
        <p:nvSpPr>
          <p:cNvPr id="292" name="Google Shape;292;p42"/>
          <p:cNvSpPr txBox="1"/>
          <p:nvPr/>
        </p:nvSpPr>
        <p:spPr>
          <a:xfrm>
            <a:off x="311700" y="944149"/>
            <a:ext cx="8520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Water usage are mainly divided into </a:t>
            </a:r>
            <a:endParaRPr b="0" i="0" sz="1600" u="none" cap="none" strike="noStrike">
              <a:solidFill>
                <a:schemeClr val="dk2"/>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a) Residential Usage    b) Agricultural Usage     c) Industrial Usage</a:t>
            </a:r>
            <a:endParaRPr b="0" i="0" sz="1600" u="none" cap="none" strike="noStrike">
              <a:solidFill>
                <a:schemeClr val="dk2"/>
              </a:solidFill>
              <a:latin typeface="Arial"/>
              <a:ea typeface="Arial"/>
              <a:cs typeface="Arial"/>
              <a:sym typeface="Arial"/>
            </a:endParaRPr>
          </a:p>
        </p:txBody>
      </p:sp>
      <p:sp>
        <p:nvSpPr>
          <p:cNvPr id="293" name="Google Shape;293;p42"/>
          <p:cNvSpPr txBox="1"/>
          <p:nvPr/>
        </p:nvSpPr>
        <p:spPr>
          <a:xfrm>
            <a:off x="311700" y="1888075"/>
            <a:ext cx="8365500" cy="1662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On Earth, average per person per day is 221L[3]; on Moon, we expect it to be much smaller and recycling rate much higher.</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NASA concludes 4 astronauts use 41L of water per day, with water reuse rate of 98%[4, 5].</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pic>
        <p:nvPicPr>
          <p:cNvPr id="294" name="Google Shape;294;p42" title="Screenshot 2026-02-11 at 11.14.26 AM.png"/>
          <p:cNvPicPr preferRelativeResize="0"/>
          <p:nvPr/>
        </p:nvPicPr>
        <p:blipFill rotWithShape="1">
          <a:blip r:embed="rId3">
            <a:alphaModFix/>
          </a:blip>
          <a:srcRect b="0" l="0" r="0" t="0"/>
          <a:stretch/>
        </p:blipFill>
        <p:spPr>
          <a:xfrm>
            <a:off x="778902" y="2987101"/>
            <a:ext cx="4816705" cy="1661963"/>
          </a:xfrm>
          <a:prstGeom prst="rect">
            <a:avLst/>
          </a:prstGeom>
          <a:noFill/>
          <a:ln>
            <a:noFill/>
          </a:ln>
        </p:spPr>
      </p:pic>
      <p:sp>
        <p:nvSpPr>
          <p:cNvPr id="295" name="Google Shape;295;p42"/>
          <p:cNvSpPr txBox="1"/>
          <p:nvPr/>
        </p:nvSpPr>
        <p:spPr>
          <a:xfrm>
            <a:off x="311700" y="4583369"/>
            <a:ext cx="8520600" cy="923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Estimated residential water need per year is ~4.29 × 10</a:t>
            </a:r>
            <a:r>
              <a:rPr b="0" baseline="30000" i="0" lang="en" sz="1600" u="none" cap="none" strike="noStrike">
                <a:solidFill>
                  <a:schemeClr val="dk2"/>
                </a:solidFill>
                <a:latin typeface="Arial"/>
                <a:ea typeface="Arial"/>
                <a:cs typeface="Arial"/>
                <a:sym typeface="Arial"/>
              </a:rPr>
              <a:t>8</a:t>
            </a:r>
            <a:r>
              <a:rPr b="0" i="0" lang="en" sz="1600" u="none" cap="none" strike="noStrike">
                <a:solidFill>
                  <a:schemeClr val="dk2"/>
                </a:solidFill>
                <a:latin typeface="Arial"/>
                <a:ea typeface="Arial"/>
                <a:cs typeface="Arial"/>
                <a:sym typeface="Arial"/>
              </a:rPr>
              <a:t>L.</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96" name="Google Shape;296;p42"/>
          <p:cNvSpPr txBox="1"/>
          <p:nvPr>
            <p:ph idx="1" type="body"/>
          </p:nvPr>
        </p:nvSpPr>
        <p:spPr>
          <a:xfrm>
            <a:off x="311700" y="15837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118"/>
              <a:buNone/>
            </a:pPr>
            <a:r>
              <a:rPr lang="en">
                <a:solidFill>
                  <a:schemeClr val="dk1"/>
                </a:solidFill>
              </a:rPr>
              <a:t>Residential Water Need</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Colony Water Sustainment Analysis</a:t>
            </a:r>
            <a:endParaRPr/>
          </a:p>
        </p:txBody>
      </p:sp>
      <p:sp>
        <p:nvSpPr>
          <p:cNvPr id="302" name="Google Shape;302;p43"/>
          <p:cNvSpPr txBox="1"/>
          <p:nvPr/>
        </p:nvSpPr>
        <p:spPr>
          <a:xfrm>
            <a:off x="311700" y="1390442"/>
            <a:ext cx="8520600" cy="28938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Energy requirement per capita: 2200 kcal/day</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Assuming food energy density = 1.5 kcal/g, the required daily edible biomass per capita ~1.47kg/day, and 5.37 * 10</a:t>
            </a:r>
            <a:r>
              <a:rPr b="0" baseline="30000" i="0" lang="en" sz="1600" u="none" cap="none" strike="noStrike">
                <a:solidFill>
                  <a:schemeClr val="dk2"/>
                </a:solidFill>
                <a:latin typeface="Arial"/>
                <a:ea typeface="Arial"/>
                <a:cs typeface="Arial"/>
                <a:sym typeface="Arial"/>
              </a:rPr>
              <a:t>7</a:t>
            </a:r>
            <a:r>
              <a:rPr b="0" i="0" lang="en" sz="1600" u="none" cap="none" strike="noStrike">
                <a:solidFill>
                  <a:schemeClr val="dk2"/>
                </a:solidFill>
                <a:latin typeface="Arial"/>
                <a:ea typeface="Arial"/>
                <a:cs typeface="Arial"/>
                <a:sym typeface="Arial"/>
              </a:rPr>
              <a:t> kg/year for 100,000 people.</a:t>
            </a:r>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Assuming productivity of 20-40 g/m</a:t>
            </a:r>
            <a:r>
              <a:rPr b="0" baseline="30000" i="0" lang="en" sz="1600" u="none" cap="none" strike="noStrike">
                <a:solidFill>
                  <a:schemeClr val="dk2"/>
                </a:solidFill>
                <a:latin typeface="Arial"/>
                <a:ea typeface="Arial"/>
                <a:cs typeface="Arial"/>
                <a:sym typeface="Arial"/>
              </a:rPr>
              <a:t>2</a:t>
            </a:r>
            <a:r>
              <a:rPr b="0" i="0" lang="en" sz="1600" u="none" cap="none" strike="noStrike">
                <a:solidFill>
                  <a:schemeClr val="dk2"/>
                </a:solidFill>
                <a:latin typeface="Arial"/>
                <a:ea typeface="Arial"/>
                <a:cs typeface="Arial"/>
                <a:sym typeface="Arial"/>
              </a:rPr>
              <a:t>d, at least 5 km</a:t>
            </a:r>
            <a:r>
              <a:rPr b="0" baseline="30000" i="0" lang="en" sz="1600" u="none" cap="none" strike="noStrike">
                <a:solidFill>
                  <a:schemeClr val="dk2"/>
                </a:solidFill>
                <a:latin typeface="Arial"/>
                <a:ea typeface="Arial"/>
                <a:cs typeface="Arial"/>
                <a:sym typeface="Arial"/>
              </a:rPr>
              <a:t>2</a:t>
            </a:r>
            <a:r>
              <a:rPr b="0" i="0" lang="en" sz="1600" u="none" cap="none" strike="noStrike">
                <a:solidFill>
                  <a:schemeClr val="dk2"/>
                </a:solidFill>
                <a:latin typeface="Arial"/>
                <a:ea typeface="Arial"/>
                <a:cs typeface="Arial"/>
                <a:sym typeface="Arial"/>
              </a:rPr>
              <a:t> of cultivation area is required [8].</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Assumeing hydroponic systems reduces water use by 90% [7] and cooling coils captures evapotranspiration [8], we estimate a 2% loss of water due to metabolic bonding and leakages.</a:t>
            </a:r>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Scaled from NASA’s BPC experimental data [8], 1 L/m</a:t>
            </a:r>
            <a:r>
              <a:rPr b="0" baseline="30000" i="0" lang="en" sz="1600" u="none" cap="none" strike="noStrike">
                <a:solidFill>
                  <a:schemeClr val="dk2"/>
                </a:solidFill>
                <a:latin typeface="Arial"/>
                <a:ea typeface="Arial"/>
                <a:cs typeface="Arial"/>
                <a:sym typeface="Arial"/>
              </a:rPr>
              <a:t>2</a:t>
            </a:r>
            <a:r>
              <a:rPr b="0" i="0" lang="en" sz="1600" u="none" cap="none" strike="noStrike">
                <a:solidFill>
                  <a:schemeClr val="dk2"/>
                </a:solidFill>
                <a:latin typeface="Arial"/>
                <a:ea typeface="Arial"/>
                <a:cs typeface="Arial"/>
                <a:sym typeface="Arial"/>
              </a:rPr>
              <a:t>/day</a:t>
            </a:r>
            <a:r>
              <a:rPr b="0" baseline="30000" i="0" lang="en" sz="1600" u="none" cap="none" strike="noStrike">
                <a:solidFill>
                  <a:schemeClr val="dk2"/>
                </a:solidFill>
                <a:latin typeface="Arial"/>
                <a:ea typeface="Arial"/>
                <a:cs typeface="Arial"/>
                <a:sym typeface="Arial"/>
              </a:rPr>
              <a:t> </a:t>
            </a:r>
            <a:r>
              <a:rPr b="0" i="0" lang="en" sz="1600" u="none" cap="none" strike="noStrike">
                <a:solidFill>
                  <a:schemeClr val="dk2"/>
                </a:solidFill>
                <a:latin typeface="Arial"/>
                <a:ea typeface="Arial"/>
                <a:cs typeface="Arial"/>
                <a:sym typeface="Arial"/>
              </a:rPr>
              <a:t>is needed across 5 km</a:t>
            </a:r>
            <a:r>
              <a:rPr b="0" baseline="30000" i="0" lang="en" sz="1600" u="none" cap="none" strike="noStrike">
                <a:solidFill>
                  <a:schemeClr val="dk2"/>
                </a:solidFill>
                <a:latin typeface="Arial"/>
                <a:ea typeface="Arial"/>
                <a:cs typeface="Arial"/>
                <a:sym typeface="Arial"/>
              </a:rPr>
              <a:t>2</a:t>
            </a:r>
            <a:r>
              <a:rPr b="0" i="0" lang="en" sz="1600" u="none" cap="none" strike="noStrike">
                <a:solidFill>
                  <a:schemeClr val="dk2"/>
                </a:solidFill>
                <a:latin typeface="Arial"/>
                <a:ea typeface="Arial"/>
                <a:cs typeface="Arial"/>
                <a:sym typeface="Arial"/>
              </a:rPr>
              <a:t>. Total water use: 5*10</a:t>
            </a:r>
            <a:r>
              <a:rPr b="0" baseline="30000" i="0" lang="en" sz="1600" u="none" cap="none" strike="noStrike">
                <a:solidFill>
                  <a:schemeClr val="dk2"/>
                </a:solidFill>
                <a:latin typeface="Arial"/>
                <a:ea typeface="Arial"/>
                <a:cs typeface="Arial"/>
                <a:sym typeface="Arial"/>
              </a:rPr>
              <a:t>6</a:t>
            </a:r>
            <a:r>
              <a:rPr b="0" i="0" lang="en" sz="1600" u="none" cap="none" strike="noStrike">
                <a:solidFill>
                  <a:schemeClr val="dk2"/>
                </a:solidFill>
                <a:latin typeface="Arial"/>
                <a:ea typeface="Arial"/>
                <a:cs typeface="Arial"/>
                <a:sym typeface="Arial"/>
              </a:rPr>
              <a:t> L/day.</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2% unrecoverable loss → </a:t>
            </a:r>
            <a:r>
              <a:rPr b="1" i="0" lang="en" sz="1600" u="none" cap="none" strike="noStrike">
                <a:solidFill>
                  <a:schemeClr val="dk2"/>
                </a:solidFill>
                <a:latin typeface="Arial"/>
                <a:ea typeface="Arial"/>
                <a:cs typeface="Arial"/>
                <a:sym typeface="Arial"/>
              </a:rPr>
              <a:t>3.65 × 10</a:t>
            </a:r>
            <a:r>
              <a:rPr b="1" baseline="30000" i="0" lang="en" sz="1600" u="none" cap="none" strike="noStrike">
                <a:solidFill>
                  <a:schemeClr val="dk2"/>
                </a:solidFill>
                <a:latin typeface="Arial"/>
                <a:ea typeface="Arial"/>
                <a:cs typeface="Arial"/>
                <a:sym typeface="Arial"/>
              </a:rPr>
              <a:t>7</a:t>
            </a:r>
            <a:r>
              <a:rPr b="1" i="0" lang="en" sz="1600" u="none" cap="none" strike="noStrike">
                <a:solidFill>
                  <a:schemeClr val="dk2"/>
                </a:solidFill>
                <a:latin typeface="Arial"/>
                <a:ea typeface="Arial"/>
                <a:cs typeface="Arial"/>
                <a:sym typeface="Arial"/>
              </a:rPr>
              <a:t> L</a:t>
            </a:r>
            <a:r>
              <a:rPr b="0" i="0" lang="en" sz="1600" u="none" cap="none" strike="noStrike">
                <a:solidFill>
                  <a:schemeClr val="dk2"/>
                </a:solidFill>
                <a:latin typeface="Arial"/>
                <a:ea typeface="Arial"/>
                <a:cs typeface="Arial"/>
                <a:sym typeface="Arial"/>
              </a:rPr>
              <a:t> of water supplement annually.</a:t>
            </a:r>
            <a:endParaRPr/>
          </a:p>
          <a:p>
            <a:pPr indent="-228600" lvl="0" marL="457200" marR="0" rtl="0" algn="l">
              <a:lnSpc>
                <a:spcPct val="10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303" name="Google Shape;303;p43"/>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118"/>
              <a:buNone/>
            </a:pPr>
            <a:r>
              <a:rPr lang="en">
                <a:solidFill>
                  <a:schemeClr val="dk1"/>
                </a:solidFill>
              </a:rPr>
              <a:t>Agricultural Water Need</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Colony Water Sustainment Analysis</a:t>
            </a:r>
            <a:endParaRPr/>
          </a:p>
        </p:txBody>
      </p:sp>
      <p:sp>
        <p:nvSpPr>
          <p:cNvPr id="309" name="Google Shape;309;p44"/>
          <p:cNvSpPr txBox="1"/>
          <p:nvPr/>
        </p:nvSpPr>
        <p:spPr>
          <a:xfrm>
            <a:off x="311700" y="1390442"/>
            <a:ext cx="85206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We separate into four categories: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Infrastructure: technical needs like cooling, dust mitigation, and chemical processing.</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Life support system: primarily accounts for the system losses and draws in recycling.</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Atmosphere management: humidity control and air composition adjustment needs.</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Safety reserves: a safety buffer of potable and fire-suppression water.</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310" name="Google Shape;310;p44"/>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118"/>
              <a:buNone/>
            </a:pPr>
            <a:r>
              <a:rPr lang="en">
                <a:solidFill>
                  <a:schemeClr val="dk1"/>
                </a:solidFill>
              </a:rPr>
              <a:t>Industrial Water Need</a:t>
            </a:r>
            <a:endParaRPr>
              <a:solidFill>
                <a:schemeClr val="dk1"/>
              </a:solidFill>
            </a:endParaRPr>
          </a:p>
        </p:txBody>
      </p:sp>
      <p:sp>
        <p:nvSpPr>
          <p:cNvPr id="311" name="Google Shape;311;p44"/>
          <p:cNvSpPr txBox="1"/>
          <p:nvPr/>
        </p:nvSpPr>
        <p:spPr>
          <a:xfrm>
            <a:off x="340975" y="2812850"/>
            <a:ext cx="3719100" cy="218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We also consider the possibility of lunar mining.</a:t>
            </a:r>
            <a:endParaRPr b="0" i="0" sz="14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400" u="none" cap="none" strike="noStrike">
                <a:solidFill>
                  <a:schemeClr val="dk2"/>
                </a:solidFill>
                <a:latin typeface="Arial"/>
                <a:ea typeface="Arial"/>
                <a:cs typeface="Arial"/>
                <a:sym typeface="Arial"/>
              </a:rPr>
              <a:t>Moon is rich on ilmenite (FeTiO</a:t>
            </a:r>
            <a:r>
              <a:rPr b="0" baseline="-25000" i="0" lang="en" sz="1400" u="none" cap="none" strike="noStrike">
                <a:solidFill>
                  <a:schemeClr val="dk2"/>
                </a:solidFill>
                <a:latin typeface="Arial"/>
                <a:ea typeface="Arial"/>
                <a:cs typeface="Arial"/>
                <a:sym typeface="Arial"/>
              </a:rPr>
              <a:t>3</a:t>
            </a:r>
            <a:r>
              <a:rPr b="0" i="0" lang="en" sz="1400" u="none" cap="none" strike="noStrike">
                <a:solidFill>
                  <a:schemeClr val="dk2"/>
                </a:solidFill>
                <a:latin typeface="Arial"/>
                <a:ea typeface="Arial"/>
                <a:cs typeface="Arial"/>
                <a:sym typeface="Arial"/>
              </a:rPr>
              <a:t>): 31.6% titanium, 36.8% iron and oxygen [9], and has O</a:t>
            </a:r>
            <a:r>
              <a:rPr b="0" baseline="-25000" i="0" lang="en" sz="1400" u="none" cap="none" strike="noStrike">
                <a:solidFill>
                  <a:schemeClr val="dk2"/>
                </a:solidFill>
                <a:latin typeface="Arial"/>
                <a:ea typeface="Arial"/>
                <a:cs typeface="Arial"/>
                <a:sym typeface="Arial"/>
              </a:rPr>
              <a:t>2</a:t>
            </a:r>
            <a:r>
              <a:rPr b="0" i="0" lang="en" sz="1400" u="none" cap="none" strike="noStrike">
                <a:solidFill>
                  <a:schemeClr val="dk2"/>
                </a:solidFill>
                <a:latin typeface="Arial"/>
                <a:ea typeface="Arial"/>
                <a:cs typeface="Arial"/>
                <a:sym typeface="Arial"/>
              </a:rPr>
              <a:t> as a byproduct [10]. This relies on efficient reagent recovery (Cl</a:t>
            </a:r>
            <a:r>
              <a:rPr b="0" baseline="-25000" i="0" lang="en" sz="1400" u="none" cap="none" strike="noStrike">
                <a:solidFill>
                  <a:schemeClr val="dk2"/>
                </a:solidFill>
                <a:latin typeface="Arial"/>
                <a:ea typeface="Arial"/>
                <a:cs typeface="Arial"/>
                <a:sym typeface="Arial"/>
              </a:rPr>
              <a:t>2</a:t>
            </a:r>
            <a:r>
              <a:rPr b="0" i="0" lang="en" sz="1400" u="none" cap="none" strike="noStrike">
                <a:solidFill>
                  <a:schemeClr val="dk2"/>
                </a:solidFill>
                <a:latin typeface="Arial"/>
                <a:ea typeface="Arial"/>
                <a:cs typeface="Arial"/>
                <a:sym typeface="Arial"/>
              </a:rPr>
              <a:t>, H</a:t>
            </a:r>
            <a:r>
              <a:rPr b="0" baseline="-25000" i="0" lang="en" sz="1400" u="none" cap="none" strike="noStrike">
                <a:solidFill>
                  <a:schemeClr val="dk2"/>
                </a:solidFill>
                <a:latin typeface="Arial"/>
                <a:ea typeface="Arial"/>
                <a:cs typeface="Arial"/>
                <a:sym typeface="Arial"/>
              </a:rPr>
              <a:t>2</a:t>
            </a:r>
            <a:r>
              <a:rPr b="0" i="0" lang="en" sz="1400" u="none" cap="none" strike="noStrike">
                <a:solidFill>
                  <a:schemeClr val="dk2"/>
                </a:solidFill>
                <a:latin typeface="Arial"/>
                <a:ea typeface="Arial"/>
                <a:cs typeface="Arial"/>
                <a:sym typeface="Arial"/>
              </a:rPr>
              <a:t>, Ca, C) [10]</a:t>
            </a:r>
            <a:endParaRPr b="0" i="0" sz="14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400" u="none" cap="none" strike="noStrike">
                <a:solidFill>
                  <a:schemeClr val="dk2"/>
                </a:solidFill>
                <a:latin typeface="Arial"/>
                <a:ea typeface="Arial"/>
                <a:cs typeface="Arial"/>
                <a:sym typeface="Arial"/>
              </a:rPr>
              <a:t>This is much more economic than transporting from Earth. </a:t>
            </a:r>
            <a:endParaRPr b="0" i="0" sz="1400" u="none" cap="none" strike="noStrike">
              <a:solidFill>
                <a:schemeClr val="dk2"/>
              </a:solidFill>
              <a:latin typeface="Arial"/>
              <a:ea typeface="Arial"/>
              <a:cs typeface="Arial"/>
              <a:sym typeface="Arial"/>
            </a:endParaRPr>
          </a:p>
        </p:txBody>
      </p:sp>
      <p:pic>
        <p:nvPicPr>
          <p:cNvPr id="312" name="Google Shape;312;p44" title="Screenshot 2026-02-11 at 11.36.35 AM.png"/>
          <p:cNvPicPr preferRelativeResize="0"/>
          <p:nvPr/>
        </p:nvPicPr>
        <p:blipFill rotWithShape="1">
          <a:blip r:embed="rId3">
            <a:alphaModFix/>
          </a:blip>
          <a:srcRect b="0" l="0" r="0" t="0"/>
          <a:stretch/>
        </p:blipFill>
        <p:spPr>
          <a:xfrm>
            <a:off x="4089350" y="3079301"/>
            <a:ext cx="4772225" cy="1590725"/>
          </a:xfrm>
          <a:prstGeom prst="rect">
            <a:avLst/>
          </a:prstGeom>
          <a:noFill/>
          <a:ln>
            <a:noFill/>
          </a:ln>
        </p:spPr>
      </p:pic>
      <p:sp>
        <p:nvSpPr>
          <p:cNvPr id="313" name="Google Shape;313;p44"/>
          <p:cNvSpPr txBox="1"/>
          <p:nvPr/>
        </p:nvSpPr>
        <p:spPr>
          <a:xfrm>
            <a:off x="4089350" y="4670026"/>
            <a:ext cx="4572000" cy="307800"/>
          </a:xfrm>
          <a:prstGeom prst="rect">
            <a:avLst/>
          </a:prstGeom>
          <a:noFill/>
          <a:ln>
            <a:noFill/>
          </a:ln>
        </p:spPr>
        <p:txBody>
          <a:bodyPr anchorCtr="0" anchor="t" bIns="45700" lIns="91425" spcFirstLastPara="1" rIns="91425" wrap="square" tIns="45700">
            <a:spAutoFit/>
          </a:bodyPr>
          <a:lstStyle/>
          <a:p>
            <a:pPr indent="0" lvl="0" marL="127000" marR="0" rtl="0" algn="l">
              <a:lnSpc>
                <a:spcPct val="100000"/>
              </a:lnSpc>
              <a:spcBef>
                <a:spcPts val="0"/>
              </a:spcBef>
              <a:spcAft>
                <a:spcPts val="0"/>
              </a:spcAft>
              <a:buNone/>
            </a:pPr>
            <a:r>
              <a:rPr b="0" i="0" lang="en" sz="1400" u="none" cap="none" strike="noStrike">
                <a:solidFill>
                  <a:schemeClr val="dk2"/>
                </a:solidFill>
                <a:latin typeface="Arial"/>
                <a:ea typeface="Arial"/>
                <a:cs typeface="Arial"/>
                <a:sym typeface="Arial"/>
              </a:rPr>
              <a:t>7.13 L/day/person  →  ~2.60 * 10</a:t>
            </a:r>
            <a:r>
              <a:rPr b="0" baseline="30000" i="0" lang="en" sz="1400" u="none" cap="none" strike="noStrike">
                <a:solidFill>
                  <a:schemeClr val="dk2"/>
                </a:solidFill>
                <a:latin typeface="Arial"/>
                <a:ea typeface="Arial"/>
                <a:cs typeface="Arial"/>
                <a:sym typeface="Arial"/>
              </a:rPr>
              <a:t>8</a:t>
            </a:r>
            <a:r>
              <a:rPr b="0" i="0" lang="en" sz="1400" u="none" cap="none" strike="noStrike">
                <a:solidFill>
                  <a:schemeClr val="dk2"/>
                </a:solidFill>
                <a:latin typeface="Arial"/>
                <a:ea typeface="Arial"/>
                <a:cs typeface="Arial"/>
                <a:sym typeface="Arial"/>
              </a:rPr>
              <a:t> /year.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Colony Water Sustainment Analysis</a:t>
            </a:r>
            <a:endParaRPr/>
          </a:p>
        </p:txBody>
      </p:sp>
      <p:sp>
        <p:nvSpPr>
          <p:cNvPr id="319" name="Google Shape;319;p45"/>
          <p:cNvSpPr txBox="1"/>
          <p:nvPr/>
        </p:nvSpPr>
        <p:spPr>
          <a:xfrm>
            <a:off x="311700" y="1390442"/>
            <a:ext cx="8520600" cy="2647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The total annual water needs is 4.29 × 10</a:t>
            </a:r>
            <a:r>
              <a:rPr b="0" baseline="30000" i="0" lang="en" sz="1600" u="none" cap="none" strike="noStrike">
                <a:solidFill>
                  <a:schemeClr val="dk2"/>
                </a:solidFill>
                <a:latin typeface="Arial"/>
                <a:ea typeface="Arial"/>
                <a:cs typeface="Arial"/>
                <a:sym typeface="Arial"/>
              </a:rPr>
              <a:t>8</a:t>
            </a:r>
            <a:r>
              <a:rPr b="0" i="0" lang="en" sz="1600" u="none" cap="none" strike="noStrike">
                <a:solidFill>
                  <a:schemeClr val="dk2"/>
                </a:solidFill>
                <a:latin typeface="Arial"/>
                <a:ea typeface="Arial"/>
                <a:cs typeface="Arial"/>
                <a:sym typeface="Arial"/>
              </a:rPr>
              <a:t> L + 3.65 × 10</a:t>
            </a:r>
            <a:r>
              <a:rPr b="0" baseline="30000" i="0" lang="en" sz="1600" u="none" cap="none" strike="noStrike">
                <a:solidFill>
                  <a:schemeClr val="dk2"/>
                </a:solidFill>
                <a:latin typeface="Arial"/>
                <a:ea typeface="Arial"/>
                <a:cs typeface="Arial"/>
                <a:sym typeface="Arial"/>
              </a:rPr>
              <a:t>7</a:t>
            </a:r>
            <a:r>
              <a:rPr b="0" i="0" lang="en" sz="1600" u="none" cap="none" strike="noStrike">
                <a:solidFill>
                  <a:schemeClr val="dk2"/>
                </a:solidFill>
                <a:latin typeface="Arial"/>
                <a:ea typeface="Arial"/>
                <a:cs typeface="Arial"/>
                <a:sym typeface="Arial"/>
              </a:rPr>
              <a:t> L + 2.60 × 10</a:t>
            </a:r>
            <a:r>
              <a:rPr b="0" baseline="30000" i="0" lang="en" sz="1600" u="none" cap="none" strike="noStrike">
                <a:solidFill>
                  <a:schemeClr val="dk2"/>
                </a:solidFill>
                <a:latin typeface="Arial"/>
                <a:ea typeface="Arial"/>
                <a:cs typeface="Arial"/>
                <a:sym typeface="Arial"/>
              </a:rPr>
              <a:t>8</a:t>
            </a:r>
            <a:r>
              <a:rPr b="0" i="0" lang="en" sz="1600" u="none" cap="none" strike="noStrike">
                <a:solidFill>
                  <a:schemeClr val="dk2"/>
                </a:solidFill>
                <a:latin typeface="Arial"/>
                <a:ea typeface="Arial"/>
                <a:cs typeface="Arial"/>
                <a:sym typeface="Arial"/>
              </a:rPr>
              <a:t> L = 7.26 × 10</a:t>
            </a:r>
            <a:r>
              <a:rPr b="0" baseline="30000" i="0" lang="en" sz="1600" u="none" cap="none" strike="noStrike">
                <a:solidFill>
                  <a:schemeClr val="dk2"/>
                </a:solidFill>
                <a:latin typeface="Arial"/>
                <a:ea typeface="Arial"/>
                <a:cs typeface="Arial"/>
                <a:sym typeface="Arial"/>
              </a:rPr>
              <a:t>8</a:t>
            </a:r>
            <a:r>
              <a:rPr b="0" i="0" lang="en" sz="1600" u="none" cap="none" strike="noStrike">
                <a:solidFill>
                  <a:schemeClr val="dk2"/>
                </a:solidFill>
                <a:latin typeface="Arial"/>
                <a:ea typeface="Arial"/>
                <a:cs typeface="Arial"/>
                <a:sym typeface="Arial"/>
              </a:rPr>
              <a:t> L/year</a:t>
            </a:r>
            <a:endParaRPr/>
          </a:p>
          <a:p>
            <a:pPr indent="-228600" lvl="0" marL="457200" marR="0" rtl="0" algn="l">
              <a:lnSpc>
                <a:spcPct val="10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a:p>
            <a:pPr indent="-228600" lvl="0" marL="457200" marR="0" rtl="0" algn="l">
              <a:lnSpc>
                <a:spcPct val="10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This means a monthly goal of 60500 metric tons, at full capacity of both rockets and climbers (150 rocket launches, 929 climbers).</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320" name="Google Shape;320;p45"/>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118"/>
              <a:buNone/>
            </a:pPr>
            <a:r>
              <a:rPr lang="en">
                <a:solidFill>
                  <a:schemeClr val="dk1"/>
                </a:solidFill>
              </a:rPr>
              <a:t>Water Needs Summary</a:t>
            </a:r>
            <a:endParaRPr>
              <a:solidFill>
                <a:schemeClr val="dk1"/>
              </a:solidFill>
            </a:endParaRPr>
          </a:p>
        </p:txBody>
      </p:sp>
      <p:pic>
        <p:nvPicPr>
          <p:cNvPr id="321" name="Google Shape;321;p45"/>
          <p:cNvPicPr preferRelativeResize="0"/>
          <p:nvPr/>
        </p:nvPicPr>
        <p:blipFill rotWithShape="1">
          <a:blip r:embed="rId3">
            <a:alphaModFix/>
          </a:blip>
          <a:srcRect b="0" l="0" r="0" t="0"/>
          <a:stretch/>
        </p:blipFill>
        <p:spPr>
          <a:xfrm>
            <a:off x="864378" y="2024727"/>
            <a:ext cx="5005424" cy="37624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Environmental Impact</a:t>
            </a:r>
            <a:endParaRPr/>
          </a:p>
        </p:txBody>
      </p:sp>
      <p:sp>
        <p:nvSpPr>
          <p:cNvPr id="327" name="Google Shape;327;p46"/>
          <p:cNvSpPr txBox="1"/>
          <p:nvPr/>
        </p:nvSpPr>
        <p:spPr>
          <a:xfrm>
            <a:off x="311700" y="1390442"/>
            <a:ext cx="8520600" cy="4371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Over 60% of rocket launch sites are situated within or adjacent to protected areas.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Biodiversity risk is calculated using intersection with protected areas listed in WDPA (World Database on Protected Areas) times species richness averaged by IUCN.</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The metric is normalized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 sz="1600">
                <a:solidFill>
                  <a:schemeClr val="dk2"/>
                </a:solidFill>
              </a:rPr>
              <a:t>We select three space elevator sites and normalize them with the rocket launch sites: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Marsabit Desert, Kenya (2.704</a:t>
            </a:r>
            <a:r>
              <a:rPr baseline="30000" lang="en" sz="1600">
                <a:solidFill>
                  <a:schemeClr val="dk2"/>
                </a:solidFill>
              </a:rPr>
              <a:t>◦</a:t>
            </a:r>
            <a:r>
              <a:rPr lang="en" sz="1600">
                <a:solidFill>
                  <a:schemeClr val="dk2"/>
                </a:solidFill>
              </a:rPr>
              <a:t>N, 37.263</a:t>
            </a:r>
            <a:r>
              <a:rPr baseline="30000" lang="en" sz="1600">
                <a:solidFill>
                  <a:schemeClr val="dk2"/>
                </a:solidFill>
              </a:rPr>
              <a:t>◦</a:t>
            </a:r>
            <a:r>
              <a:rPr lang="en" sz="1600">
                <a:solidFill>
                  <a:schemeClr val="dk2"/>
                </a:solidFill>
              </a:rPr>
              <a:t>E)</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Galapagos Highlands (0.633</a:t>
            </a:r>
            <a:r>
              <a:rPr baseline="30000" lang="en" sz="1600">
                <a:solidFill>
                  <a:schemeClr val="dk2"/>
                </a:solidFill>
              </a:rPr>
              <a:t>◦</a:t>
            </a:r>
            <a:r>
              <a:rPr lang="en" sz="1600">
                <a:solidFill>
                  <a:schemeClr val="dk2"/>
                </a:solidFill>
              </a:rPr>
              <a:t>S, 90.367</a:t>
            </a:r>
            <a:r>
              <a:rPr baseline="30000" lang="en" sz="1600">
                <a:solidFill>
                  <a:schemeClr val="dk2"/>
                </a:solidFill>
              </a:rPr>
              <a:t>◦</a:t>
            </a:r>
            <a:r>
              <a:rPr lang="en" sz="1600">
                <a:solidFill>
                  <a:schemeClr val="dk2"/>
                </a:solidFill>
              </a:rPr>
              <a:t>W)</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Padang, Indonesia (0.949</a:t>
            </a:r>
            <a:r>
              <a:rPr baseline="30000" lang="en" sz="1600">
                <a:solidFill>
                  <a:schemeClr val="dk2"/>
                </a:solidFill>
              </a:rPr>
              <a:t>◦</a:t>
            </a:r>
            <a:r>
              <a:rPr lang="en" sz="1600">
                <a:solidFill>
                  <a:schemeClr val="dk2"/>
                </a:solidFill>
              </a:rPr>
              <a:t>S, 100.354</a:t>
            </a:r>
            <a:r>
              <a:rPr baseline="30000" lang="en" sz="1600">
                <a:solidFill>
                  <a:schemeClr val="dk2"/>
                </a:solidFill>
              </a:rPr>
              <a:t>◦</a:t>
            </a:r>
            <a:r>
              <a:rPr lang="en" sz="1600">
                <a:solidFill>
                  <a:schemeClr val="dk2"/>
                </a:solidFill>
              </a:rPr>
              <a:t>E)</a:t>
            </a:r>
            <a:endParaRPr sz="1600">
              <a:solidFill>
                <a:schemeClr val="dk2"/>
              </a:solidFill>
            </a:endParaRPr>
          </a:p>
          <a:p>
            <a:pPr indent="0" lvl="0" marL="0" rtl="0" algn="l">
              <a:spcBef>
                <a:spcPts val="0"/>
              </a:spcBef>
              <a:spcAft>
                <a:spcPts val="0"/>
              </a:spcAft>
              <a:buNone/>
            </a:pPr>
            <a:r>
              <a:rPr lang="en" sz="1600">
                <a:solidFill>
                  <a:schemeClr val="dk2"/>
                </a:solidFill>
              </a:rPr>
              <a:t>All less than 3</a:t>
            </a:r>
            <a:r>
              <a:rPr baseline="30000" lang="en" sz="1600">
                <a:solidFill>
                  <a:schemeClr val="dk2"/>
                </a:solidFill>
              </a:rPr>
              <a:t>◦</a:t>
            </a:r>
            <a:r>
              <a:rPr lang="en" sz="1600">
                <a:solidFill>
                  <a:schemeClr val="dk2"/>
                </a:solidFill>
              </a:rPr>
              <a:t> to the equator, to avoid tether stress and ensure structural integrity, </a:t>
            </a:r>
            <a:r>
              <a:rPr lang="en" sz="1600">
                <a:solidFill>
                  <a:schemeClr val="dk2"/>
                </a:solidFill>
              </a:rPr>
              <a:t>which</a:t>
            </a:r>
            <a:r>
              <a:rPr lang="en" sz="1600">
                <a:solidFill>
                  <a:schemeClr val="dk2"/>
                </a:solidFill>
              </a:rPr>
              <a:t> would be disastrous for a 100,000km space elevator. Inland locations are prioritized and relative lower biodiversity were targeted (especially for equatorial latitudes).</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sp>
        <p:nvSpPr>
          <p:cNvPr id="328" name="Google Shape;328;p46"/>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Biodiversity Risk</a:t>
            </a:r>
            <a:endParaRPr>
              <a:solidFill>
                <a:schemeClr val="dk1"/>
              </a:solidFill>
            </a:endParaRPr>
          </a:p>
        </p:txBody>
      </p:sp>
      <p:pic>
        <p:nvPicPr>
          <p:cNvPr id="329" name="Google Shape;329;p46" title="Screenshot 2026-02-11 at 12.56.26 PM.png"/>
          <p:cNvPicPr preferRelativeResize="0"/>
          <p:nvPr/>
        </p:nvPicPr>
        <p:blipFill>
          <a:blip r:embed="rId3">
            <a:alphaModFix/>
          </a:blip>
          <a:stretch>
            <a:fillRect/>
          </a:stretch>
        </p:blipFill>
        <p:spPr>
          <a:xfrm>
            <a:off x="3177075" y="2247900"/>
            <a:ext cx="2266950" cy="323850"/>
          </a:xfrm>
          <a:prstGeom prst="rect">
            <a:avLst/>
          </a:prstGeom>
          <a:noFill/>
          <a:ln>
            <a:noFill/>
          </a:ln>
        </p:spPr>
      </p:pic>
      <p:pic>
        <p:nvPicPr>
          <p:cNvPr id="330" name="Google Shape;330;p46" title="Screenshot 2026-02-11 at 12.58.48 PM.png"/>
          <p:cNvPicPr preferRelativeResize="0"/>
          <p:nvPr/>
        </p:nvPicPr>
        <p:blipFill>
          <a:blip r:embed="rId4">
            <a:alphaModFix/>
          </a:blip>
          <a:stretch>
            <a:fillRect/>
          </a:stretch>
        </p:blipFill>
        <p:spPr>
          <a:xfrm>
            <a:off x="3122500" y="2682423"/>
            <a:ext cx="1514450" cy="254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Environmental Impact</a:t>
            </a:r>
            <a:endParaRPr/>
          </a:p>
        </p:txBody>
      </p:sp>
      <p:sp>
        <p:nvSpPr>
          <p:cNvPr id="336" name="Google Shape;336;p47"/>
          <p:cNvSpPr txBox="1"/>
          <p:nvPr/>
        </p:nvSpPr>
        <p:spPr>
          <a:xfrm>
            <a:off x="311700" y="1390442"/>
            <a:ext cx="8520600" cy="2647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Ozone risk become more prominent when considering the frequency of rocket launches in this hypothetical scenario.</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Black Carbon (BC) emissions are directly injected into the stratosphere with a residence of up to 6 years [11]. BC heats up atmosphere, thereby causing ozone loss.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There is no statistically significant evidence that the ozone hole is recovering (increase of 0.3%/decade with an </a:t>
            </a:r>
            <a:r>
              <a:rPr lang="en" sz="1600">
                <a:solidFill>
                  <a:schemeClr val="dk2"/>
                </a:solidFill>
              </a:rPr>
              <a:t>uncertainty</a:t>
            </a:r>
            <a:r>
              <a:rPr lang="en" sz="1600">
                <a:solidFill>
                  <a:schemeClr val="dk2"/>
                </a:solidFill>
              </a:rPr>
              <a:t> of at least </a:t>
            </a:r>
            <a:r>
              <a:rPr lang="en" sz="1200">
                <a:solidFill>
                  <a:schemeClr val="dk1"/>
                </a:solidFill>
                <a:latin typeface="Times New Roman"/>
                <a:ea typeface="Times New Roman"/>
                <a:cs typeface="Times New Roman"/>
                <a:sym typeface="Times New Roman"/>
              </a:rPr>
              <a:t>±</a:t>
            </a:r>
            <a:r>
              <a:rPr lang="en" sz="1600">
                <a:solidFill>
                  <a:schemeClr val="dk2"/>
                </a:solidFill>
              </a:rPr>
              <a:t>0.3%/decade in 60</a:t>
            </a:r>
            <a:r>
              <a:rPr baseline="30000" lang="en" sz="1600">
                <a:solidFill>
                  <a:schemeClr val="dk2"/>
                </a:solidFill>
              </a:rPr>
              <a:t>◦</a:t>
            </a:r>
            <a:r>
              <a:rPr lang="en" sz="1600">
                <a:solidFill>
                  <a:schemeClr val="dk2"/>
                </a:solidFill>
              </a:rPr>
              <a:t>S-60</a:t>
            </a:r>
            <a:r>
              <a:rPr baseline="30000" lang="en" sz="1600">
                <a:solidFill>
                  <a:schemeClr val="dk2"/>
                </a:solidFill>
              </a:rPr>
              <a:t>◦</a:t>
            </a:r>
            <a:r>
              <a:rPr lang="en" sz="1600">
                <a:solidFill>
                  <a:schemeClr val="dk2"/>
                </a:solidFill>
              </a:rPr>
              <a:t>N over 1996-2020), b</a:t>
            </a:r>
            <a:r>
              <a:rPr lang="en" sz="1600">
                <a:solidFill>
                  <a:schemeClr val="dk2"/>
                </a:solidFill>
              </a:rPr>
              <a:t>ut in current levels of emissions it is not getting worse [13].</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Falcon Heavy uses RP-1/LOX fuel, which is already one of the cleanest rocket fuel while ensuring enough thrust. Emits 13.15 tons of BC in stratosphere per launch [12].</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sp>
        <p:nvSpPr>
          <p:cNvPr id="337" name="Google Shape;337;p47"/>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Ozone Risk</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Environmental Impact</a:t>
            </a:r>
            <a:endParaRPr/>
          </a:p>
        </p:txBody>
      </p:sp>
      <p:sp>
        <p:nvSpPr>
          <p:cNvPr id="343" name="Google Shape;343;p48"/>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Ozone Risk</a:t>
            </a:r>
            <a:endParaRPr>
              <a:solidFill>
                <a:schemeClr val="dk1"/>
              </a:solidFill>
            </a:endParaRPr>
          </a:p>
        </p:txBody>
      </p:sp>
      <p:pic>
        <p:nvPicPr>
          <p:cNvPr id="344" name="Google Shape;344;p48" title="payload to liftoff.png"/>
          <p:cNvPicPr preferRelativeResize="0"/>
          <p:nvPr/>
        </p:nvPicPr>
        <p:blipFill>
          <a:blip r:embed="rId3">
            <a:alphaModFix/>
          </a:blip>
          <a:stretch>
            <a:fillRect/>
          </a:stretch>
        </p:blipFill>
        <p:spPr>
          <a:xfrm>
            <a:off x="4875825" y="0"/>
            <a:ext cx="2751551" cy="1873451"/>
          </a:xfrm>
          <a:prstGeom prst="rect">
            <a:avLst/>
          </a:prstGeom>
          <a:noFill/>
          <a:ln>
            <a:noFill/>
          </a:ln>
        </p:spPr>
      </p:pic>
      <p:pic>
        <p:nvPicPr>
          <p:cNvPr id="345" name="Google Shape;345;p48" title="bc emission to liftoff.png"/>
          <p:cNvPicPr preferRelativeResize="0"/>
          <p:nvPr/>
        </p:nvPicPr>
        <p:blipFill>
          <a:blip r:embed="rId4">
            <a:alphaModFix/>
          </a:blip>
          <a:stretch>
            <a:fillRect/>
          </a:stretch>
        </p:blipFill>
        <p:spPr>
          <a:xfrm>
            <a:off x="617000" y="2723215"/>
            <a:ext cx="2751550" cy="1872584"/>
          </a:xfrm>
          <a:prstGeom prst="rect">
            <a:avLst/>
          </a:prstGeom>
          <a:noFill/>
          <a:ln>
            <a:noFill/>
          </a:ln>
        </p:spPr>
      </p:pic>
      <p:pic>
        <p:nvPicPr>
          <p:cNvPr id="346" name="Google Shape;346;p48" title="bc emission to payload.png"/>
          <p:cNvPicPr preferRelativeResize="0"/>
          <p:nvPr/>
        </p:nvPicPr>
        <p:blipFill>
          <a:blip r:embed="rId5">
            <a:alphaModFix/>
          </a:blip>
          <a:stretch>
            <a:fillRect/>
          </a:stretch>
        </p:blipFill>
        <p:spPr>
          <a:xfrm>
            <a:off x="4092600" y="1964300"/>
            <a:ext cx="4318030" cy="2942950"/>
          </a:xfrm>
          <a:prstGeom prst="rect">
            <a:avLst/>
          </a:prstGeom>
          <a:noFill/>
          <a:ln>
            <a:noFill/>
          </a:ln>
        </p:spPr>
      </p:pic>
      <p:sp>
        <p:nvSpPr>
          <p:cNvPr id="347" name="Google Shape;347;p48"/>
          <p:cNvSpPr txBox="1"/>
          <p:nvPr/>
        </p:nvSpPr>
        <p:spPr>
          <a:xfrm>
            <a:off x="617000" y="1590425"/>
            <a:ext cx="2961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Found that BC emissions and </a:t>
            </a:r>
            <a:r>
              <a:rPr lang="en" sz="1600">
                <a:solidFill>
                  <a:schemeClr val="dk2"/>
                </a:solidFill>
              </a:rPr>
              <a:t>payload has a near perfect-linear relationship. </a:t>
            </a:r>
            <a:endParaRPr sz="16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Environmental Impact</a:t>
            </a:r>
            <a:endParaRPr/>
          </a:p>
        </p:txBody>
      </p:sp>
      <p:sp>
        <p:nvSpPr>
          <p:cNvPr id="353" name="Google Shape;353;p49"/>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Ozone Risk</a:t>
            </a:r>
            <a:endParaRPr>
              <a:solidFill>
                <a:schemeClr val="dk1"/>
              </a:solidFill>
            </a:endParaRPr>
          </a:p>
        </p:txBody>
      </p:sp>
      <p:sp>
        <p:nvSpPr>
          <p:cNvPr id="354" name="Google Shape;354;p49"/>
          <p:cNvSpPr txBox="1"/>
          <p:nvPr/>
        </p:nvSpPr>
        <p:spPr>
          <a:xfrm>
            <a:off x="617000" y="1428100"/>
            <a:ext cx="3129600" cy="2647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Dobson Unit (DU) is used to measure the thickness of the ozone layer.</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According to Maloney’s simulation [4], a 10Gg of BC emissions will result in a statistically significant -3.5DU reduction annually; 30Gg -9.05DU; 100 Gg -20DU.</a:t>
            </a:r>
            <a:endParaRPr sz="1600">
              <a:solidFill>
                <a:schemeClr val="dk2"/>
              </a:solidFill>
            </a:endParaRPr>
          </a:p>
        </p:txBody>
      </p:sp>
      <p:pic>
        <p:nvPicPr>
          <p:cNvPr id="355" name="Google Shape;355;p49" title="Screenshot 2026-02-11 at 2.05.59 PM.png"/>
          <p:cNvPicPr preferRelativeResize="0"/>
          <p:nvPr/>
        </p:nvPicPr>
        <p:blipFill>
          <a:blip r:embed="rId3">
            <a:alphaModFix/>
          </a:blip>
          <a:stretch>
            <a:fillRect/>
          </a:stretch>
        </p:blipFill>
        <p:spPr>
          <a:xfrm>
            <a:off x="775175" y="4612200"/>
            <a:ext cx="4842125" cy="403500"/>
          </a:xfrm>
          <a:prstGeom prst="rect">
            <a:avLst/>
          </a:prstGeom>
          <a:noFill/>
          <a:ln>
            <a:noFill/>
          </a:ln>
        </p:spPr>
      </p:pic>
      <p:pic>
        <p:nvPicPr>
          <p:cNvPr id="356" name="Google Shape;356;p49" title="Screenshot 2026-02-11 at 2.06.15 PM.png"/>
          <p:cNvPicPr preferRelativeResize="0"/>
          <p:nvPr/>
        </p:nvPicPr>
        <p:blipFill>
          <a:blip r:embed="rId4">
            <a:alphaModFix/>
          </a:blip>
          <a:stretch>
            <a:fillRect/>
          </a:stretch>
        </p:blipFill>
        <p:spPr>
          <a:xfrm>
            <a:off x="5617300" y="4568200"/>
            <a:ext cx="2961000" cy="491502"/>
          </a:xfrm>
          <a:prstGeom prst="rect">
            <a:avLst/>
          </a:prstGeom>
          <a:noFill/>
          <a:ln>
            <a:noFill/>
          </a:ln>
        </p:spPr>
      </p:pic>
      <p:pic>
        <p:nvPicPr>
          <p:cNvPr id="357" name="Google Shape;357;p49" title="power law ozone depletion.png"/>
          <p:cNvPicPr preferRelativeResize="0"/>
          <p:nvPr/>
        </p:nvPicPr>
        <p:blipFill>
          <a:blip r:embed="rId5">
            <a:alphaModFix/>
          </a:blip>
          <a:stretch>
            <a:fillRect/>
          </a:stretch>
        </p:blipFill>
        <p:spPr>
          <a:xfrm>
            <a:off x="3901350" y="380625"/>
            <a:ext cx="4481549" cy="3371787"/>
          </a:xfrm>
          <a:prstGeom prst="rect">
            <a:avLst/>
          </a:prstGeom>
          <a:noFill/>
          <a:ln>
            <a:noFill/>
          </a:ln>
        </p:spPr>
      </p:pic>
      <p:sp>
        <p:nvSpPr>
          <p:cNvPr id="358" name="Google Shape;358;p49"/>
          <p:cNvSpPr txBox="1"/>
          <p:nvPr/>
        </p:nvSpPr>
        <p:spPr>
          <a:xfrm>
            <a:off x="617000" y="3866079"/>
            <a:ext cx="85905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Confidence band is calculated by repeatedly sampling the three ozone anomalies assuming normal distribution and fitting the log-log power law, and take the 2.5% and 97.5% percentile for each point.</a:t>
            </a:r>
            <a:endParaRPr sz="16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Environmental Impact</a:t>
            </a:r>
            <a:endParaRPr/>
          </a:p>
        </p:txBody>
      </p:sp>
      <p:sp>
        <p:nvSpPr>
          <p:cNvPr id="364" name="Google Shape;364;p50"/>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Ozone Risk</a:t>
            </a:r>
            <a:endParaRPr>
              <a:solidFill>
                <a:schemeClr val="dk1"/>
              </a:solidFill>
            </a:endParaRPr>
          </a:p>
        </p:txBody>
      </p:sp>
      <p:sp>
        <p:nvSpPr>
          <p:cNvPr id="365" name="Google Shape;365;p50"/>
          <p:cNvSpPr txBox="1"/>
          <p:nvPr/>
        </p:nvSpPr>
        <p:spPr>
          <a:xfrm>
            <a:off x="593775" y="1428100"/>
            <a:ext cx="5388300" cy="1662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AutoNum type="alphaLcParenBoth"/>
            </a:pPr>
            <a:r>
              <a:rPr lang="en" sz="1600">
                <a:solidFill>
                  <a:schemeClr val="dk2"/>
                </a:solidFill>
              </a:rPr>
              <a:t>Constraining ozone while minimizing biodiversity</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AutoNum type="alphaLcParenBoth"/>
            </a:pPr>
            <a:r>
              <a:rPr lang="en" sz="1600">
                <a:solidFill>
                  <a:schemeClr val="dk2"/>
                </a:solidFill>
              </a:rPr>
              <a:t>Constraining biodiversity while minimizing ozone</a:t>
            </a:r>
            <a:endParaRPr sz="1600">
              <a:solidFill>
                <a:schemeClr val="dk2"/>
              </a:solidFill>
            </a:endParaRPr>
          </a:p>
        </p:txBody>
      </p:sp>
      <p:pic>
        <p:nvPicPr>
          <p:cNvPr id="366" name="Google Shape;366;p50" title="Screenshot 2026-02-11 at 2.15.13 PM.png"/>
          <p:cNvPicPr preferRelativeResize="0"/>
          <p:nvPr/>
        </p:nvPicPr>
        <p:blipFill>
          <a:blip r:embed="rId3">
            <a:alphaModFix/>
          </a:blip>
          <a:stretch>
            <a:fillRect/>
          </a:stretch>
        </p:blipFill>
        <p:spPr>
          <a:xfrm>
            <a:off x="2076150" y="1859200"/>
            <a:ext cx="2971800" cy="647700"/>
          </a:xfrm>
          <a:prstGeom prst="rect">
            <a:avLst/>
          </a:prstGeom>
          <a:noFill/>
          <a:ln>
            <a:noFill/>
          </a:ln>
        </p:spPr>
      </p:pic>
      <p:pic>
        <p:nvPicPr>
          <p:cNvPr id="367" name="Google Shape;367;p50" title="Screenshot 2026-02-11 at 2.15.49 PM.png"/>
          <p:cNvPicPr preferRelativeResize="0"/>
          <p:nvPr/>
        </p:nvPicPr>
        <p:blipFill>
          <a:blip r:embed="rId4">
            <a:alphaModFix/>
          </a:blip>
          <a:stretch>
            <a:fillRect/>
          </a:stretch>
        </p:blipFill>
        <p:spPr>
          <a:xfrm>
            <a:off x="5737500" y="1859200"/>
            <a:ext cx="2491748" cy="572700"/>
          </a:xfrm>
          <a:prstGeom prst="rect">
            <a:avLst/>
          </a:prstGeom>
          <a:noFill/>
          <a:ln>
            <a:noFill/>
          </a:ln>
        </p:spPr>
      </p:pic>
      <p:pic>
        <p:nvPicPr>
          <p:cNvPr id="368" name="Google Shape;368;p50" title="Screenshot 2026-02-11 at 2.16.16 PM.png"/>
          <p:cNvPicPr preferRelativeResize="0"/>
          <p:nvPr/>
        </p:nvPicPr>
        <p:blipFill>
          <a:blip r:embed="rId5">
            <a:alphaModFix/>
          </a:blip>
          <a:stretch>
            <a:fillRect/>
          </a:stretch>
        </p:blipFill>
        <p:spPr>
          <a:xfrm>
            <a:off x="2549538" y="3730275"/>
            <a:ext cx="1174769" cy="572700"/>
          </a:xfrm>
          <a:prstGeom prst="rect">
            <a:avLst/>
          </a:prstGeom>
          <a:noFill/>
          <a:ln>
            <a:noFill/>
          </a:ln>
        </p:spPr>
      </p:pic>
      <p:pic>
        <p:nvPicPr>
          <p:cNvPr id="369" name="Google Shape;369;p50" title="Screenshot 2026-02-11 at 2.17.56 PM.png"/>
          <p:cNvPicPr preferRelativeResize="0"/>
          <p:nvPr/>
        </p:nvPicPr>
        <p:blipFill>
          <a:blip r:embed="rId6">
            <a:alphaModFix/>
          </a:blip>
          <a:stretch>
            <a:fillRect/>
          </a:stretch>
        </p:blipFill>
        <p:spPr>
          <a:xfrm>
            <a:off x="4741650" y="3692775"/>
            <a:ext cx="3487607" cy="647700"/>
          </a:xfrm>
          <a:prstGeom prst="rect">
            <a:avLst/>
          </a:prstGeom>
          <a:noFill/>
          <a:ln>
            <a:noFill/>
          </a:ln>
        </p:spPr>
      </p:pic>
      <p:pic>
        <p:nvPicPr>
          <p:cNvPr id="370" name="Google Shape;370;p50" title="Screenshot 2026-02-11 at 2.18.52 PM.png"/>
          <p:cNvPicPr preferRelativeResize="0"/>
          <p:nvPr/>
        </p:nvPicPr>
        <p:blipFill>
          <a:blip r:embed="rId7">
            <a:alphaModFix/>
          </a:blip>
          <a:stretch>
            <a:fillRect/>
          </a:stretch>
        </p:blipFill>
        <p:spPr>
          <a:xfrm>
            <a:off x="3460013" y="3002700"/>
            <a:ext cx="2277481" cy="572700"/>
          </a:xfrm>
          <a:prstGeom prst="rect">
            <a:avLst/>
          </a:prstGeom>
          <a:noFill/>
          <a:ln>
            <a:noFill/>
          </a:ln>
        </p:spPr>
      </p:pic>
      <p:pic>
        <p:nvPicPr>
          <p:cNvPr id="371" name="Google Shape;371;p50" title="Screenshot 2026-02-11 at 2.19.02 PM.png"/>
          <p:cNvPicPr preferRelativeResize="0"/>
          <p:nvPr/>
        </p:nvPicPr>
        <p:blipFill>
          <a:blip r:embed="rId8">
            <a:alphaModFix/>
          </a:blip>
          <a:stretch>
            <a:fillRect/>
          </a:stretch>
        </p:blipFill>
        <p:spPr>
          <a:xfrm>
            <a:off x="5874376" y="3098613"/>
            <a:ext cx="2218000" cy="380875"/>
          </a:xfrm>
          <a:prstGeom prst="rect">
            <a:avLst/>
          </a:prstGeom>
          <a:noFill/>
          <a:ln>
            <a:noFill/>
          </a:ln>
        </p:spPr>
      </p:pic>
      <p:sp>
        <p:nvSpPr>
          <p:cNvPr id="372" name="Google Shape;372;p50"/>
          <p:cNvSpPr txBox="1"/>
          <p:nvPr/>
        </p:nvSpPr>
        <p:spPr>
          <a:xfrm>
            <a:off x="593775" y="3077175"/>
            <a:ext cx="3366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Minimizing ozone loss is same as minimizing rocket launches.</a:t>
            </a:r>
            <a:endParaRPr>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Environmental Impact</a:t>
            </a:r>
            <a:endParaRPr/>
          </a:p>
        </p:txBody>
      </p:sp>
      <p:sp>
        <p:nvSpPr>
          <p:cNvPr id="378" name="Google Shape;378;p51"/>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Results Summary</a:t>
            </a:r>
            <a:endParaRPr>
              <a:solidFill>
                <a:schemeClr val="dk1"/>
              </a:solidFill>
            </a:endParaRPr>
          </a:p>
        </p:txBody>
      </p:sp>
      <p:pic>
        <p:nvPicPr>
          <p:cNvPr id="379" name="Google Shape;379;p51" title="biodiversity vs payload.png"/>
          <p:cNvPicPr preferRelativeResize="0"/>
          <p:nvPr/>
        </p:nvPicPr>
        <p:blipFill>
          <a:blip r:embed="rId3">
            <a:alphaModFix/>
          </a:blip>
          <a:stretch>
            <a:fillRect/>
          </a:stretch>
        </p:blipFill>
        <p:spPr>
          <a:xfrm>
            <a:off x="5636700" y="2532606"/>
            <a:ext cx="3177936" cy="2584050"/>
          </a:xfrm>
          <a:prstGeom prst="rect">
            <a:avLst/>
          </a:prstGeom>
          <a:noFill/>
          <a:ln>
            <a:noFill/>
          </a:ln>
        </p:spPr>
      </p:pic>
      <p:pic>
        <p:nvPicPr>
          <p:cNvPr id="380" name="Google Shape;380;p51" title="ozone vs payload.png"/>
          <p:cNvPicPr preferRelativeResize="0"/>
          <p:nvPr/>
        </p:nvPicPr>
        <p:blipFill>
          <a:blip r:embed="rId4">
            <a:alphaModFix/>
          </a:blip>
          <a:stretch>
            <a:fillRect/>
          </a:stretch>
        </p:blipFill>
        <p:spPr>
          <a:xfrm>
            <a:off x="5636700" y="11056"/>
            <a:ext cx="3195599" cy="2584050"/>
          </a:xfrm>
          <a:prstGeom prst="rect">
            <a:avLst/>
          </a:prstGeom>
          <a:noFill/>
          <a:ln>
            <a:noFill/>
          </a:ln>
        </p:spPr>
      </p:pic>
      <p:pic>
        <p:nvPicPr>
          <p:cNvPr id="381" name="Google Shape;381;p51" title="Screenshot 2026-02-11 at 2.25.42 PM.png"/>
          <p:cNvPicPr preferRelativeResize="0"/>
          <p:nvPr/>
        </p:nvPicPr>
        <p:blipFill>
          <a:blip r:embed="rId5">
            <a:alphaModFix/>
          </a:blip>
          <a:stretch>
            <a:fillRect/>
          </a:stretch>
        </p:blipFill>
        <p:spPr>
          <a:xfrm>
            <a:off x="385738" y="1590429"/>
            <a:ext cx="4977976" cy="1119800"/>
          </a:xfrm>
          <a:prstGeom prst="rect">
            <a:avLst/>
          </a:prstGeom>
          <a:noFill/>
          <a:ln>
            <a:noFill/>
          </a:ln>
        </p:spPr>
      </p:pic>
      <p:sp>
        <p:nvSpPr>
          <p:cNvPr id="382" name="Google Shape;382;p51"/>
          <p:cNvSpPr txBox="1"/>
          <p:nvPr/>
        </p:nvSpPr>
        <p:spPr>
          <a:xfrm>
            <a:off x="311700" y="2837275"/>
            <a:ext cx="49779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Assuming a constraint of DU</a:t>
            </a:r>
            <a:r>
              <a:rPr baseline="-25000" lang="en" sz="1600">
                <a:solidFill>
                  <a:schemeClr val="dk2"/>
                </a:solidFill>
              </a:rPr>
              <a:t>max</a:t>
            </a:r>
            <a:r>
              <a:rPr lang="en" sz="1600">
                <a:solidFill>
                  <a:schemeClr val="dk2"/>
                </a:solidFill>
              </a:rPr>
              <a:t> = -1, we set a goal of payload 38,000 tons. Minimizing the biodiversity risk gives the above cost for space elevator, traditional rocket, and hybrid method. </a:t>
            </a:r>
            <a:endParaRPr sz="16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2"/>
          <p:cNvSpPr txBox="1"/>
          <p:nvPr>
            <p:ph type="title"/>
          </p:nvPr>
        </p:nvSpPr>
        <p:spPr>
          <a:xfrm>
            <a:off x="311700" y="145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Sensitivity Analysis</a:t>
            </a:r>
            <a:endParaRPr/>
          </a:p>
        </p:txBody>
      </p:sp>
      <p:sp>
        <p:nvSpPr>
          <p:cNvPr id="388" name="Google Shape;388;p52"/>
          <p:cNvSpPr txBox="1"/>
          <p:nvPr>
            <p:ph idx="1" type="body"/>
          </p:nvPr>
        </p:nvSpPr>
        <p:spPr>
          <a:xfrm>
            <a:off x="311700" y="5787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Systemic Capacity Demand</a:t>
            </a:r>
            <a:endParaRPr>
              <a:solidFill>
                <a:schemeClr val="dk1"/>
              </a:solidFill>
            </a:endParaRPr>
          </a:p>
        </p:txBody>
      </p:sp>
      <p:sp>
        <p:nvSpPr>
          <p:cNvPr id="389" name="Google Shape;389;p52"/>
          <p:cNvSpPr txBox="1"/>
          <p:nvPr/>
        </p:nvSpPr>
        <p:spPr>
          <a:xfrm>
            <a:off x="0" y="947375"/>
            <a:ext cx="5516100" cy="3936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lang="en">
                <a:solidFill>
                  <a:schemeClr val="dk1"/>
                </a:solidFill>
              </a:rPr>
              <a:t>Baseline: balanced schedule tau = 149 years (completion in 2199) with ≈20% of mass delivered by rockets and total cost ≈$327 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Elevator throughput dominates schedule: changing KE by ±20% shifts tau to 128–180 years and changes cost by roughly ±15 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Rocket capacity has a smaller effect: a ±20% change in KR moves tau by only about ±5 years and alters cost by ±16 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Scaling total demand T by ±20% drives τ₍bal₎ nearly linearly between 119 and 179 years and swings cost from ≈$262 T to ≈$392 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Unit cost adjustments (CE ±50%, CR ±30%) shift the cost level (≈$243–$411 T) but do not change the chosen timeline.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Conclusion: project duration is mainly sensitive to elevator throughput and demand rather than unit costs.</a:t>
            </a:r>
            <a:endParaRPr>
              <a:solidFill>
                <a:schemeClr val="dk2"/>
              </a:solidFill>
            </a:endParaRPr>
          </a:p>
        </p:txBody>
      </p:sp>
      <p:pic>
        <p:nvPicPr>
          <p:cNvPr id="390" name="Google Shape;390;p52" title="Screenshot 2026-02-11 at 4.01.06 PM.png"/>
          <p:cNvPicPr preferRelativeResize="0"/>
          <p:nvPr/>
        </p:nvPicPr>
        <p:blipFill>
          <a:blip r:embed="rId3">
            <a:alphaModFix/>
          </a:blip>
          <a:stretch>
            <a:fillRect/>
          </a:stretch>
        </p:blipFill>
        <p:spPr>
          <a:xfrm>
            <a:off x="5516113" y="296025"/>
            <a:ext cx="3475486" cy="227572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Sensitivity Analysis</a:t>
            </a:r>
            <a:endParaRPr/>
          </a:p>
        </p:txBody>
      </p:sp>
      <p:sp>
        <p:nvSpPr>
          <p:cNvPr id="396" name="Google Shape;396;p53"/>
          <p:cNvSpPr txBox="1"/>
          <p:nvPr>
            <p:ph idx="1" type="body"/>
          </p:nvPr>
        </p:nvSpPr>
        <p:spPr>
          <a:xfrm>
            <a:off x="311700" y="10177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118"/>
              <a:buNone/>
            </a:pPr>
            <a:r>
              <a:rPr lang="en">
                <a:solidFill>
                  <a:schemeClr val="dk1"/>
                </a:solidFill>
              </a:rPr>
              <a:t>Throughput Vulnerability (Water Demand)</a:t>
            </a:r>
            <a:endParaRPr>
              <a:solidFill>
                <a:schemeClr val="dk1"/>
              </a:solidFill>
            </a:endParaRPr>
          </a:p>
        </p:txBody>
      </p:sp>
      <p:sp>
        <p:nvSpPr>
          <p:cNvPr id="397" name="Google Shape;397;p53"/>
          <p:cNvSpPr txBox="1"/>
          <p:nvPr/>
        </p:nvSpPr>
        <p:spPr>
          <a:xfrm>
            <a:off x="311700" y="1486047"/>
            <a:ext cx="8141700" cy="677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Hybrid model’s max payload capacity: 61,000 Mt/month</a:t>
            </a:r>
            <a:endParaRPr/>
          </a:p>
          <a:p>
            <a:pPr indent="-330200" lvl="0" marL="457200" marR="0" rtl="0" algn="l">
              <a:lnSpc>
                <a:spcPct val="100000"/>
              </a:lnSpc>
              <a:spcBef>
                <a:spcPts val="0"/>
              </a:spcBef>
              <a:spcAft>
                <a:spcPts val="0"/>
              </a:spcAft>
              <a:buClr>
                <a:schemeClr val="dk2"/>
              </a:buClr>
              <a:buSzPts val="1600"/>
              <a:buFont typeface="Arial"/>
              <a:buChar char="-"/>
            </a:pPr>
            <a:r>
              <a:rPr b="0" i="0" lang="en" sz="1600" u="none" cap="none" strike="noStrike">
                <a:solidFill>
                  <a:schemeClr val="dk2"/>
                </a:solidFill>
                <a:latin typeface="Arial"/>
                <a:ea typeface="Arial"/>
                <a:cs typeface="Arial"/>
                <a:sym typeface="Arial"/>
              </a:rPr>
              <a:t>Recall: a monthly water requirement of 60,500 Mt for the operational colony.</a:t>
            </a:r>
            <a:endParaRPr/>
          </a:p>
        </p:txBody>
      </p:sp>
      <p:pic>
        <p:nvPicPr>
          <p:cNvPr descr="表格&#10;&#10;AI 生成的内容可能不正确。" id="398" name="Google Shape;398;p53"/>
          <p:cNvPicPr preferRelativeResize="0"/>
          <p:nvPr/>
        </p:nvPicPr>
        <p:blipFill rotWithShape="1">
          <a:blip r:embed="rId3">
            <a:alphaModFix/>
          </a:blip>
          <a:srcRect b="0" l="0" r="0" t="0"/>
          <a:stretch/>
        </p:blipFill>
        <p:spPr>
          <a:xfrm>
            <a:off x="4846845" y="395563"/>
            <a:ext cx="3548082" cy="997011"/>
          </a:xfrm>
          <a:prstGeom prst="rect">
            <a:avLst/>
          </a:prstGeom>
          <a:noFill/>
          <a:ln>
            <a:noFill/>
          </a:ln>
        </p:spPr>
      </p:pic>
      <p:pic>
        <p:nvPicPr>
          <p:cNvPr id="399" name="Google Shape;399;p53" title="Screenshot 2026-02-11 at 4.03.29 PM.png"/>
          <p:cNvPicPr preferRelativeResize="0"/>
          <p:nvPr/>
        </p:nvPicPr>
        <p:blipFill rotWithShape="1">
          <a:blip r:embed="rId4">
            <a:alphaModFix/>
          </a:blip>
          <a:srcRect b="0" l="0" r="0" t="0"/>
          <a:stretch/>
        </p:blipFill>
        <p:spPr>
          <a:xfrm>
            <a:off x="692920" y="2256598"/>
            <a:ext cx="3689649" cy="2508958"/>
          </a:xfrm>
          <a:prstGeom prst="rect">
            <a:avLst/>
          </a:prstGeom>
          <a:noFill/>
          <a:ln>
            <a:noFill/>
          </a:ln>
        </p:spPr>
      </p:pic>
      <p:sp>
        <p:nvSpPr>
          <p:cNvPr id="400" name="Google Shape;400;p53"/>
          <p:cNvSpPr txBox="1"/>
          <p:nvPr/>
        </p:nvSpPr>
        <p:spPr>
          <a:xfrm>
            <a:off x="4717012" y="2722110"/>
            <a:ext cx="4006200" cy="1754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Font typeface="Arial"/>
              <a:buChar char="-"/>
            </a:pPr>
            <a:r>
              <a:rPr b="0" i="0" lang="en" sz="1400" u="none" cap="none" strike="noStrike">
                <a:solidFill>
                  <a:schemeClr val="dk2"/>
                </a:solidFill>
                <a:latin typeface="Arial"/>
                <a:ea typeface="Arial"/>
                <a:cs typeface="Arial"/>
                <a:sym typeface="Arial"/>
              </a:rPr>
              <a:t>Rocket failure rate increasing to 5% delays mean delivery by 5 days/yr</a:t>
            </a:r>
            <a:endParaRPr/>
          </a:p>
          <a:p>
            <a:pPr indent="0" lvl="0" marL="127000" marR="0" rtl="0" algn="l">
              <a:lnSpc>
                <a:spcPct val="100000"/>
              </a:lnSpc>
              <a:spcBef>
                <a:spcPts val="0"/>
              </a:spcBef>
              <a:spcAft>
                <a:spcPts val="0"/>
              </a:spcAft>
              <a:buNone/>
            </a:pPr>
            <a:r>
              <a:t/>
            </a:r>
            <a:endParaRPr b="0" i="0" sz="1400" u="none" cap="none" strike="noStrike">
              <a:solidFill>
                <a:schemeClr val="dk2"/>
              </a:solidFill>
              <a:latin typeface="Arial"/>
              <a:ea typeface="Arial"/>
              <a:cs typeface="Arial"/>
              <a:sym typeface="Arial"/>
            </a:endParaRPr>
          </a:p>
          <a:p>
            <a:pPr indent="-330200" lvl="0" marL="457200" marR="0" rtl="0" algn="l">
              <a:lnSpc>
                <a:spcPct val="100000"/>
              </a:lnSpc>
              <a:spcBef>
                <a:spcPts val="0"/>
              </a:spcBef>
              <a:spcAft>
                <a:spcPts val="0"/>
              </a:spcAft>
              <a:buClr>
                <a:schemeClr val="dk2"/>
              </a:buClr>
              <a:buSzPts val="1600"/>
              <a:buFont typeface="Arial"/>
              <a:buChar char="-"/>
            </a:pPr>
            <a:r>
              <a:rPr b="0" i="0" lang="en" sz="1400" u="none" cap="none" strike="noStrike">
                <a:solidFill>
                  <a:schemeClr val="dk2"/>
                </a:solidFill>
                <a:latin typeface="Arial"/>
                <a:ea typeface="Arial"/>
                <a:cs typeface="Arial"/>
                <a:sym typeface="Arial"/>
              </a:rPr>
              <a:t>Elevator failure rate increasing to 1/10^5 climbers delays mean delivery by 24 days/yr</a:t>
            </a:r>
            <a:endParaRPr/>
          </a:p>
          <a:p>
            <a:pPr indent="-228600" lvl="0" marL="457200" marR="0" rtl="0" algn="l">
              <a:lnSpc>
                <a:spcPct val="100000"/>
              </a:lnSpc>
              <a:spcBef>
                <a:spcPts val="0"/>
              </a:spcBef>
              <a:spcAft>
                <a:spcPts val="0"/>
              </a:spcAft>
              <a:buClr>
                <a:schemeClr val="dk2"/>
              </a:buClr>
              <a:buSzPts val="1600"/>
              <a:buFont typeface="Arial"/>
              <a:buNone/>
            </a:pPr>
            <a:r>
              <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4"/>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Sensitivity Analysis</a:t>
            </a:r>
            <a:endParaRPr/>
          </a:p>
        </p:txBody>
      </p:sp>
      <p:sp>
        <p:nvSpPr>
          <p:cNvPr id="406" name="Google Shape;406;p54"/>
          <p:cNvSpPr txBox="1"/>
          <p:nvPr>
            <p:ph idx="1" type="body"/>
          </p:nvPr>
        </p:nvSpPr>
        <p:spPr>
          <a:xfrm>
            <a:off x="311700" y="4701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Operational Resilience</a:t>
            </a:r>
            <a:endParaRPr>
              <a:solidFill>
                <a:schemeClr val="dk1"/>
              </a:solidFill>
            </a:endParaRPr>
          </a:p>
        </p:txBody>
      </p:sp>
      <p:sp>
        <p:nvSpPr>
          <p:cNvPr id="407" name="Google Shape;407;p54"/>
          <p:cNvSpPr txBox="1"/>
          <p:nvPr/>
        </p:nvSpPr>
        <p:spPr>
          <a:xfrm>
            <a:off x="3751650" y="2252625"/>
            <a:ext cx="5467500" cy="2539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Char char="-"/>
            </a:pPr>
            <a:r>
              <a:rPr lang="en" sz="1500">
                <a:solidFill>
                  <a:schemeClr val="dk1"/>
                </a:solidFill>
              </a:rPr>
              <a:t>Longer elevator downtimes degrade resilience seriously. A 60‑day shutdown raises the probability of taking ≥151 years to ~16.7%, though total cost stays near $330 T.</a:t>
            </a:r>
            <a:endParaRPr sz="1500">
              <a:solidFill>
                <a:schemeClr val="dk1"/>
              </a:solidFill>
            </a:endParaRPr>
          </a:p>
          <a:p>
            <a:pPr indent="-323850" lvl="0" marL="457200" rtl="0" algn="l">
              <a:lnSpc>
                <a:spcPct val="115000"/>
              </a:lnSpc>
              <a:spcBef>
                <a:spcPts val="0"/>
              </a:spcBef>
              <a:spcAft>
                <a:spcPts val="0"/>
              </a:spcAft>
              <a:buClr>
                <a:schemeClr val="dk2"/>
              </a:buClr>
              <a:buSzPts val="1500"/>
              <a:buChar char="-"/>
            </a:pPr>
            <a:r>
              <a:rPr lang="en" sz="1500">
                <a:solidFill>
                  <a:schemeClr val="dk1"/>
                </a:solidFill>
              </a:rPr>
              <a:t>Changing repair or maintenance costs and tons per climber has negligible effect on completion time or total cost.</a:t>
            </a:r>
            <a:endParaRPr sz="1500">
              <a:solidFill>
                <a:schemeClr val="dk1"/>
              </a:solidFill>
            </a:endParaRPr>
          </a:p>
          <a:p>
            <a:pPr indent="-323850" lvl="0" marL="457200" rtl="0" algn="l">
              <a:lnSpc>
                <a:spcPct val="115000"/>
              </a:lnSpc>
              <a:spcBef>
                <a:spcPts val="0"/>
              </a:spcBef>
              <a:spcAft>
                <a:spcPts val="0"/>
              </a:spcAft>
              <a:buClr>
                <a:schemeClr val="dk2"/>
              </a:buClr>
              <a:buSzPts val="1500"/>
              <a:buChar char="-"/>
            </a:pPr>
            <a:r>
              <a:rPr lang="en" sz="1500">
                <a:solidFill>
                  <a:schemeClr val="dk1"/>
                </a:solidFill>
              </a:rPr>
              <a:t>Overall, schedule risk is dominated by rocket and elevator reliability; cost dispersion remains tight (95th percentile cost only about $0.13 T above the mean).</a:t>
            </a:r>
            <a:endParaRPr sz="1500">
              <a:solidFill>
                <a:schemeClr val="dk2"/>
              </a:solidFill>
            </a:endParaRPr>
          </a:p>
        </p:txBody>
      </p:sp>
      <p:pic>
        <p:nvPicPr>
          <p:cNvPr id="408" name="Google Shape;408;p54" title="Screenshot 2026-02-11 at 4.02.12 PM.png"/>
          <p:cNvPicPr preferRelativeResize="0"/>
          <p:nvPr/>
        </p:nvPicPr>
        <p:blipFill>
          <a:blip r:embed="rId3">
            <a:alphaModFix/>
          </a:blip>
          <a:stretch>
            <a:fillRect/>
          </a:stretch>
        </p:blipFill>
        <p:spPr>
          <a:xfrm>
            <a:off x="5429613" y="0"/>
            <a:ext cx="3714386" cy="2041050"/>
          </a:xfrm>
          <a:prstGeom prst="rect">
            <a:avLst/>
          </a:prstGeom>
          <a:noFill/>
          <a:ln>
            <a:noFill/>
          </a:ln>
        </p:spPr>
      </p:pic>
      <p:sp>
        <p:nvSpPr>
          <p:cNvPr id="409" name="Google Shape;409;p54"/>
          <p:cNvSpPr txBox="1"/>
          <p:nvPr/>
        </p:nvSpPr>
        <p:spPr>
          <a:xfrm>
            <a:off x="0" y="953100"/>
            <a:ext cx="4041600" cy="4190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Char char="-"/>
            </a:pPr>
            <a:r>
              <a:rPr lang="en" sz="1500">
                <a:solidFill>
                  <a:schemeClr val="dk1"/>
                </a:solidFill>
              </a:rPr>
              <a:t>Baseline risk assumptions (pR = 2%, pE = 10⁻⁶, 30‑day shutdown) yield mean completion time ≈150.004 years with only 0.38% chance of exceeding 151 years and a mean cost of ≈$329 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Rocket reliability drives schedule. Raising pR to 5% shifts the mean completion to 151 years (100% probability of ≥151 years), while lowering pR to 1% eliminates schedule risk.</a:t>
            </a:r>
            <a:endParaRPr sz="1500">
              <a:solidFill>
                <a:schemeClr val="dk1"/>
              </a:solidFill>
            </a:endParaRPr>
          </a:p>
          <a:p>
            <a:pPr indent="-336550" lvl="0" marL="457200" rtl="0" algn="l">
              <a:lnSpc>
                <a:spcPct val="115000"/>
              </a:lnSpc>
              <a:spcBef>
                <a:spcPts val="0"/>
              </a:spcBef>
              <a:spcAft>
                <a:spcPts val="0"/>
              </a:spcAft>
              <a:buClr>
                <a:schemeClr val="dk2"/>
              </a:buClr>
              <a:buSzPts val="1700"/>
              <a:buChar char="-"/>
            </a:pPr>
            <a:r>
              <a:rPr lang="en" sz="1500">
                <a:solidFill>
                  <a:schemeClr val="dk1"/>
                </a:solidFill>
              </a:rPr>
              <a:t>Elevator reliability matters but less: increasing pE to 10⁻⁵ delays the schedule to ≈151.06 years (P95 = 152) but has little cost impact.</a:t>
            </a:r>
            <a:endParaRPr sz="15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Sensitivity Analysis</a:t>
            </a:r>
            <a:endParaRPr/>
          </a:p>
        </p:txBody>
      </p:sp>
      <p:sp>
        <p:nvSpPr>
          <p:cNvPr id="415" name="Google Shape;415;p55"/>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Notable Results</a:t>
            </a:r>
            <a:endParaRPr>
              <a:solidFill>
                <a:schemeClr val="dk1"/>
              </a:solidFill>
            </a:endParaRPr>
          </a:p>
        </p:txBody>
      </p:sp>
      <p:sp>
        <p:nvSpPr>
          <p:cNvPr id="416" name="Google Shape;416;p55"/>
          <p:cNvSpPr txBox="1"/>
          <p:nvPr/>
        </p:nvSpPr>
        <p:spPr>
          <a:xfrm>
            <a:off x="311700" y="1476550"/>
            <a:ext cx="8520600" cy="2647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Completion time is most sensitive to rocket reliability and elevator availability.</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Rocket failure rate from 2% to 5% -&gt; 150 years stop being achievable.</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Elevator failure rate 10</a:t>
            </a:r>
            <a:r>
              <a:rPr baseline="30000" lang="en" sz="1600">
                <a:solidFill>
                  <a:schemeClr val="dk2"/>
                </a:solidFill>
              </a:rPr>
              <a:t>-6</a:t>
            </a:r>
            <a:r>
              <a:rPr lang="en" sz="1600">
                <a:solidFill>
                  <a:schemeClr val="dk2"/>
                </a:solidFill>
              </a:rPr>
              <a:t> to 10</a:t>
            </a:r>
            <a:r>
              <a:rPr baseline="30000" lang="en" sz="1600">
                <a:solidFill>
                  <a:schemeClr val="dk2"/>
                </a:solidFill>
              </a:rPr>
              <a:t>-5 </a:t>
            </a:r>
            <a:r>
              <a:rPr lang="en" sz="1600">
                <a:solidFill>
                  <a:schemeClr val="dk2"/>
                </a:solidFill>
              </a:rPr>
              <a:t>-&gt; over 149 years, increased expected failures from 1.6 to 15.2</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Increasing downtime from 30 to 60 days makes 16.7% runs 151 years not achievable.</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Water supply is extremely fragile; deliveries can delay from 5 days-1 month.</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Repair and maintenance does not change schedule.</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Tons/climber does change schedule as there are less climbers overall prone to failure risks. </a:t>
            </a:r>
            <a:endParaRPr sz="1600">
              <a:solidFill>
                <a:schemeClr val="dk2"/>
              </a:solidFill>
            </a:endParaRPr>
          </a:p>
        </p:txBody>
      </p:sp>
      <p:pic>
        <p:nvPicPr>
          <p:cNvPr id="417" name="Google Shape;417;p55" title="Screenshot 2026-02-11 at 4.12.22 PM.png"/>
          <p:cNvPicPr preferRelativeResize="0"/>
          <p:nvPr/>
        </p:nvPicPr>
        <p:blipFill>
          <a:blip r:embed="rId3">
            <a:alphaModFix/>
          </a:blip>
          <a:stretch>
            <a:fillRect/>
          </a:stretch>
        </p:blipFill>
        <p:spPr>
          <a:xfrm>
            <a:off x="1476025" y="3781150"/>
            <a:ext cx="3212250" cy="226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Strengths and Limitations</a:t>
            </a:r>
            <a:endParaRPr/>
          </a:p>
        </p:txBody>
      </p:sp>
      <p:sp>
        <p:nvSpPr>
          <p:cNvPr id="423" name="Google Shape;423;p56"/>
          <p:cNvSpPr txBox="1"/>
          <p:nvPr/>
        </p:nvSpPr>
        <p:spPr>
          <a:xfrm>
            <a:off x="311700" y="1476550"/>
            <a:ext cx="85206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Key modeling and results are driven by physical throughput and capacity constraints.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Monte Carlo results distinguish schedule risk from cost risk</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Environmental impacts are treated in two dimensions (biodiversity and ozone)</a:t>
            </a:r>
            <a:endParaRPr sz="1600">
              <a:solidFill>
                <a:schemeClr val="dk2"/>
              </a:solidFill>
            </a:endParaRPr>
          </a:p>
        </p:txBody>
      </p:sp>
      <p:sp>
        <p:nvSpPr>
          <p:cNvPr id="424" name="Google Shape;424;p56"/>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Strengths</a:t>
            </a:r>
            <a:endParaRPr>
              <a:solidFill>
                <a:schemeClr val="dk1"/>
              </a:solidFill>
            </a:endParaRPr>
          </a:p>
        </p:txBody>
      </p:sp>
      <p:sp>
        <p:nvSpPr>
          <p:cNvPr id="425" name="Google Shape;425;p56"/>
          <p:cNvSpPr txBox="1"/>
          <p:nvPr>
            <p:ph idx="1" type="body"/>
          </p:nvPr>
        </p:nvSpPr>
        <p:spPr>
          <a:xfrm>
            <a:off x="311700" y="2349197"/>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Limitations</a:t>
            </a:r>
            <a:endParaRPr>
              <a:solidFill>
                <a:schemeClr val="dk1"/>
              </a:solidFill>
            </a:endParaRPr>
          </a:p>
        </p:txBody>
      </p:sp>
      <p:sp>
        <p:nvSpPr>
          <p:cNvPr id="426" name="Google Shape;426;p56"/>
          <p:cNvSpPr txBox="1"/>
          <p:nvPr/>
        </p:nvSpPr>
        <p:spPr>
          <a:xfrm>
            <a:off x="311700" y="2727614"/>
            <a:ext cx="88323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No lunar LSRU (in-situ resource utilization)</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Time-invariant capacities and unit costs (no economies of scale or cost evolution)</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No dynamic adaption (different launching sites or infrastructure assumptions)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Ozone dynamics does not take into account seasonality, meteorology, atmospheric transport</a:t>
            </a:r>
            <a:endParaRPr sz="1600">
              <a:solidFill>
                <a:schemeClr val="dk2"/>
              </a:solidFill>
            </a:endParaRPr>
          </a:p>
        </p:txBody>
      </p:sp>
      <p:sp>
        <p:nvSpPr>
          <p:cNvPr id="427" name="Google Shape;427;p56"/>
          <p:cNvSpPr txBox="1"/>
          <p:nvPr/>
        </p:nvSpPr>
        <p:spPr>
          <a:xfrm>
            <a:off x="5350575" y="2228025"/>
            <a:ext cx="1731000" cy="7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0000"/>
              </a:solidFill>
            </a:endParaRPr>
          </a:p>
        </p:txBody>
      </p:sp>
      <p:sp>
        <p:nvSpPr>
          <p:cNvPr id="428" name="Google Shape;428;p56"/>
          <p:cNvSpPr txBox="1"/>
          <p:nvPr/>
        </p:nvSpPr>
        <p:spPr>
          <a:xfrm>
            <a:off x="5690150" y="1159575"/>
            <a:ext cx="347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434" name="Google Shape;434;p57"/>
          <p:cNvSpPr txBox="1"/>
          <p:nvPr/>
        </p:nvSpPr>
        <p:spPr>
          <a:xfrm>
            <a:off x="5350575" y="2228025"/>
            <a:ext cx="1731000" cy="7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0000"/>
              </a:solidFill>
            </a:endParaRPr>
          </a:p>
        </p:txBody>
      </p:sp>
      <p:sp>
        <p:nvSpPr>
          <p:cNvPr id="435" name="Google Shape;435;p57"/>
          <p:cNvSpPr txBox="1"/>
          <p:nvPr/>
        </p:nvSpPr>
        <p:spPr>
          <a:xfrm>
            <a:off x="5690150" y="1159575"/>
            <a:ext cx="347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436" name="Google Shape;436;p57"/>
          <p:cNvSpPr txBox="1"/>
          <p:nvPr/>
        </p:nvSpPr>
        <p:spPr>
          <a:xfrm>
            <a:off x="311700" y="3303725"/>
            <a:ext cx="85206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Use higher-resolution, site-specific data</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Adaptive decisions: capacity expansion and contingency policies (what to do if failure)</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Incorporate ISRU</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More complete atmospheric model rather than ozone approximation </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Consider more environmental risks.</a:t>
            </a:r>
            <a:endParaRPr sz="1600">
              <a:solidFill>
                <a:schemeClr val="dk2"/>
              </a:solidFill>
            </a:endParaRPr>
          </a:p>
        </p:txBody>
      </p:sp>
      <p:sp>
        <p:nvSpPr>
          <p:cNvPr id="437" name="Google Shape;437;p57"/>
          <p:cNvSpPr txBox="1"/>
          <p:nvPr/>
        </p:nvSpPr>
        <p:spPr>
          <a:xfrm>
            <a:off x="311700" y="1400500"/>
            <a:ext cx="85206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Hybrid Strategy is better.</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Long-term maintenance almost impossible: 100,000 colony requires 726,000 tons of water annually, 60,500 tons per month.</a:t>
            </a:r>
            <a:endParaRPr sz="1600">
              <a:solidFill>
                <a:schemeClr val="dk2"/>
              </a:solidFill>
            </a:endParaRPr>
          </a:p>
          <a:p>
            <a:pPr indent="-330200" lvl="0" marL="914400" rtl="0" algn="l">
              <a:spcBef>
                <a:spcPts val="0"/>
              </a:spcBef>
              <a:spcAft>
                <a:spcPts val="0"/>
              </a:spcAft>
              <a:buClr>
                <a:schemeClr val="dk2"/>
              </a:buClr>
              <a:buSzPts val="1600"/>
              <a:buAutoNum type="alphaLcParenR"/>
            </a:pPr>
            <a:r>
              <a:rPr lang="en" sz="1600">
                <a:solidFill>
                  <a:schemeClr val="dk2"/>
                </a:solidFill>
              </a:rPr>
              <a:t>Does not satisfy the suggested limits on biodiversity risk + ozone</a:t>
            </a:r>
            <a:endParaRPr sz="1600">
              <a:solidFill>
                <a:schemeClr val="dk2"/>
              </a:solidFill>
            </a:endParaRPr>
          </a:p>
          <a:p>
            <a:pPr indent="-330200" lvl="0" marL="914400" rtl="0" algn="l">
              <a:spcBef>
                <a:spcPts val="0"/>
              </a:spcBef>
              <a:spcAft>
                <a:spcPts val="0"/>
              </a:spcAft>
              <a:buClr>
                <a:schemeClr val="dk2"/>
              </a:buClr>
              <a:buSzPts val="1600"/>
              <a:buAutoNum type="alphaLcParenR"/>
            </a:pPr>
            <a:r>
              <a:rPr lang="en" sz="1600">
                <a:solidFill>
                  <a:schemeClr val="dk2"/>
                </a:solidFill>
              </a:rPr>
              <a:t>Very susceptible to any sort of failures, rocket or climbers. </a:t>
            </a:r>
            <a:endParaRPr sz="1600">
              <a:solidFill>
                <a:schemeClr val="dk2"/>
              </a:solidFill>
            </a:endParaRPr>
          </a:p>
        </p:txBody>
      </p:sp>
      <p:sp>
        <p:nvSpPr>
          <p:cNvPr id="438" name="Google Shape;438;p57"/>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Conclusion</a:t>
            </a:r>
            <a:endParaRPr>
              <a:solidFill>
                <a:schemeClr val="dk1"/>
              </a:solidFill>
            </a:endParaRPr>
          </a:p>
        </p:txBody>
      </p:sp>
      <p:sp>
        <p:nvSpPr>
          <p:cNvPr id="439" name="Google Shape;439;p57"/>
          <p:cNvSpPr txBox="1"/>
          <p:nvPr>
            <p:ph idx="1" type="body"/>
          </p:nvPr>
        </p:nvSpPr>
        <p:spPr>
          <a:xfrm>
            <a:off x="311700" y="2965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Future Improvement</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445" name="Google Shape;445;p58"/>
          <p:cNvSpPr txBox="1"/>
          <p:nvPr/>
        </p:nvSpPr>
        <p:spPr>
          <a:xfrm>
            <a:off x="311700" y="927575"/>
            <a:ext cx="8520600" cy="540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[1] International Space Elevator Consortium (ISEC). Space elevator faq. </a:t>
            </a:r>
            <a:r>
              <a:rPr lang="en" sz="900" u="sng">
                <a:solidFill>
                  <a:schemeClr val="hlink"/>
                </a:solidFill>
                <a:hlinkClick r:id="rId3"/>
              </a:rPr>
              <a:t>https://www.isec.org/faq</a:t>
            </a:r>
            <a:r>
              <a:rPr lang="en" sz="900">
                <a:solidFill>
                  <a:schemeClr val="dk2"/>
                </a:solidFill>
              </a:rPr>
              <a:t> </a:t>
            </a:r>
            <a:endParaRPr sz="900">
              <a:solidFill>
                <a:schemeClr val="dk2"/>
              </a:solidFill>
            </a:endParaRPr>
          </a:p>
          <a:p>
            <a:pPr indent="0" lvl="0" marL="0" rtl="0" algn="l">
              <a:spcBef>
                <a:spcPts val="0"/>
              </a:spcBef>
              <a:spcAft>
                <a:spcPts val="0"/>
              </a:spcAft>
              <a:buNone/>
            </a:pPr>
            <a:r>
              <a:rPr lang="en" sz="900">
                <a:solidFill>
                  <a:schemeClr val="dk2"/>
                </a:solidFill>
              </a:rPr>
              <a:t>[2] Stephen Cohen and A. Misra. The effect of climber transit on the space elevator dynamics. Acta Astronautica - ACTA ASTRONAUT, 64:538–553, 03 2009</a:t>
            </a:r>
            <a:endParaRPr sz="900">
              <a:solidFill>
                <a:schemeClr val="dk2"/>
              </a:solidFill>
            </a:endParaRPr>
          </a:p>
          <a:p>
            <a:pPr indent="0" lvl="0" marL="0" rtl="0" algn="l">
              <a:spcBef>
                <a:spcPts val="0"/>
              </a:spcBef>
              <a:spcAft>
                <a:spcPts val="0"/>
              </a:spcAft>
              <a:buNone/>
            </a:pPr>
            <a:r>
              <a:rPr lang="en" sz="900">
                <a:solidFill>
                  <a:schemeClr val="dk2"/>
                </a:solidFill>
              </a:rPr>
              <a:t>[3]Peter W. Mayer. Water research foundation study documents water conservation potential and more efficiency in households. Journal AWWA, 108(10):31–40, 2016.</a:t>
            </a:r>
            <a:endParaRPr sz="900">
              <a:solidFill>
                <a:schemeClr val="dk2"/>
              </a:solidFill>
            </a:endParaRPr>
          </a:p>
          <a:p>
            <a:pPr indent="0" lvl="0" marL="0" rtl="0" algn="l">
              <a:spcBef>
                <a:spcPts val="0"/>
              </a:spcBef>
              <a:spcAft>
                <a:spcPts val="0"/>
              </a:spcAft>
              <a:buNone/>
            </a:pPr>
            <a:r>
              <a:rPr lang="en" sz="900">
                <a:solidFill>
                  <a:schemeClr val="dk2"/>
                </a:solidFill>
              </a:rPr>
              <a:t>[4] Molly S. Anderson, Michael K. Ewert, and John F. Keener. Life support baseline values and assumptions document. Technical Publication NASA/TP-2015-218570/REV1, NASA Johnson Space Center, Houston, TX, 2018. JSC-E-DAA-TN51698.</a:t>
            </a:r>
            <a:endParaRPr sz="900">
              <a:solidFill>
                <a:schemeClr val="dk2"/>
              </a:solidFill>
            </a:endParaRPr>
          </a:p>
          <a:p>
            <a:pPr indent="0" lvl="0" marL="0" rtl="0" algn="l">
              <a:spcBef>
                <a:spcPts val="0"/>
              </a:spcBef>
              <a:spcAft>
                <a:spcPts val="0"/>
              </a:spcAft>
              <a:buNone/>
            </a:pPr>
            <a:r>
              <a:rPr lang="en" sz="900">
                <a:solidFill>
                  <a:schemeClr val="dk2"/>
                </a:solidFill>
              </a:rPr>
              <a:t>[5] Melissa L. Gaskill. NASA achieves water recovery milestone on international space station. International Space Station Research Communications Team.</a:t>
            </a:r>
            <a:endParaRPr sz="900">
              <a:solidFill>
                <a:schemeClr val="dk2"/>
              </a:solidFill>
            </a:endParaRPr>
          </a:p>
          <a:p>
            <a:pPr indent="0" lvl="0" marL="0" rtl="0" algn="l">
              <a:spcBef>
                <a:spcPts val="0"/>
              </a:spcBef>
              <a:spcAft>
                <a:spcPts val="0"/>
              </a:spcAft>
              <a:buNone/>
            </a:pPr>
            <a:r>
              <a:rPr lang="en" sz="900">
                <a:solidFill>
                  <a:schemeClr val="dk2"/>
                </a:solidFill>
              </a:rPr>
              <a:t>[6] U.S. Department of Agriculture and U.S. Department of Health and Human Services. Dietary guidelines for americans, 2020-2025. Technical  Report, U.S. Government Printing Office, Washington, DC, 2020.</a:t>
            </a:r>
            <a:endParaRPr sz="900">
              <a:solidFill>
                <a:schemeClr val="dk2"/>
              </a:solidFill>
            </a:endParaRPr>
          </a:p>
          <a:p>
            <a:pPr indent="0" lvl="0" marL="0" rtl="0" algn="l">
              <a:spcBef>
                <a:spcPts val="0"/>
              </a:spcBef>
              <a:spcAft>
                <a:spcPts val="0"/>
              </a:spcAft>
              <a:buNone/>
            </a:pPr>
            <a:r>
              <a:rPr lang="en" sz="900">
                <a:solidFill>
                  <a:schemeClr val="dk2"/>
                </a:solidFill>
              </a:rPr>
              <a:t>[7] Ganapathy Rajaseger, Kit Lun Chan, Kay Yee Tan, Shan Ramasamy, Mar Cho Khin, Anburaj Amaladoss, and Patel Kadamb Haribhai. Hydroponics: current trends in sustainable crop production. Bioinformation, 19(9):925–938, Sep 2023</a:t>
            </a:r>
            <a:endParaRPr sz="900">
              <a:solidFill>
                <a:schemeClr val="dk2"/>
              </a:solidFill>
            </a:endParaRPr>
          </a:p>
          <a:p>
            <a:pPr indent="0" lvl="0" marL="0" rtl="0" algn="l">
              <a:spcBef>
                <a:spcPts val="0"/>
              </a:spcBef>
              <a:spcAft>
                <a:spcPts val="0"/>
              </a:spcAft>
              <a:buNone/>
            </a:pPr>
            <a:r>
              <a:rPr lang="en" sz="900">
                <a:solidFill>
                  <a:schemeClr val="dk2"/>
                </a:solidFill>
              </a:rPr>
              <a:t>[8] R.M. Wheeler, C.L. Mackowiak, G.W. Stutte, J.C. Sager, N.C. Yorio, L.M. Ruffe, R.E. Fort-son, T.W. Dreschel, W.M. Knott, and K.A. Corey. Nasa’s biomass production chamber: A testbed for bioregenerative life support studies. Advances in Space Research, 18(4):215–224, 1996. Natural and Artificial.</a:t>
            </a:r>
            <a:endParaRPr sz="900">
              <a:solidFill>
                <a:schemeClr val="dk2"/>
              </a:solidFill>
            </a:endParaRPr>
          </a:p>
          <a:p>
            <a:pPr indent="0" lvl="0" marL="0" rtl="0" algn="l">
              <a:spcBef>
                <a:spcPts val="0"/>
              </a:spcBef>
              <a:spcAft>
                <a:spcPts val="0"/>
              </a:spcAft>
              <a:buNone/>
            </a:pPr>
            <a:r>
              <a:rPr lang="en" sz="900">
                <a:solidFill>
                  <a:schemeClr val="dk2"/>
                </a:solidFill>
              </a:rPr>
              <a:t>[9] David S. McKay and Richard J. Williams. A geologic assessment of potential lunar ores. In Gerard K. O’Neill, Brian O’Leary, and John Billingham, editors, Space Resources and Space Settlements, number NASA-SP-428 in NASA Special Publication, pages 243–255, Moffett Field, CA, 1979. NASA Ames Research Center. Document ID: 19790024068.</a:t>
            </a:r>
            <a:endParaRPr sz="900">
              <a:solidFill>
                <a:schemeClr val="dk2"/>
              </a:solidFill>
            </a:endParaRPr>
          </a:p>
          <a:p>
            <a:pPr indent="0" lvl="0" marL="0" rtl="0" algn="l">
              <a:spcBef>
                <a:spcPts val="0"/>
              </a:spcBef>
              <a:spcAft>
                <a:spcPts val="0"/>
              </a:spcAft>
              <a:buNone/>
            </a:pPr>
            <a:r>
              <a:rPr lang="en" sz="900">
                <a:solidFill>
                  <a:schemeClr val="dk2"/>
                </a:solidFill>
              </a:rPr>
              <a:t>[10] D. Bhogeswara Rao, U. V. Choudary, T. E. Erstfeld, R. J. Williams, and Y. A. Chang. Extraction processes for the production of aluminum, titanium, iron, magnesium, and oxygen from nonterrestrial sources. In Gerard K. O’Neill, Brian O’Leary, and John Billingham, editors, Space Resources and Space Settlements, number NASA-SP-428 in NASA Special Publication, pages 257–274, Washington, DC, 1979. National Aeronautics and Space Administration. Document ID: 19790024069</a:t>
            </a:r>
            <a:endParaRPr sz="900">
              <a:solidFill>
                <a:schemeClr val="dk2"/>
              </a:solidFill>
            </a:endParaRPr>
          </a:p>
          <a:p>
            <a:pPr indent="0" lvl="0" marL="0" rtl="0" algn="l">
              <a:spcBef>
                <a:spcPts val="0"/>
              </a:spcBef>
              <a:spcAft>
                <a:spcPts val="0"/>
              </a:spcAft>
              <a:buNone/>
            </a:pPr>
            <a:r>
              <a:rPr lang="en" sz="900">
                <a:solidFill>
                  <a:schemeClr val="dk2"/>
                </a:solidFill>
              </a:rPr>
              <a:t>[11] Christopher M. Maloney, Robert W. Portmann, Martin N. Ross, and Karen H. Rosenlof. The climate and ozone impacts of black carbon emissions from global rocket launches. Journal of Geophysical Research: Atmospheres, 127(12), 2022.</a:t>
            </a:r>
            <a:endParaRPr sz="900">
              <a:solidFill>
                <a:schemeClr val="dk2"/>
              </a:solidFill>
            </a:endParaRPr>
          </a:p>
          <a:p>
            <a:pPr indent="0" lvl="0" marL="0" rtl="0" algn="l">
              <a:spcBef>
                <a:spcPts val="0"/>
              </a:spcBef>
              <a:spcAft>
                <a:spcPts val="0"/>
              </a:spcAft>
              <a:buNone/>
            </a:pPr>
            <a:r>
              <a:rPr lang="en" sz="900">
                <a:solidFill>
                  <a:schemeClr val="dk2"/>
                </a:solidFill>
              </a:rPr>
              <a:t>[12] Tyler F. M. Brown, Michele T. Bannister, Laura E. Revell, Timofei Sukhodolov, and Eugene Rozanov. Worldwide rocket launch emissions 2019: An inventory for use in global models. Earth and Space Science, 11(10), 2024</a:t>
            </a:r>
            <a:endParaRPr sz="900">
              <a:solidFill>
                <a:schemeClr val="dk2"/>
              </a:solidFill>
            </a:endParaRPr>
          </a:p>
          <a:p>
            <a:pPr indent="0" lvl="0" marL="0" rtl="0" algn="l">
              <a:spcBef>
                <a:spcPts val="0"/>
              </a:spcBef>
              <a:spcAft>
                <a:spcPts val="0"/>
              </a:spcAft>
              <a:buNone/>
            </a:pPr>
            <a:r>
              <a:rPr lang="en" sz="900">
                <a:solidFill>
                  <a:schemeClr val="dk2"/>
                </a:solidFill>
              </a:rPr>
              <a:t>[13] World Meteorological Organization, United Nations Environment Programme, National Oceanic and Atmospheric Administration, National Aeronautics and Space Administration, &amp; European Commission. (2023). Scientific assessment of ozone depletion: 2022 (GAW Report No. 278). World Meteorological Organization; United Nations Environment Programme. </a:t>
            </a:r>
            <a:r>
              <a:rPr lang="en" sz="900" u="sng">
                <a:solidFill>
                  <a:schemeClr val="hlink"/>
                </a:solidFill>
                <a:hlinkClick r:id="rId4"/>
              </a:rPr>
              <a:t>https://library.wmo.int/idurl/4/58360</a:t>
            </a:r>
            <a:r>
              <a:rPr lang="en" sz="900">
                <a:solidFill>
                  <a:schemeClr val="dk2"/>
                </a:solidFill>
              </a:rPr>
              <a:t>. </a:t>
            </a:r>
            <a:endParaRPr sz="9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Appendix A.</a:t>
            </a:r>
            <a:endParaRPr/>
          </a:p>
        </p:txBody>
      </p:sp>
      <p:pic>
        <p:nvPicPr>
          <p:cNvPr id="451" name="Google Shape;451;p59" title="Screenshot 2026-02-11 at 4.52.31 PM.png"/>
          <p:cNvPicPr preferRelativeResize="0"/>
          <p:nvPr/>
        </p:nvPicPr>
        <p:blipFill>
          <a:blip r:embed="rId3">
            <a:alphaModFix/>
          </a:blip>
          <a:stretch>
            <a:fillRect/>
          </a:stretch>
        </p:blipFill>
        <p:spPr>
          <a:xfrm>
            <a:off x="394025" y="1017725"/>
            <a:ext cx="4608325" cy="2445899"/>
          </a:xfrm>
          <a:prstGeom prst="rect">
            <a:avLst/>
          </a:prstGeom>
          <a:noFill/>
          <a:ln>
            <a:noFill/>
          </a:ln>
        </p:spPr>
      </p:pic>
      <p:pic>
        <p:nvPicPr>
          <p:cNvPr id="452" name="Google Shape;452;p59" title="Screenshot 2026-02-11 at 4.54.06 PM.png"/>
          <p:cNvPicPr preferRelativeResize="0"/>
          <p:nvPr/>
        </p:nvPicPr>
        <p:blipFill>
          <a:blip r:embed="rId4">
            <a:alphaModFix/>
          </a:blip>
          <a:stretch>
            <a:fillRect/>
          </a:stretch>
        </p:blipFill>
        <p:spPr>
          <a:xfrm>
            <a:off x="4846875" y="703725"/>
            <a:ext cx="3919176" cy="2590529"/>
          </a:xfrm>
          <a:prstGeom prst="rect">
            <a:avLst/>
          </a:prstGeom>
          <a:noFill/>
          <a:ln>
            <a:noFill/>
          </a:ln>
        </p:spPr>
      </p:pic>
      <p:pic>
        <p:nvPicPr>
          <p:cNvPr id="453" name="Google Shape;453;p59" title="Screenshot 2026-02-11 at 4.55.22 PM.png"/>
          <p:cNvPicPr preferRelativeResize="0"/>
          <p:nvPr/>
        </p:nvPicPr>
        <p:blipFill>
          <a:blip r:embed="rId5">
            <a:alphaModFix/>
          </a:blip>
          <a:stretch>
            <a:fillRect/>
          </a:stretch>
        </p:blipFill>
        <p:spPr>
          <a:xfrm>
            <a:off x="492000" y="3661551"/>
            <a:ext cx="3415579" cy="1481950"/>
          </a:xfrm>
          <a:prstGeom prst="rect">
            <a:avLst/>
          </a:prstGeom>
          <a:noFill/>
          <a:ln>
            <a:noFill/>
          </a:ln>
        </p:spPr>
      </p:pic>
      <p:pic>
        <p:nvPicPr>
          <p:cNvPr id="454" name="Google Shape;454;p59" title="Screenshot 2026-02-11 at 4.55.45 PM.png"/>
          <p:cNvPicPr preferRelativeResize="0"/>
          <p:nvPr/>
        </p:nvPicPr>
        <p:blipFill>
          <a:blip r:embed="rId6">
            <a:alphaModFix/>
          </a:blip>
          <a:stretch>
            <a:fillRect/>
          </a:stretch>
        </p:blipFill>
        <p:spPr>
          <a:xfrm>
            <a:off x="3907575" y="3957074"/>
            <a:ext cx="4608326" cy="8908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